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54487C-8E0A-4A16-B4E5-342B52523374}" v="17" dt="2026-09-16T22:42:51.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6" autoAdjust="0"/>
    <p:restoredTop sz="94610"/>
  </p:normalViewPr>
  <p:slideViewPr>
    <p:cSldViewPr snapToGrid="0" snapToObjects="1">
      <p:cViewPr>
        <p:scale>
          <a:sx n="105" d="100"/>
          <a:sy n="105" d="100"/>
        </p:scale>
        <p:origin x="6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Yield Real Sep 2026</c:v>
                </c:pt>
              </c:strCache>
            </c:strRef>
          </c:tx>
          <c:spPr>
            <a:solidFill>
              <a:srgbClr val="2B5BA3"/>
            </a:solidFill>
            <a:effectLst/>
          </c:spPr>
          <c:invertIfNegative val="0"/>
          <c:dLbls>
            <c:numFmt formatCode="#,##0" sourceLinked="0"/>
            <c:spPr>
              <a:noFill/>
              <a:ln>
                <a:noFill/>
              </a:ln>
              <a:effectLst/>
            </c:spPr>
            <c:txPr>
              <a:bodyPr/>
              <a:lstStyle/>
              <a:p>
                <a:pPr>
                  <a:defRPr sz="80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Reservas de Pance</c:v>
                </c:pt>
                <c:pt idx="1">
                  <c:v>Prado Verde</c:v>
                </c:pt>
                <c:pt idx="2">
                  <c:v>Terra by Kaia</c:v>
                </c:pt>
                <c:pt idx="3">
                  <c:v>Terranova</c:v>
                </c:pt>
                <c:pt idx="4">
                  <c:v>Los Abedules</c:v>
                </c:pt>
                <c:pt idx="5">
                  <c:v>Porton Rivera</c:v>
                </c:pt>
                <c:pt idx="6">
                  <c:v>Llanos Pance</c:v>
                </c:pt>
              </c:strCache>
            </c:strRef>
          </c:cat>
          <c:val>
            <c:numRef>
              <c:f>Sheet1!$B$2:$B$8</c:f>
              <c:numCache>
                <c:formatCode>General</c:formatCode>
                <c:ptCount val="7"/>
                <c:pt idx="0">
                  <c:v>1045</c:v>
                </c:pt>
                <c:pt idx="1">
                  <c:v>1139</c:v>
                </c:pt>
                <c:pt idx="2">
                  <c:v>1186</c:v>
                </c:pt>
                <c:pt idx="3">
                  <c:v>1286</c:v>
                </c:pt>
                <c:pt idx="4">
                  <c:v>935</c:v>
                </c:pt>
                <c:pt idx="5">
                  <c:v>1021</c:v>
                </c:pt>
                <c:pt idx="6">
                  <c:v>1113</c:v>
                </c:pt>
              </c:numCache>
            </c:numRef>
          </c:val>
          <c:extLst>
            <c:ext xmlns:c16="http://schemas.microsoft.com/office/drawing/2014/chart" uri="{C3380CC4-5D6E-409C-BE32-E72D297353CC}">
              <c16:uniqueId val="{00000000-FC9E-4703-BA4A-EC8701C1A725}"/>
            </c:ext>
          </c:extLst>
        </c:ser>
        <c:ser>
          <c:idx val="1"/>
          <c:order val="1"/>
          <c:tx>
            <c:strRef>
              <c:f>Sheet1!$C$1</c:f>
              <c:strCache>
                <c:ptCount val="1"/>
                <c:pt idx="0">
                  <c:v>Target de Diseno</c:v>
                </c:pt>
              </c:strCache>
            </c:strRef>
          </c:tx>
          <c:spPr>
            <a:solidFill>
              <a:srgbClr val="DDDDDD"/>
            </a:solidFill>
            <a:effectLst/>
          </c:spPr>
          <c:invertIfNegative val="0"/>
          <c:dLbls>
            <c:numFmt formatCode="#,##0" sourceLinked="0"/>
            <c:spPr>
              <a:noFill/>
              <a:ln>
                <a:noFill/>
              </a:ln>
              <a:effectLst/>
            </c:spPr>
            <c:txPr>
              <a:bodyPr/>
              <a:lstStyle/>
              <a:p>
                <a:pPr>
                  <a:defRPr sz="80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Reservas de Pance</c:v>
                </c:pt>
                <c:pt idx="1">
                  <c:v>Prado Verde</c:v>
                </c:pt>
                <c:pt idx="2">
                  <c:v>Terra by Kaia</c:v>
                </c:pt>
                <c:pt idx="3">
                  <c:v>Terranova</c:v>
                </c:pt>
                <c:pt idx="4">
                  <c:v>Los Abedules</c:v>
                </c:pt>
                <c:pt idx="5">
                  <c:v>Porton Rivera</c:v>
                </c:pt>
                <c:pt idx="6">
                  <c:v>Llanos Pance</c:v>
                </c:pt>
              </c:strCache>
            </c:strRef>
          </c:cat>
          <c:val>
            <c:numRef>
              <c:f>Sheet1!$C$2:$C$8</c:f>
              <c:numCache>
                <c:formatCode>General</c:formatCode>
                <c:ptCount val="7"/>
                <c:pt idx="0">
                  <c:v>1188</c:v>
                </c:pt>
                <c:pt idx="1">
                  <c:v>1323</c:v>
                </c:pt>
                <c:pt idx="2">
                  <c:v>1323</c:v>
                </c:pt>
                <c:pt idx="3">
                  <c:v>1323</c:v>
                </c:pt>
                <c:pt idx="4">
                  <c:v>1188</c:v>
                </c:pt>
                <c:pt idx="5">
                  <c:v>1188</c:v>
                </c:pt>
                <c:pt idx="6">
                  <c:v>1188</c:v>
                </c:pt>
              </c:numCache>
            </c:numRef>
          </c:val>
          <c:extLst>
            <c:ext xmlns:c16="http://schemas.microsoft.com/office/drawing/2014/chart" uri="{C3380CC4-5D6E-409C-BE32-E72D297353CC}">
              <c16:uniqueId val="{00000001-FC9E-4703-BA4A-EC8701C1A72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1500"/>
        </c:scaling>
        <c:delete val="0"/>
        <c:axPos val="l"/>
        <c:majorGridlines>
          <c:spPr>
            <a:ln w="9525" cap="flat">
              <a:solidFill>
                <a:srgbClr val="EF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majorUnit val="300"/>
      </c:valAx>
      <c:spPr>
        <a:noFill/>
        <a:ln w="12700" cap="flat">
          <a:solidFill>
            <a:srgbClr val="FFFFFF"/>
          </a:solidFill>
        </a:ln>
        <a:effectLst/>
      </c:spPr>
    </c:plotArea>
    <c:legend>
      <c:legendPos val="b"/>
      <c:overlay val="0"/>
      <c:txPr>
        <a:bodyPr/>
        <a:lstStyle/>
        <a:p>
          <a:pPr>
            <a:defRPr sz="8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Desempeño</c:v>
                </c:pt>
              </c:strCache>
            </c:strRef>
          </c:tx>
          <c:spPr>
            <a:solidFill>
              <a:srgbClr val="1E8449"/>
            </a:solidFill>
            <a:effectLst/>
          </c:spPr>
          <c:invertIfNegative val="0"/>
          <c:dPt>
            <c:idx val="0"/>
            <c:invertIfNegative val="0"/>
            <c:bubble3D val="0"/>
            <c:spPr>
              <a:solidFill>
                <a:srgbClr val="1E8449"/>
              </a:solidFill>
              <a:effectLst/>
            </c:spPr>
            <c:extLst>
              <c:ext xmlns:c16="http://schemas.microsoft.com/office/drawing/2014/chart" uri="{C3380CC4-5D6E-409C-BE32-E72D297353CC}">
                <c16:uniqueId val="{00000001-CAD3-45FF-8211-6D96847ED8BB}"/>
              </c:ext>
            </c:extLst>
          </c:dPt>
          <c:dPt>
            <c:idx val="1"/>
            <c:invertIfNegative val="0"/>
            <c:bubble3D val="0"/>
            <c:spPr>
              <a:solidFill>
                <a:srgbClr val="1E8449"/>
              </a:solidFill>
              <a:effectLst/>
            </c:spPr>
            <c:extLst>
              <c:ext xmlns:c16="http://schemas.microsoft.com/office/drawing/2014/chart" uri="{C3380CC4-5D6E-409C-BE32-E72D297353CC}">
                <c16:uniqueId val="{00000003-CAD3-45FF-8211-6D96847ED8BB}"/>
              </c:ext>
            </c:extLst>
          </c:dPt>
          <c:dPt>
            <c:idx val="2"/>
            <c:invertIfNegative val="0"/>
            <c:bubble3D val="0"/>
            <c:spPr>
              <a:solidFill>
                <a:srgbClr val="1E8449"/>
              </a:solidFill>
              <a:effectLst/>
            </c:spPr>
            <c:extLst>
              <c:ext xmlns:c16="http://schemas.microsoft.com/office/drawing/2014/chart" uri="{C3380CC4-5D6E-409C-BE32-E72D297353CC}">
                <c16:uniqueId val="{00000005-CAD3-45FF-8211-6D96847ED8BB}"/>
              </c:ext>
            </c:extLst>
          </c:dPt>
          <c:dPt>
            <c:idx val="3"/>
            <c:invertIfNegative val="0"/>
            <c:bubble3D val="0"/>
            <c:spPr>
              <a:solidFill>
                <a:srgbClr val="1E8449"/>
              </a:solidFill>
              <a:effectLst/>
            </c:spPr>
            <c:extLst>
              <c:ext xmlns:c16="http://schemas.microsoft.com/office/drawing/2014/chart" uri="{C3380CC4-5D6E-409C-BE32-E72D297353CC}">
                <c16:uniqueId val="{00000007-CAD3-45FF-8211-6D96847ED8BB}"/>
              </c:ext>
            </c:extLst>
          </c:dPt>
          <c:dPt>
            <c:idx val="4"/>
            <c:invertIfNegative val="0"/>
            <c:bubble3D val="0"/>
            <c:spPr>
              <a:solidFill>
                <a:srgbClr val="1E8449"/>
              </a:solidFill>
              <a:effectLst/>
            </c:spPr>
            <c:extLst>
              <c:ext xmlns:c16="http://schemas.microsoft.com/office/drawing/2014/chart" uri="{C3380CC4-5D6E-409C-BE32-E72D297353CC}">
                <c16:uniqueId val="{00000009-CAD3-45FF-8211-6D96847ED8BB}"/>
              </c:ext>
            </c:extLst>
          </c:dPt>
          <c:dPt>
            <c:idx val="5"/>
            <c:invertIfNegative val="0"/>
            <c:bubble3D val="0"/>
            <c:spPr>
              <a:solidFill>
                <a:srgbClr val="1E8449"/>
              </a:solidFill>
              <a:effectLst/>
            </c:spPr>
            <c:extLst>
              <c:ext xmlns:c16="http://schemas.microsoft.com/office/drawing/2014/chart" uri="{C3380CC4-5D6E-409C-BE32-E72D297353CC}">
                <c16:uniqueId val="{0000000B-CAD3-45FF-8211-6D96847ED8BB}"/>
              </c:ext>
            </c:extLst>
          </c:dPt>
          <c:dPt>
            <c:idx val="6"/>
            <c:invertIfNegative val="0"/>
            <c:bubble3D val="0"/>
            <c:spPr>
              <a:solidFill>
                <a:srgbClr val="1E8449"/>
              </a:solidFill>
              <a:effectLst/>
            </c:spPr>
            <c:extLst>
              <c:ext xmlns:c16="http://schemas.microsoft.com/office/drawing/2014/chart" uri="{C3380CC4-5D6E-409C-BE32-E72D297353CC}">
                <c16:uniqueId val="{0000000D-CAD3-45FF-8211-6D96847ED8BB}"/>
              </c:ext>
            </c:extLst>
          </c:dPt>
          <c:dPt>
            <c:idx val="7"/>
            <c:invertIfNegative val="0"/>
            <c:bubble3D val="0"/>
            <c:spPr>
              <a:solidFill>
                <a:srgbClr val="1E8449"/>
              </a:solidFill>
              <a:effectLst/>
            </c:spPr>
            <c:extLst>
              <c:ext xmlns:c16="http://schemas.microsoft.com/office/drawing/2014/chart" uri="{C3380CC4-5D6E-409C-BE32-E72D297353CC}">
                <c16:uniqueId val="{0000000F-CAD3-45FF-8211-6D96847ED8BB}"/>
              </c:ext>
            </c:extLst>
          </c:dPt>
          <c:dPt>
            <c:idx val="8"/>
            <c:invertIfNegative val="0"/>
            <c:bubble3D val="0"/>
            <c:spPr>
              <a:solidFill>
                <a:srgbClr val="1E8449"/>
              </a:solidFill>
              <a:effectLst/>
            </c:spPr>
            <c:extLst>
              <c:ext xmlns:c16="http://schemas.microsoft.com/office/drawing/2014/chart" uri="{C3380CC4-5D6E-409C-BE32-E72D297353CC}">
                <c16:uniqueId val="{00000011-CAD3-45FF-8211-6D96847ED8BB}"/>
              </c:ext>
            </c:extLst>
          </c:dPt>
          <c:dPt>
            <c:idx val="9"/>
            <c:invertIfNegative val="0"/>
            <c:bubble3D val="0"/>
            <c:spPr>
              <a:solidFill>
                <a:srgbClr val="1E8449"/>
              </a:solidFill>
              <a:effectLst/>
            </c:spPr>
            <c:extLst>
              <c:ext xmlns:c16="http://schemas.microsoft.com/office/drawing/2014/chart" uri="{C3380CC4-5D6E-409C-BE32-E72D297353CC}">
                <c16:uniqueId val="{00000013-CAD3-45FF-8211-6D96847ED8BB}"/>
              </c:ext>
            </c:extLst>
          </c:dPt>
          <c:dPt>
            <c:idx val="10"/>
            <c:invertIfNegative val="0"/>
            <c:bubble3D val="0"/>
            <c:spPr>
              <a:solidFill>
                <a:srgbClr val="1E8449"/>
              </a:solidFill>
              <a:effectLst/>
            </c:spPr>
            <c:extLst>
              <c:ext xmlns:c16="http://schemas.microsoft.com/office/drawing/2014/chart" uri="{C3380CC4-5D6E-409C-BE32-E72D297353CC}">
                <c16:uniqueId val="{00000015-CAD3-45FF-8211-6D96847ED8BB}"/>
              </c:ext>
            </c:extLst>
          </c:dPt>
          <c:dPt>
            <c:idx val="11"/>
            <c:invertIfNegative val="0"/>
            <c:bubble3D val="0"/>
            <c:spPr>
              <a:solidFill>
                <a:srgbClr val="1E8449"/>
              </a:solidFill>
              <a:effectLst/>
            </c:spPr>
            <c:extLst>
              <c:ext xmlns:c16="http://schemas.microsoft.com/office/drawing/2014/chart" uri="{C3380CC4-5D6E-409C-BE32-E72D297353CC}">
                <c16:uniqueId val="{00000017-CAD3-45FF-8211-6D96847ED8BB}"/>
              </c:ext>
            </c:extLst>
          </c:dPt>
          <c:dPt>
            <c:idx val="12"/>
            <c:invertIfNegative val="0"/>
            <c:bubble3D val="0"/>
            <c:spPr>
              <a:solidFill>
                <a:srgbClr val="1E8449"/>
              </a:solidFill>
              <a:effectLst/>
            </c:spPr>
            <c:extLst>
              <c:ext xmlns:c16="http://schemas.microsoft.com/office/drawing/2014/chart" uri="{C3380CC4-5D6E-409C-BE32-E72D297353CC}">
                <c16:uniqueId val="{00000019-CAD3-45FF-8211-6D96847ED8BB}"/>
              </c:ext>
            </c:extLst>
          </c:dPt>
          <c:dPt>
            <c:idx val="13"/>
            <c:invertIfNegative val="0"/>
            <c:bubble3D val="0"/>
            <c:spPr>
              <a:solidFill>
                <a:srgbClr val="1E8449"/>
              </a:solidFill>
              <a:effectLst/>
            </c:spPr>
            <c:extLst>
              <c:ext xmlns:c16="http://schemas.microsoft.com/office/drawing/2014/chart" uri="{C3380CC4-5D6E-409C-BE32-E72D297353CC}">
                <c16:uniqueId val="{0000001B-CAD3-45FF-8211-6D96847ED8BB}"/>
              </c:ext>
            </c:extLst>
          </c:dPt>
          <c:dPt>
            <c:idx val="14"/>
            <c:invertIfNegative val="0"/>
            <c:bubble3D val="0"/>
            <c:spPr>
              <a:solidFill>
                <a:srgbClr val="1E8449"/>
              </a:solidFill>
              <a:effectLst/>
            </c:spPr>
            <c:extLst>
              <c:ext xmlns:c16="http://schemas.microsoft.com/office/drawing/2014/chart" uri="{C3380CC4-5D6E-409C-BE32-E72D297353CC}">
                <c16:uniqueId val="{0000001D-CAD3-45FF-8211-6D96847ED8BB}"/>
              </c:ext>
            </c:extLst>
          </c:dPt>
          <c:dPt>
            <c:idx val="15"/>
            <c:invertIfNegative val="0"/>
            <c:bubble3D val="0"/>
            <c:spPr>
              <a:solidFill>
                <a:srgbClr val="1E8449"/>
              </a:solidFill>
              <a:effectLst/>
            </c:spPr>
            <c:extLst>
              <c:ext xmlns:c16="http://schemas.microsoft.com/office/drawing/2014/chart" uri="{C3380CC4-5D6E-409C-BE32-E72D297353CC}">
                <c16:uniqueId val="{0000001F-CAD3-45FF-8211-6D96847ED8BB}"/>
              </c:ext>
            </c:extLst>
          </c:dPt>
          <c:dPt>
            <c:idx val="16"/>
            <c:invertIfNegative val="0"/>
            <c:bubble3D val="0"/>
            <c:spPr>
              <a:solidFill>
                <a:srgbClr val="1E8449"/>
              </a:solidFill>
              <a:effectLst/>
            </c:spPr>
            <c:extLst>
              <c:ext xmlns:c16="http://schemas.microsoft.com/office/drawing/2014/chart" uri="{C3380CC4-5D6E-409C-BE32-E72D297353CC}">
                <c16:uniqueId val="{00000021-CAD3-45FF-8211-6D96847ED8BB}"/>
              </c:ext>
            </c:extLst>
          </c:dPt>
          <c:dPt>
            <c:idx val="17"/>
            <c:invertIfNegative val="0"/>
            <c:bubble3D val="0"/>
            <c:spPr>
              <a:solidFill>
                <a:srgbClr val="1E8449"/>
              </a:solidFill>
              <a:effectLst/>
            </c:spPr>
            <c:extLst>
              <c:ext xmlns:c16="http://schemas.microsoft.com/office/drawing/2014/chart" uri="{C3380CC4-5D6E-409C-BE32-E72D297353CC}">
                <c16:uniqueId val="{00000023-CAD3-45FF-8211-6D96847ED8BB}"/>
              </c:ext>
            </c:extLst>
          </c:dPt>
          <c:dPt>
            <c:idx val="18"/>
            <c:invertIfNegative val="0"/>
            <c:bubble3D val="0"/>
            <c:spPr>
              <a:solidFill>
                <a:srgbClr val="1E8449"/>
              </a:solidFill>
              <a:effectLst/>
            </c:spPr>
            <c:extLst>
              <c:ext xmlns:c16="http://schemas.microsoft.com/office/drawing/2014/chart" uri="{C3380CC4-5D6E-409C-BE32-E72D297353CC}">
                <c16:uniqueId val="{00000025-CAD3-45FF-8211-6D96847ED8BB}"/>
              </c:ext>
            </c:extLst>
          </c:dPt>
          <c:dPt>
            <c:idx val="19"/>
            <c:invertIfNegative val="0"/>
            <c:bubble3D val="0"/>
            <c:spPr>
              <a:solidFill>
                <a:srgbClr val="1E8449"/>
              </a:solidFill>
              <a:effectLst/>
            </c:spPr>
            <c:extLst>
              <c:ext xmlns:c16="http://schemas.microsoft.com/office/drawing/2014/chart" uri="{C3380CC4-5D6E-409C-BE32-E72D297353CC}">
                <c16:uniqueId val="{00000027-CAD3-45FF-8211-6D96847ED8BB}"/>
              </c:ext>
            </c:extLst>
          </c:dPt>
          <c:dPt>
            <c:idx val="20"/>
            <c:invertIfNegative val="0"/>
            <c:bubble3D val="0"/>
            <c:spPr>
              <a:solidFill>
                <a:srgbClr val="1E8449"/>
              </a:solidFill>
              <a:effectLst/>
            </c:spPr>
            <c:extLst>
              <c:ext xmlns:c16="http://schemas.microsoft.com/office/drawing/2014/chart" uri="{C3380CC4-5D6E-409C-BE32-E72D297353CC}">
                <c16:uniqueId val="{00000029-CAD3-45FF-8211-6D96847ED8BB}"/>
              </c:ext>
            </c:extLst>
          </c:dPt>
          <c:dPt>
            <c:idx val="21"/>
            <c:invertIfNegative val="0"/>
            <c:bubble3D val="0"/>
            <c:spPr>
              <a:solidFill>
                <a:srgbClr val="1E8449"/>
              </a:solidFill>
              <a:effectLst/>
            </c:spPr>
            <c:extLst>
              <c:ext xmlns:c16="http://schemas.microsoft.com/office/drawing/2014/chart" uri="{C3380CC4-5D6E-409C-BE32-E72D297353CC}">
                <c16:uniqueId val="{0000002B-CAD3-45FF-8211-6D96847ED8BB}"/>
              </c:ext>
            </c:extLst>
          </c:dPt>
          <c:dPt>
            <c:idx val="22"/>
            <c:invertIfNegative val="0"/>
            <c:bubble3D val="0"/>
            <c:spPr>
              <a:solidFill>
                <a:srgbClr val="1E8449"/>
              </a:solidFill>
              <a:effectLst/>
            </c:spPr>
            <c:extLst>
              <c:ext xmlns:c16="http://schemas.microsoft.com/office/drawing/2014/chart" uri="{C3380CC4-5D6E-409C-BE32-E72D297353CC}">
                <c16:uniqueId val="{0000002D-CAD3-45FF-8211-6D96847ED8BB}"/>
              </c:ext>
            </c:extLst>
          </c:dPt>
          <c:dPt>
            <c:idx val="23"/>
            <c:invertIfNegative val="0"/>
            <c:bubble3D val="0"/>
            <c:spPr>
              <a:solidFill>
                <a:srgbClr val="1E8449"/>
              </a:solidFill>
              <a:effectLst/>
            </c:spPr>
            <c:extLst>
              <c:ext xmlns:c16="http://schemas.microsoft.com/office/drawing/2014/chart" uri="{C3380CC4-5D6E-409C-BE32-E72D297353CC}">
                <c16:uniqueId val="{0000002F-CAD3-45FF-8211-6D96847ED8BB}"/>
              </c:ext>
            </c:extLst>
          </c:dPt>
          <c:dPt>
            <c:idx val="24"/>
            <c:invertIfNegative val="0"/>
            <c:bubble3D val="0"/>
            <c:spPr>
              <a:solidFill>
                <a:srgbClr val="1E8449"/>
              </a:solidFill>
              <a:effectLst/>
            </c:spPr>
            <c:extLst>
              <c:ext xmlns:c16="http://schemas.microsoft.com/office/drawing/2014/chart" uri="{C3380CC4-5D6E-409C-BE32-E72D297353CC}">
                <c16:uniqueId val="{00000031-CAD3-45FF-8211-6D96847ED8BB}"/>
              </c:ext>
            </c:extLst>
          </c:dPt>
          <c:dPt>
            <c:idx val="25"/>
            <c:invertIfNegative val="0"/>
            <c:bubble3D val="0"/>
            <c:spPr>
              <a:solidFill>
                <a:srgbClr val="1E8449"/>
              </a:solidFill>
              <a:effectLst/>
            </c:spPr>
            <c:extLst>
              <c:ext xmlns:c16="http://schemas.microsoft.com/office/drawing/2014/chart" uri="{C3380CC4-5D6E-409C-BE32-E72D297353CC}">
                <c16:uniqueId val="{00000033-CAD3-45FF-8211-6D96847ED8BB}"/>
              </c:ext>
            </c:extLst>
          </c:dPt>
          <c:dPt>
            <c:idx val="26"/>
            <c:invertIfNegative val="0"/>
            <c:bubble3D val="0"/>
            <c:spPr>
              <a:solidFill>
                <a:srgbClr val="1E8449"/>
              </a:solidFill>
              <a:effectLst/>
            </c:spPr>
            <c:extLst>
              <c:ext xmlns:c16="http://schemas.microsoft.com/office/drawing/2014/chart" uri="{C3380CC4-5D6E-409C-BE32-E72D297353CC}">
                <c16:uniqueId val="{00000035-CAD3-45FF-8211-6D96847ED8BB}"/>
              </c:ext>
            </c:extLst>
          </c:dPt>
          <c:dPt>
            <c:idx val="27"/>
            <c:invertIfNegative val="0"/>
            <c:bubble3D val="0"/>
            <c:spPr>
              <a:solidFill>
                <a:srgbClr val="1E8449"/>
              </a:solidFill>
              <a:effectLst/>
            </c:spPr>
            <c:extLst>
              <c:ext xmlns:c16="http://schemas.microsoft.com/office/drawing/2014/chart" uri="{C3380CC4-5D6E-409C-BE32-E72D297353CC}">
                <c16:uniqueId val="{00000037-CAD3-45FF-8211-6D96847ED8BB}"/>
              </c:ext>
            </c:extLst>
          </c:dPt>
          <c:dPt>
            <c:idx val="28"/>
            <c:invertIfNegative val="0"/>
            <c:bubble3D val="0"/>
            <c:spPr>
              <a:solidFill>
                <a:srgbClr val="1E8449"/>
              </a:solidFill>
              <a:effectLst/>
            </c:spPr>
            <c:extLst>
              <c:ext xmlns:c16="http://schemas.microsoft.com/office/drawing/2014/chart" uri="{C3380CC4-5D6E-409C-BE32-E72D297353CC}">
                <c16:uniqueId val="{00000039-CAD3-45FF-8211-6D96847ED8BB}"/>
              </c:ext>
            </c:extLst>
          </c:dPt>
          <c:dPt>
            <c:idx val="29"/>
            <c:invertIfNegative val="0"/>
            <c:bubble3D val="0"/>
            <c:spPr>
              <a:solidFill>
                <a:srgbClr val="F4B400"/>
              </a:solidFill>
              <a:effectLst/>
            </c:spPr>
            <c:extLst>
              <c:ext xmlns:c16="http://schemas.microsoft.com/office/drawing/2014/chart" uri="{C3380CC4-5D6E-409C-BE32-E72D297353CC}">
                <c16:uniqueId val="{0000003B-CAD3-45FF-8211-6D96847ED8BB}"/>
              </c:ext>
            </c:extLst>
          </c:dPt>
          <c:dPt>
            <c:idx val="30"/>
            <c:invertIfNegative val="0"/>
            <c:bubble3D val="0"/>
            <c:spPr>
              <a:solidFill>
                <a:srgbClr val="F4B400"/>
              </a:solidFill>
              <a:effectLst/>
            </c:spPr>
            <c:extLst>
              <c:ext xmlns:c16="http://schemas.microsoft.com/office/drawing/2014/chart" uri="{C3380CC4-5D6E-409C-BE32-E72D297353CC}">
                <c16:uniqueId val="{0000003D-CAD3-45FF-8211-6D96847ED8BB}"/>
              </c:ext>
            </c:extLst>
          </c:dPt>
          <c:dPt>
            <c:idx val="31"/>
            <c:invertIfNegative val="0"/>
            <c:bubble3D val="0"/>
            <c:spPr>
              <a:solidFill>
                <a:srgbClr val="F4B400"/>
              </a:solidFill>
              <a:effectLst/>
            </c:spPr>
            <c:extLst>
              <c:ext xmlns:c16="http://schemas.microsoft.com/office/drawing/2014/chart" uri="{C3380CC4-5D6E-409C-BE32-E72D297353CC}">
                <c16:uniqueId val="{0000003F-CAD3-45FF-8211-6D96847ED8BB}"/>
              </c:ext>
            </c:extLst>
          </c:dPt>
          <c:dPt>
            <c:idx val="32"/>
            <c:invertIfNegative val="0"/>
            <c:bubble3D val="0"/>
            <c:spPr>
              <a:solidFill>
                <a:srgbClr val="F4B400"/>
              </a:solidFill>
              <a:effectLst/>
            </c:spPr>
            <c:extLst>
              <c:ext xmlns:c16="http://schemas.microsoft.com/office/drawing/2014/chart" uri="{C3380CC4-5D6E-409C-BE32-E72D297353CC}">
                <c16:uniqueId val="{00000041-CAD3-45FF-8211-6D96847ED8BB}"/>
              </c:ext>
            </c:extLst>
          </c:dPt>
          <c:dPt>
            <c:idx val="33"/>
            <c:invertIfNegative val="0"/>
            <c:bubble3D val="0"/>
            <c:spPr>
              <a:solidFill>
                <a:srgbClr val="F4B400"/>
              </a:solidFill>
              <a:effectLst/>
            </c:spPr>
            <c:extLst>
              <c:ext xmlns:c16="http://schemas.microsoft.com/office/drawing/2014/chart" uri="{C3380CC4-5D6E-409C-BE32-E72D297353CC}">
                <c16:uniqueId val="{00000043-CAD3-45FF-8211-6D96847ED8BB}"/>
              </c:ext>
            </c:extLst>
          </c:dPt>
          <c:dPt>
            <c:idx val="34"/>
            <c:invertIfNegative val="0"/>
            <c:bubble3D val="0"/>
            <c:spPr>
              <a:solidFill>
                <a:srgbClr val="F4B400"/>
              </a:solidFill>
              <a:effectLst/>
            </c:spPr>
            <c:extLst>
              <c:ext xmlns:c16="http://schemas.microsoft.com/office/drawing/2014/chart" uri="{C3380CC4-5D6E-409C-BE32-E72D297353CC}">
                <c16:uniqueId val="{00000045-CAD3-45FF-8211-6D96847ED8BB}"/>
              </c:ext>
            </c:extLst>
          </c:dPt>
          <c:dPt>
            <c:idx val="35"/>
            <c:invertIfNegative val="0"/>
            <c:bubble3D val="0"/>
            <c:spPr>
              <a:solidFill>
                <a:srgbClr val="F4B400"/>
              </a:solidFill>
              <a:effectLst/>
            </c:spPr>
            <c:extLst>
              <c:ext xmlns:c16="http://schemas.microsoft.com/office/drawing/2014/chart" uri="{C3380CC4-5D6E-409C-BE32-E72D297353CC}">
                <c16:uniqueId val="{00000047-CAD3-45FF-8211-6D96847ED8BB}"/>
              </c:ext>
            </c:extLst>
          </c:dPt>
          <c:dPt>
            <c:idx val="36"/>
            <c:invertIfNegative val="0"/>
            <c:bubble3D val="0"/>
            <c:spPr>
              <a:solidFill>
                <a:srgbClr val="F4B400"/>
              </a:solidFill>
              <a:effectLst/>
            </c:spPr>
            <c:extLst>
              <c:ext xmlns:c16="http://schemas.microsoft.com/office/drawing/2014/chart" uri="{C3380CC4-5D6E-409C-BE32-E72D297353CC}">
                <c16:uniqueId val="{00000049-CAD3-45FF-8211-6D96847ED8BB}"/>
              </c:ext>
            </c:extLst>
          </c:dPt>
          <c:dPt>
            <c:idx val="37"/>
            <c:invertIfNegative val="0"/>
            <c:bubble3D val="0"/>
            <c:spPr>
              <a:solidFill>
                <a:srgbClr val="F4B400"/>
              </a:solidFill>
              <a:effectLst/>
            </c:spPr>
            <c:extLst>
              <c:ext xmlns:c16="http://schemas.microsoft.com/office/drawing/2014/chart" uri="{C3380CC4-5D6E-409C-BE32-E72D297353CC}">
                <c16:uniqueId val="{0000004B-CAD3-45FF-8211-6D96847ED8BB}"/>
              </c:ext>
            </c:extLst>
          </c:dPt>
          <c:dPt>
            <c:idx val="38"/>
            <c:invertIfNegative val="0"/>
            <c:bubble3D val="0"/>
            <c:spPr>
              <a:solidFill>
                <a:srgbClr val="F4B400"/>
              </a:solidFill>
              <a:effectLst/>
            </c:spPr>
            <c:extLst>
              <c:ext xmlns:c16="http://schemas.microsoft.com/office/drawing/2014/chart" uri="{C3380CC4-5D6E-409C-BE32-E72D297353CC}">
                <c16:uniqueId val="{0000004D-CAD3-45FF-8211-6D96847ED8BB}"/>
              </c:ext>
            </c:extLst>
          </c:dPt>
          <c:dLbls>
            <c:numFmt formatCode="0.0&quot;%&quot;" sourceLinked="0"/>
            <c:spPr>
              <a:noFill/>
              <a:ln>
                <a:noFill/>
              </a:ln>
              <a:effectLst/>
            </c:spPr>
            <c:txPr>
              <a:bodyPr/>
              <a:lstStyle/>
              <a:p>
                <a:pPr>
                  <a:defRPr sz="54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Sheet1!$A$2:$A$40</c:f>
              <c:strCache>
                <c:ptCount val="39"/>
                <c:pt idx="0">
                  <c:v>Casa 24 (Terra by Kaia)</c:v>
                </c:pt>
                <c:pt idx="1">
                  <c:v>Casa 2 (Pance)</c:v>
                </c:pt>
                <c:pt idx="2">
                  <c:v>Casa 15p (Prado Verde)</c:v>
                </c:pt>
                <c:pt idx="3">
                  <c:v>Casa 15 (Pance)</c:v>
                </c:pt>
                <c:pt idx="4">
                  <c:v>Casa 30 (Pance)</c:v>
                </c:pt>
                <c:pt idx="5">
                  <c:v>Casa 35 (Pance)</c:v>
                </c:pt>
                <c:pt idx="6">
                  <c:v>Casa 93p (Prado Verde)</c:v>
                </c:pt>
                <c:pt idx="7">
                  <c:v>🧳 Casa 18 (Pance)</c:v>
                </c:pt>
                <c:pt idx="8">
                  <c:v>Casa 57 (Pance)</c:v>
                </c:pt>
                <c:pt idx="9">
                  <c:v>Casa 78T (Terranova)</c:v>
                </c:pt>
                <c:pt idx="10">
                  <c:v>Casa 56 (Pance)</c:v>
                </c:pt>
                <c:pt idx="11">
                  <c:v>Casa 11 (Pance)</c:v>
                </c:pt>
                <c:pt idx="12">
                  <c:v>Casa 23 (Pance)</c:v>
                </c:pt>
                <c:pt idx="13">
                  <c:v>Casa 18Ap (Prado Verde)</c:v>
                </c:pt>
                <c:pt idx="14">
                  <c:v>Casa 73 (Llanos Pance)</c:v>
                </c:pt>
                <c:pt idx="15">
                  <c:v>Casa 23p (Prado Verde)</c:v>
                </c:pt>
                <c:pt idx="16">
                  <c:v>Casa 77 (Pance)</c:v>
                </c:pt>
                <c:pt idx="17">
                  <c:v>Casa 102p (Prado Verde)</c:v>
                </c:pt>
                <c:pt idx="18">
                  <c:v>Casa 435p (Prado Verde)</c:v>
                </c:pt>
                <c:pt idx="19">
                  <c:v>Casa 63 (Pance)</c:v>
                </c:pt>
                <c:pt idx="20">
                  <c:v>Casa 18PR (Porton Rivera)</c:v>
                </c:pt>
                <c:pt idx="21">
                  <c:v>Casa 48 (Pance)</c:v>
                </c:pt>
                <c:pt idx="22">
                  <c:v>Casa 29 (Pance)</c:v>
                </c:pt>
                <c:pt idx="23">
                  <c:v>Casa 70 (Pance)</c:v>
                </c:pt>
                <c:pt idx="24">
                  <c:v>Casa 382p (Prado Verde)</c:v>
                </c:pt>
                <c:pt idx="25">
                  <c:v>Casa 10 (Pance)</c:v>
                </c:pt>
                <c:pt idx="26">
                  <c:v>Casa 99 (Pance)</c:v>
                </c:pt>
                <c:pt idx="27">
                  <c:v>Casa 42 (Pance)</c:v>
                </c:pt>
                <c:pt idx="28">
                  <c:v>Casa 10p (Prado Verde)</c:v>
                </c:pt>
                <c:pt idx="29">
                  <c:v>Casa 108 (Pance)</c:v>
                </c:pt>
                <c:pt idx="30">
                  <c:v>🧳 Casa 287 (Terra by Kaia)</c:v>
                </c:pt>
                <c:pt idx="31">
                  <c:v>Casa 12 (Los Abedules)</c:v>
                </c:pt>
                <c:pt idx="32">
                  <c:v>🧳 Casa 74 (Pance)</c:v>
                </c:pt>
                <c:pt idx="33">
                  <c:v>🧳 Casa 76 (Pance)</c:v>
                </c:pt>
                <c:pt idx="34">
                  <c:v>Casa 155 (Terra by Kaia)</c:v>
                </c:pt>
                <c:pt idx="35">
                  <c:v>Casa 111 (Pance)</c:v>
                </c:pt>
                <c:pt idx="36">
                  <c:v>Casa 446p (Prado Verde)</c:v>
                </c:pt>
                <c:pt idx="37">
                  <c:v>Casa 55p (Prado Verde)</c:v>
                </c:pt>
                <c:pt idx="38">
                  <c:v>🧳 Casa 104 (Pance)</c:v>
                </c:pt>
              </c:strCache>
            </c:strRef>
          </c:cat>
          <c:val>
            <c:numRef>
              <c:f>Sheet1!$B$2:$B$40</c:f>
              <c:numCache>
                <c:formatCode>General</c:formatCode>
                <c:ptCount val="39"/>
                <c:pt idx="0">
                  <c:v>104.1</c:v>
                </c:pt>
                <c:pt idx="1">
                  <c:v>103.2</c:v>
                </c:pt>
                <c:pt idx="2">
                  <c:v>102.8</c:v>
                </c:pt>
                <c:pt idx="3">
                  <c:v>100.3</c:v>
                </c:pt>
                <c:pt idx="4">
                  <c:v>100.3</c:v>
                </c:pt>
                <c:pt idx="5">
                  <c:v>99.2</c:v>
                </c:pt>
                <c:pt idx="6">
                  <c:v>98.5</c:v>
                </c:pt>
                <c:pt idx="7">
                  <c:v>97.7</c:v>
                </c:pt>
                <c:pt idx="8">
                  <c:v>97.5</c:v>
                </c:pt>
                <c:pt idx="9">
                  <c:v>97.2</c:v>
                </c:pt>
                <c:pt idx="10">
                  <c:v>97.1</c:v>
                </c:pt>
                <c:pt idx="11">
                  <c:v>96.7</c:v>
                </c:pt>
                <c:pt idx="12">
                  <c:v>94.7</c:v>
                </c:pt>
                <c:pt idx="13">
                  <c:v>94.5</c:v>
                </c:pt>
                <c:pt idx="14">
                  <c:v>93.6</c:v>
                </c:pt>
                <c:pt idx="15">
                  <c:v>93.4</c:v>
                </c:pt>
                <c:pt idx="16">
                  <c:v>93.1</c:v>
                </c:pt>
                <c:pt idx="17">
                  <c:v>90.9</c:v>
                </c:pt>
                <c:pt idx="18">
                  <c:v>89.1</c:v>
                </c:pt>
                <c:pt idx="19">
                  <c:v>86.6</c:v>
                </c:pt>
                <c:pt idx="20">
                  <c:v>85.9</c:v>
                </c:pt>
                <c:pt idx="21">
                  <c:v>85.6</c:v>
                </c:pt>
                <c:pt idx="22">
                  <c:v>85.3</c:v>
                </c:pt>
                <c:pt idx="23">
                  <c:v>84.6</c:v>
                </c:pt>
                <c:pt idx="24">
                  <c:v>84.0</c:v>
                </c:pt>
                <c:pt idx="25">
                  <c:v>82.3</c:v>
                </c:pt>
                <c:pt idx="26">
                  <c:v>82.1</c:v>
                </c:pt>
                <c:pt idx="27">
                  <c:v>80.8</c:v>
                </c:pt>
                <c:pt idx="28">
                  <c:v>80.6</c:v>
                </c:pt>
                <c:pt idx="29">
                  <c:v>79.9</c:v>
                </c:pt>
                <c:pt idx="30">
                  <c:v>79.4</c:v>
                </c:pt>
                <c:pt idx="31">
                  <c:v>78.7</c:v>
                </c:pt>
                <c:pt idx="32">
                  <c:v>77.6</c:v>
                </c:pt>
                <c:pt idx="33">
                  <c:v>77.3</c:v>
                </c:pt>
                <c:pt idx="34">
                  <c:v>74.5</c:v>
                </c:pt>
                <c:pt idx="35">
                  <c:v>73.1</c:v>
                </c:pt>
                <c:pt idx="36">
                  <c:v>70.1</c:v>
                </c:pt>
                <c:pt idx="37">
                  <c:v>67.4</c:v>
                </c:pt>
                <c:pt idx="38">
                  <c:v>67.4</c:v>
                </c:pt>
              </c:numCache>
            </c:numRef>
          </c:val>
          <c:extLst>
            <c:ext xmlns:c16="http://schemas.microsoft.com/office/drawing/2014/chart" uri="{C3380CC4-5D6E-409C-BE32-E72D297353CC}">
              <c16:uniqueId val="{0000004E-CAD3-45FF-8211-6D96847ED8B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5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126"/>
        </c:scaling>
        <c:delete val="1"/>
        <c:axPos val="b"/>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100" b="0" i="0" u="none" strike="noStrike">
                <a:solidFill>
                  <a:srgbClr val="12263A"/>
                </a:solidFill>
                <a:latin typeface="Calibri"/>
              </a:defRPr>
            </a:pPr>
            <a:r>
              <a:rPr lang="es-CO" sz="1100" b="0" i="0" u="none" strike="noStrike" noProof="0" dirty="0">
                <a:solidFill>
                  <a:srgbClr val="12263A"/>
                </a:solidFill>
                <a:latin typeface="Calibri"/>
              </a:rPr>
              <a:t>Demanda Total vs. Energía Solar Cubierta</a:t>
            </a:r>
          </a:p>
        </c:rich>
      </c:tx>
      <c:overlay val="0"/>
    </c:title>
    <c:autoTitleDeleted val="0"/>
    <c:plotArea>
      <c:layout/>
      <c:barChart>
        <c:barDir val="col"/>
        <c:grouping val="clustered"/>
        <c:varyColors val="0"/>
        <c:ser>
          <c:idx val="0"/>
          <c:order val="0"/>
          <c:tx>
            <c:strRef>
              <c:f>Sheet1!$B$1</c:f>
              <c:strCache>
                <c:ptCount val="1"/>
                <c:pt idx="0">
                  <c:v>Demanda Total (kWh)</c:v>
                </c:pt>
              </c:strCache>
            </c:strRef>
          </c:tx>
          <c:spPr>
            <a:solidFill>
              <a:srgbClr val="DDDDDD"/>
            </a:solidFill>
            <a:effectLst/>
          </c:spPr>
          <c:invertIfNegative val="0"/>
          <c:dLbls>
            <c:numFmt formatCode="#,##0" sourceLinked="0"/>
            <c:spPr>
              <a:noFill/>
              <a:ln>
                <a:noFill/>
              </a:ln>
              <a:effectLst/>
            </c:spPr>
            <c:txPr>
              <a:bodyPr/>
              <a:lstStyle/>
              <a:p>
                <a:pPr>
                  <a:defRPr sz="65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Reservas de Pance</c:v>
                </c:pt>
                <c:pt idx="1">
                  <c:v>Prado Verde</c:v>
                </c:pt>
                <c:pt idx="2">
                  <c:v>Terra by Kaia</c:v>
                </c:pt>
                <c:pt idx="3">
                  <c:v>Terranova</c:v>
                </c:pt>
                <c:pt idx="4">
                  <c:v>Los Abedules</c:v>
                </c:pt>
                <c:pt idx="5">
                  <c:v>Porton Rivera</c:v>
                </c:pt>
                <c:pt idx="6">
                  <c:v>Llanos Pance</c:v>
                </c:pt>
              </c:strCache>
            </c:strRef>
          </c:cat>
          <c:val>
            <c:numRef>
              <c:f>Sheet1!$B$2:$B$8</c:f>
              <c:numCache>
                <c:formatCode>General</c:formatCode>
                <c:ptCount val="7"/>
                <c:pt idx="0">
                  <c:v>14694</c:v>
                </c:pt>
                <c:pt idx="1">
                  <c:v>4995</c:v>
                </c:pt>
                <c:pt idx="2">
                  <c:v>2916</c:v>
                </c:pt>
                <c:pt idx="3">
                  <c:v>1881</c:v>
                </c:pt>
                <c:pt idx="4">
                  <c:v>1440</c:v>
                </c:pt>
                <c:pt idx="5">
                  <c:v>454</c:v>
                </c:pt>
                <c:pt idx="6">
                  <c:v>530</c:v>
                </c:pt>
              </c:numCache>
            </c:numRef>
          </c:val>
          <c:extLst>
            <c:ext xmlns:c16="http://schemas.microsoft.com/office/drawing/2014/chart" uri="{C3380CC4-5D6E-409C-BE32-E72D297353CC}">
              <c16:uniqueId val="{00000000-408C-4B76-A284-F43570FB84C9}"/>
            </c:ext>
          </c:extLst>
        </c:ser>
        <c:ser>
          <c:idx val="1"/>
          <c:order val="1"/>
          <c:tx>
            <c:strRef>
              <c:f>Sheet1!$C$1</c:f>
              <c:strCache>
                <c:ptCount val="1"/>
                <c:pt idx="0">
                  <c:v>Cubierto por Solar (kWh)</c:v>
                </c:pt>
              </c:strCache>
            </c:strRef>
          </c:tx>
          <c:spPr>
            <a:solidFill>
              <a:srgbClr val="2B5BA3"/>
            </a:solidFill>
            <a:effectLst/>
          </c:spPr>
          <c:invertIfNegative val="0"/>
          <c:dLbls>
            <c:numFmt formatCode="#,##0" sourceLinked="0"/>
            <c:spPr>
              <a:noFill/>
              <a:ln>
                <a:noFill/>
              </a:ln>
              <a:effectLst/>
            </c:spPr>
            <c:txPr>
              <a:bodyPr/>
              <a:lstStyle/>
              <a:p>
                <a:pPr>
                  <a:defRPr sz="65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Reservas de Pance</c:v>
                </c:pt>
                <c:pt idx="1">
                  <c:v>Prado Verde</c:v>
                </c:pt>
                <c:pt idx="2">
                  <c:v>Terra by Kaia</c:v>
                </c:pt>
                <c:pt idx="3">
                  <c:v>Terranova</c:v>
                </c:pt>
                <c:pt idx="4">
                  <c:v>Los Abedules</c:v>
                </c:pt>
                <c:pt idx="5">
                  <c:v>Porton Rivera</c:v>
                </c:pt>
                <c:pt idx="6">
                  <c:v>Llanos Pance</c:v>
                </c:pt>
              </c:strCache>
            </c:strRef>
          </c:cat>
          <c:val>
            <c:numRef>
              <c:f>Sheet1!$C$2:$C$8</c:f>
              <c:numCache>
                <c:formatCode>General</c:formatCode>
                <c:ptCount val="7"/>
                <c:pt idx="0">
                  <c:v>9909</c:v>
                </c:pt>
                <c:pt idx="1">
                  <c:v>3510</c:v>
                </c:pt>
                <c:pt idx="2">
                  <c:v>1914</c:v>
                </c:pt>
                <c:pt idx="3">
                  <c:v>944</c:v>
                </c:pt>
                <c:pt idx="4">
                  <c:v>1006</c:v>
                </c:pt>
                <c:pt idx="5">
                  <c:v>256</c:v>
                </c:pt>
                <c:pt idx="6">
                  <c:v>326</c:v>
                </c:pt>
              </c:numCache>
            </c:numRef>
          </c:val>
          <c:extLst>
            <c:ext xmlns:c16="http://schemas.microsoft.com/office/drawing/2014/chart" uri="{C3380CC4-5D6E-409C-BE32-E72D297353CC}">
              <c16:uniqueId val="{00000001-408C-4B76-A284-F43570FB84C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F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8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SOC promedio</c:v>
                </c:pt>
              </c:strCache>
            </c:strRef>
          </c:tx>
          <c:spPr>
            <a:solidFill>
              <a:srgbClr val="1E8449"/>
            </a:solidFill>
            <a:effectLst/>
          </c:spPr>
          <c:invertIfNegative val="0"/>
          <c:dPt>
            <c:idx val="0"/>
            <c:invertIfNegative val="0"/>
            <c:bubble3D val="0"/>
            <c:spPr>
              <a:solidFill>
                <a:srgbClr val="1E8449"/>
              </a:solidFill>
              <a:effectLst/>
            </c:spPr>
            <c:extLst>
              <c:ext xmlns:c16="http://schemas.microsoft.com/office/drawing/2014/chart" uri="{C3380CC4-5D6E-409C-BE32-E72D297353CC}">
                <c16:uniqueId val="{00000001-E9AF-403C-8458-7EA427B99E15}"/>
              </c:ext>
            </c:extLst>
          </c:dPt>
          <c:dPt>
            <c:idx val="1"/>
            <c:invertIfNegative val="0"/>
            <c:bubble3D val="0"/>
            <c:spPr>
              <a:solidFill>
                <a:srgbClr val="1E8449"/>
              </a:solidFill>
              <a:effectLst/>
            </c:spPr>
            <c:extLst>
              <c:ext xmlns:c16="http://schemas.microsoft.com/office/drawing/2014/chart" uri="{C3380CC4-5D6E-409C-BE32-E72D297353CC}">
                <c16:uniqueId val="{00000003-E9AF-403C-8458-7EA427B99E15}"/>
              </c:ext>
            </c:extLst>
          </c:dPt>
          <c:dPt>
            <c:idx val="2"/>
            <c:invertIfNegative val="0"/>
            <c:bubble3D val="0"/>
            <c:spPr>
              <a:solidFill>
                <a:srgbClr val="1E8449"/>
              </a:solidFill>
              <a:effectLst/>
            </c:spPr>
            <c:extLst>
              <c:ext xmlns:c16="http://schemas.microsoft.com/office/drawing/2014/chart" uri="{C3380CC4-5D6E-409C-BE32-E72D297353CC}">
                <c16:uniqueId val="{00000005-E9AF-403C-8458-7EA427B99E15}"/>
              </c:ext>
            </c:extLst>
          </c:dPt>
          <c:dPt>
            <c:idx val="3"/>
            <c:invertIfNegative val="0"/>
            <c:bubble3D val="0"/>
            <c:spPr>
              <a:solidFill>
                <a:srgbClr val="1E8449"/>
              </a:solidFill>
              <a:effectLst/>
            </c:spPr>
            <c:extLst>
              <c:ext xmlns:c16="http://schemas.microsoft.com/office/drawing/2014/chart" uri="{C3380CC4-5D6E-409C-BE32-E72D297353CC}">
                <c16:uniqueId val="{00000007-E9AF-403C-8458-7EA427B99E15}"/>
              </c:ext>
            </c:extLst>
          </c:dPt>
          <c:dPt>
            <c:idx val="4"/>
            <c:invertIfNegative val="0"/>
            <c:bubble3D val="0"/>
            <c:spPr>
              <a:solidFill>
                <a:srgbClr val="1E8449"/>
              </a:solidFill>
              <a:effectLst/>
            </c:spPr>
            <c:extLst>
              <c:ext xmlns:c16="http://schemas.microsoft.com/office/drawing/2014/chart" uri="{C3380CC4-5D6E-409C-BE32-E72D297353CC}">
                <c16:uniqueId val="{00000009-E9AF-403C-8458-7EA427B99E15}"/>
              </c:ext>
            </c:extLst>
          </c:dPt>
          <c:dPt>
            <c:idx val="5"/>
            <c:invertIfNegative val="0"/>
            <c:bubble3D val="0"/>
            <c:spPr>
              <a:solidFill>
                <a:srgbClr val="1E8449"/>
              </a:solidFill>
              <a:effectLst/>
            </c:spPr>
            <c:extLst>
              <c:ext xmlns:c16="http://schemas.microsoft.com/office/drawing/2014/chart" uri="{C3380CC4-5D6E-409C-BE32-E72D297353CC}">
                <c16:uniqueId val="{0000000B-E9AF-403C-8458-7EA427B99E15}"/>
              </c:ext>
            </c:extLst>
          </c:dPt>
          <c:dPt>
            <c:idx val="6"/>
            <c:invertIfNegative val="0"/>
            <c:bubble3D val="0"/>
            <c:spPr>
              <a:solidFill>
                <a:srgbClr val="1E8449"/>
              </a:solidFill>
              <a:effectLst/>
            </c:spPr>
            <c:extLst>
              <c:ext xmlns:c16="http://schemas.microsoft.com/office/drawing/2014/chart" uri="{C3380CC4-5D6E-409C-BE32-E72D297353CC}">
                <c16:uniqueId val="{0000000D-E9AF-403C-8458-7EA427B99E15}"/>
              </c:ext>
            </c:extLst>
          </c:dPt>
          <c:dPt>
            <c:idx val="7"/>
            <c:invertIfNegative val="0"/>
            <c:bubble3D val="0"/>
            <c:spPr>
              <a:solidFill>
                <a:srgbClr val="1E8449"/>
              </a:solidFill>
              <a:effectLst/>
            </c:spPr>
            <c:extLst>
              <c:ext xmlns:c16="http://schemas.microsoft.com/office/drawing/2014/chart" uri="{C3380CC4-5D6E-409C-BE32-E72D297353CC}">
                <c16:uniqueId val="{0000000F-E9AF-403C-8458-7EA427B99E15}"/>
              </c:ext>
            </c:extLst>
          </c:dPt>
          <c:dPt>
            <c:idx val="8"/>
            <c:invertIfNegative val="0"/>
            <c:bubble3D val="0"/>
            <c:spPr>
              <a:solidFill>
                <a:srgbClr val="1E8449"/>
              </a:solidFill>
              <a:effectLst/>
            </c:spPr>
            <c:extLst>
              <c:ext xmlns:c16="http://schemas.microsoft.com/office/drawing/2014/chart" uri="{C3380CC4-5D6E-409C-BE32-E72D297353CC}">
                <c16:uniqueId val="{00000011-E9AF-403C-8458-7EA427B99E15}"/>
              </c:ext>
            </c:extLst>
          </c:dPt>
          <c:dPt>
            <c:idx val="9"/>
            <c:invertIfNegative val="0"/>
            <c:bubble3D val="0"/>
            <c:spPr>
              <a:solidFill>
                <a:srgbClr val="1E8449"/>
              </a:solidFill>
              <a:effectLst/>
            </c:spPr>
            <c:extLst>
              <c:ext xmlns:c16="http://schemas.microsoft.com/office/drawing/2014/chart" uri="{C3380CC4-5D6E-409C-BE32-E72D297353CC}">
                <c16:uniqueId val="{00000013-E9AF-403C-8458-7EA427B99E15}"/>
              </c:ext>
            </c:extLst>
          </c:dPt>
          <c:dPt>
            <c:idx val="10"/>
            <c:invertIfNegative val="0"/>
            <c:bubble3D val="0"/>
            <c:spPr>
              <a:solidFill>
                <a:srgbClr val="1E8449"/>
              </a:solidFill>
              <a:effectLst/>
            </c:spPr>
            <c:extLst>
              <c:ext xmlns:c16="http://schemas.microsoft.com/office/drawing/2014/chart" uri="{C3380CC4-5D6E-409C-BE32-E72D297353CC}">
                <c16:uniqueId val="{00000015-E9AF-403C-8458-7EA427B99E15}"/>
              </c:ext>
            </c:extLst>
          </c:dPt>
          <c:dPt>
            <c:idx val="11"/>
            <c:invertIfNegative val="0"/>
            <c:bubble3D val="0"/>
            <c:spPr>
              <a:solidFill>
                <a:srgbClr val="1E8449"/>
              </a:solidFill>
              <a:effectLst/>
            </c:spPr>
            <c:extLst>
              <c:ext xmlns:c16="http://schemas.microsoft.com/office/drawing/2014/chart" uri="{C3380CC4-5D6E-409C-BE32-E72D297353CC}">
                <c16:uniqueId val="{00000017-E9AF-403C-8458-7EA427B99E15}"/>
              </c:ext>
            </c:extLst>
          </c:dPt>
          <c:dPt>
            <c:idx val="12"/>
            <c:invertIfNegative val="0"/>
            <c:bubble3D val="0"/>
            <c:spPr>
              <a:solidFill>
                <a:srgbClr val="F4B400"/>
              </a:solidFill>
              <a:effectLst/>
            </c:spPr>
            <c:extLst>
              <c:ext xmlns:c16="http://schemas.microsoft.com/office/drawing/2014/chart" uri="{C3380CC4-5D6E-409C-BE32-E72D297353CC}">
                <c16:uniqueId val="{00000019-E9AF-403C-8458-7EA427B99E15}"/>
              </c:ext>
            </c:extLst>
          </c:dPt>
          <c:dPt>
            <c:idx val="13"/>
            <c:invertIfNegative val="0"/>
            <c:bubble3D val="0"/>
            <c:spPr>
              <a:solidFill>
                <a:srgbClr val="F4B400"/>
              </a:solidFill>
              <a:effectLst/>
            </c:spPr>
            <c:extLst>
              <c:ext xmlns:c16="http://schemas.microsoft.com/office/drawing/2014/chart" uri="{C3380CC4-5D6E-409C-BE32-E72D297353CC}">
                <c16:uniqueId val="{0000001B-E9AF-403C-8458-7EA427B99E15}"/>
              </c:ext>
            </c:extLst>
          </c:dPt>
          <c:dPt>
            <c:idx val="14"/>
            <c:invertIfNegative val="0"/>
            <c:bubble3D val="0"/>
            <c:spPr>
              <a:solidFill>
                <a:srgbClr val="F4B400"/>
              </a:solidFill>
              <a:effectLst/>
            </c:spPr>
            <c:extLst>
              <c:ext xmlns:c16="http://schemas.microsoft.com/office/drawing/2014/chart" uri="{C3380CC4-5D6E-409C-BE32-E72D297353CC}">
                <c16:uniqueId val="{0000001D-E9AF-403C-8458-7EA427B99E15}"/>
              </c:ext>
            </c:extLst>
          </c:dPt>
          <c:dPt>
            <c:idx val="15"/>
            <c:invertIfNegative val="0"/>
            <c:bubble3D val="0"/>
            <c:spPr>
              <a:solidFill>
                <a:srgbClr val="F4B400"/>
              </a:solidFill>
              <a:effectLst/>
            </c:spPr>
            <c:extLst>
              <c:ext xmlns:c16="http://schemas.microsoft.com/office/drawing/2014/chart" uri="{C3380CC4-5D6E-409C-BE32-E72D297353CC}">
                <c16:uniqueId val="{0000001F-E9AF-403C-8458-7EA427B99E15}"/>
              </c:ext>
            </c:extLst>
          </c:dPt>
          <c:dPt>
            <c:idx val="16"/>
            <c:invertIfNegative val="0"/>
            <c:bubble3D val="0"/>
            <c:spPr>
              <a:solidFill>
                <a:srgbClr val="F4B400"/>
              </a:solidFill>
              <a:effectLst/>
            </c:spPr>
            <c:extLst>
              <c:ext xmlns:c16="http://schemas.microsoft.com/office/drawing/2014/chart" uri="{C3380CC4-5D6E-409C-BE32-E72D297353CC}">
                <c16:uniqueId val="{00000021-E9AF-403C-8458-7EA427B99E15}"/>
              </c:ext>
            </c:extLst>
          </c:dPt>
          <c:dPt>
            <c:idx val="17"/>
            <c:invertIfNegative val="0"/>
            <c:bubble3D val="0"/>
            <c:spPr>
              <a:solidFill>
                <a:srgbClr val="F4B400"/>
              </a:solidFill>
              <a:effectLst/>
            </c:spPr>
            <c:extLst>
              <c:ext xmlns:c16="http://schemas.microsoft.com/office/drawing/2014/chart" uri="{C3380CC4-5D6E-409C-BE32-E72D297353CC}">
                <c16:uniqueId val="{00000023-E9AF-403C-8458-7EA427B99E15}"/>
              </c:ext>
            </c:extLst>
          </c:dPt>
          <c:dPt>
            <c:idx val="18"/>
            <c:invertIfNegative val="0"/>
            <c:bubble3D val="0"/>
            <c:spPr>
              <a:solidFill>
                <a:srgbClr val="F4B400"/>
              </a:solidFill>
              <a:effectLst/>
            </c:spPr>
            <c:extLst>
              <c:ext xmlns:c16="http://schemas.microsoft.com/office/drawing/2014/chart" uri="{C3380CC4-5D6E-409C-BE32-E72D297353CC}">
                <c16:uniqueId val="{00000025-E9AF-403C-8458-7EA427B99E15}"/>
              </c:ext>
            </c:extLst>
          </c:dPt>
          <c:dPt>
            <c:idx val="19"/>
            <c:invertIfNegative val="0"/>
            <c:bubble3D val="0"/>
            <c:spPr>
              <a:solidFill>
                <a:srgbClr val="F4B400"/>
              </a:solidFill>
              <a:effectLst/>
            </c:spPr>
            <c:extLst>
              <c:ext xmlns:c16="http://schemas.microsoft.com/office/drawing/2014/chart" uri="{C3380CC4-5D6E-409C-BE32-E72D297353CC}">
                <c16:uniqueId val="{00000027-E9AF-403C-8458-7EA427B99E15}"/>
              </c:ext>
            </c:extLst>
          </c:dPt>
          <c:dPt>
            <c:idx val="20"/>
            <c:invertIfNegative val="0"/>
            <c:bubble3D val="0"/>
            <c:spPr>
              <a:solidFill>
                <a:srgbClr val="F4B400"/>
              </a:solidFill>
              <a:effectLst/>
            </c:spPr>
            <c:extLst>
              <c:ext xmlns:c16="http://schemas.microsoft.com/office/drawing/2014/chart" uri="{C3380CC4-5D6E-409C-BE32-E72D297353CC}">
                <c16:uniqueId val="{00000029-E9AF-403C-8458-7EA427B99E15}"/>
              </c:ext>
            </c:extLst>
          </c:dPt>
          <c:dPt>
            <c:idx val="21"/>
            <c:invertIfNegative val="0"/>
            <c:bubble3D val="0"/>
            <c:spPr>
              <a:solidFill>
                <a:srgbClr val="F4B400"/>
              </a:solidFill>
              <a:effectLst/>
            </c:spPr>
            <c:extLst>
              <c:ext xmlns:c16="http://schemas.microsoft.com/office/drawing/2014/chart" uri="{C3380CC4-5D6E-409C-BE32-E72D297353CC}">
                <c16:uniqueId val="{0000002B-E9AF-403C-8458-7EA427B99E15}"/>
              </c:ext>
            </c:extLst>
          </c:dPt>
          <c:dPt>
            <c:idx val="22"/>
            <c:invertIfNegative val="0"/>
            <c:bubble3D val="0"/>
            <c:spPr>
              <a:solidFill>
                <a:srgbClr val="F4B400"/>
              </a:solidFill>
              <a:effectLst/>
            </c:spPr>
            <c:extLst>
              <c:ext xmlns:c16="http://schemas.microsoft.com/office/drawing/2014/chart" uri="{C3380CC4-5D6E-409C-BE32-E72D297353CC}">
                <c16:uniqueId val="{0000002D-E9AF-403C-8458-7EA427B99E15}"/>
              </c:ext>
            </c:extLst>
          </c:dPt>
          <c:dPt>
            <c:idx val="23"/>
            <c:invertIfNegative val="0"/>
            <c:bubble3D val="0"/>
            <c:spPr>
              <a:solidFill>
                <a:srgbClr val="F4B400"/>
              </a:solidFill>
              <a:effectLst/>
            </c:spPr>
            <c:extLst>
              <c:ext xmlns:c16="http://schemas.microsoft.com/office/drawing/2014/chart" uri="{C3380CC4-5D6E-409C-BE32-E72D297353CC}">
                <c16:uniqueId val="{0000002F-E9AF-403C-8458-7EA427B99E15}"/>
              </c:ext>
            </c:extLst>
          </c:dPt>
          <c:dPt>
            <c:idx val="24"/>
            <c:invertIfNegative val="0"/>
            <c:bubble3D val="0"/>
            <c:spPr>
              <a:solidFill>
                <a:srgbClr val="F4B400"/>
              </a:solidFill>
              <a:effectLst/>
            </c:spPr>
            <c:extLst>
              <c:ext xmlns:c16="http://schemas.microsoft.com/office/drawing/2014/chart" uri="{C3380CC4-5D6E-409C-BE32-E72D297353CC}">
                <c16:uniqueId val="{00000031-E9AF-403C-8458-7EA427B99E15}"/>
              </c:ext>
            </c:extLst>
          </c:dPt>
          <c:dPt>
            <c:idx val="25"/>
            <c:invertIfNegative val="0"/>
            <c:bubble3D val="0"/>
            <c:spPr>
              <a:solidFill>
                <a:srgbClr val="F4B400"/>
              </a:solidFill>
              <a:effectLst/>
            </c:spPr>
            <c:extLst>
              <c:ext xmlns:c16="http://schemas.microsoft.com/office/drawing/2014/chart" uri="{C3380CC4-5D6E-409C-BE32-E72D297353CC}">
                <c16:uniqueId val="{00000033-E9AF-403C-8458-7EA427B99E15}"/>
              </c:ext>
            </c:extLst>
          </c:dPt>
          <c:dPt>
            <c:idx val="26"/>
            <c:invertIfNegative val="0"/>
            <c:bubble3D val="0"/>
            <c:spPr>
              <a:solidFill>
                <a:srgbClr val="F4B400"/>
              </a:solidFill>
              <a:effectLst/>
            </c:spPr>
            <c:extLst>
              <c:ext xmlns:c16="http://schemas.microsoft.com/office/drawing/2014/chart" uri="{C3380CC4-5D6E-409C-BE32-E72D297353CC}">
                <c16:uniqueId val="{00000035-E9AF-403C-8458-7EA427B99E15}"/>
              </c:ext>
            </c:extLst>
          </c:dPt>
          <c:dPt>
            <c:idx val="27"/>
            <c:invertIfNegative val="0"/>
            <c:bubble3D val="0"/>
            <c:spPr>
              <a:solidFill>
                <a:srgbClr val="F4B400"/>
              </a:solidFill>
              <a:effectLst/>
            </c:spPr>
            <c:extLst>
              <c:ext xmlns:c16="http://schemas.microsoft.com/office/drawing/2014/chart" uri="{C3380CC4-5D6E-409C-BE32-E72D297353CC}">
                <c16:uniqueId val="{00000037-E9AF-403C-8458-7EA427B99E15}"/>
              </c:ext>
            </c:extLst>
          </c:dPt>
          <c:dPt>
            <c:idx val="28"/>
            <c:invertIfNegative val="0"/>
            <c:bubble3D val="0"/>
            <c:spPr>
              <a:solidFill>
                <a:srgbClr val="F4B400"/>
              </a:solidFill>
              <a:effectLst/>
            </c:spPr>
            <c:extLst>
              <c:ext xmlns:c16="http://schemas.microsoft.com/office/drawing/2014/chart" uri="{C3380CC4-5D6E-409C-BE32-E72D297353CC}">
                <c16:uniqueId val="{00000039-E9AF-403C-8458-7EA427B99E15}"/>
              </c:ext>
            </c:extLst>
          </c:dPt>
          <c:dPt>
            <c:idx val="29"/>
            <c:invertIfNegative val="0"/>
            <c:bubble3D val="0"/>
            <c:spPr>
              <a:solidFill>
                <a:srgbClr val="F4B400"/>
              </a:solidFill>
              <a:effectLst/>
            </c:spPr>
            <c:extLst>
              <c:ext xmlns:c16="http://schemas.microsoft.com/office/drawing/2014/chart" uri="{C3380CC4-5D6E-409C-BE32-E72D297353CC}">
                <c16:uniqueId val="{0000003B-E9AF-403C-8458-7EA427B99E15}"/>
              </c:ext>
            </c:extLst>
          </c:dPt>
          <c:dPt>
            <c:idx val="30"/>
            <c:invertIfNegative val="0"/>
            <c:bubble3D val="0"/>
            <c:spPr>
              <a:solidFill>
                <a:srgbClr val="F4B400"/>
              </a:solidFill>
              <a:effectLst/>
            </c:spPr>
            <c:extLst>
              <c:ext xmlns:c16="http://schemas.microsoft.com/office/drawing/2014/chart" uri="{C3380CC4-5D6E-409C-BE32-E72D297353CC}">
                <c16:uniqueId val="{0000003D-E9AF-403C-8458-7EA427B99E15}"/>
              </c:ext>
            </c:extLst>
          </c:dPt>
          <c:dPt>
            <c:idx val="31"/>
            <c:invertIfNegative val="0"/>
            <c:bubble3D val="0"/>
            <c:spPr>
              <a:solidFill>
                <a:srgbClr val="E63946"/>
              </a:solidFill>
              <a:effectLst/>
            </c:spPr>
            <c:extLst>
              <c:ext xmlns:c16="http://schemas.microsoft.com/office/drawing/2014/chart" uri="{C3380CC4-5D6E-409C-BE32-E72D297353CC}">
                <c16:uniqueId val="{0000003F-E9AF-403C-8458-7EA427B99E15}"/>
              </c:ext>
            </c:extLst>
          </c:dPt>
          <c:dPt>
            <c:idx val="32"/>
            <c:invertIfNegative val="0"/>
            <c:bubble3D val="0"/>
            <c:spPr>
              <a:solidFill>
                <a:srgbClr val="E63946"/>
              </a:solidFill>
              <a:effectLst/>
            </c:spPr>
            <c:extLst>
              <c:ext xmlns:c16="http://schemas.microsoft.com/office/drawing/2014/chart" uri="{C3380CC4-5D6E-409C-BE32-E72D297353CC}">
                <c16:uniqueId val="{00000041-E9AF-403C-8458-7EA427B99E15}"/>
              </c:ext>
            </c:extLst>
          </c:dPt>
          <c:dPt>
            <c:idx val="33"/>
            <c:invertIfNegative val="0"/>
            <c:bubble3D val="0"/>
            <c:spPr>
              <a:solidFill>
                <a:srgbClr val="E63946"/>
              </a:solidFill>
              <a:effectLst/>
            </c:spPr>
            <c:extLst>
              <c:ext xmlns:c16="http://schemas.microsoft.com/office/drawing/2014/chart" uri="{C3380CC4-5D6E-409C-BE32-E72D297353CC}">
                <c16:uniqueId val="{00000043-E9AF-403C-8458-7EA427B99E15}"/>
              </c:ext>
            </c:extLst>
          </c:dPt>
          <c:dPt>
            <c:idx val="34"/>
            <c:invertIfNegative val="0"/>
            <c:bubble3D val="0"/>
            <c:spPr>
              <a:solidFill>
                <a:srgbClr val="E63946"/>
              </a:solidFill>
              <a:effectLst/>
            </c:spPr>
            <c:extLst>
              <c:ext xmlns:c16="http://schemas.microsoft.com/office/drawing/2014/chart" uri="{C3380CC4-5D6E-409C-BE32-E72D297353CC}">
                <c16:uniqueId val="{00000045-E9AF-403C-8458-7EA427B99E15}"/>
              </c:ext>
            </c:extLst>
          </c:dPt>
          <c:dPt>
            <c:idx val="35"/>
            <c:invertIfNegative val="0"/>
            <c:bubble3D val="0"/>
            <c:spPr>
              <a:solidFill>
                <a:srgbClr val="E63946"/>
              </a:solidFill>
              <a:effectLst/>
            </c:spPr>
            <c:extLst>
              <c:ext xmlns:c16="http://schemas.microsoft.com/office/drawing/2014/chart" uri="{C3380CC4-5D6E-409C-BE32-E72D297353CC}">
                <c16:uniqueId val="{00000047-E9AF-403C-8458-7EA427B99E15}"/>
              </c:ext>
            </c:extLst>
          </c:dPt>
          <c:dPt>
            <c:idx val="36"/>
            <c:invertIfNegative val="0"/>
            <c:bubble3D val="0"/>
            <c:spPr>
              <a:solidFill>
                <a:srgbClr val="E63946"/>
              </a:solidFill>
              <a:effectLst/>
            </c:spPr>
            <c:extLst>
              <c:ext xmlns:c16="http://schemas.microsoft.com/office/drawing/2014/chart" uri="{C3380CC4-5D6E-409C-BE32-E72D297353CC}">
                <c16:uniqueId val="{00000049-E9AF-403C-8458-7EA427B99E15}"/>
              </c:ext>
            </c:extLst>
          </c:dPt>
          <c:dPt>
            <c:idx val="37"/>
            <c:invertIfNegative val="0"/>
            <c:bubble3D val="0"/>
            <c:spPr>
              <a:solidFill>
                <a:srgbClr val="E63946"/>
              </a:solidFill>
              <a:effectLst/>
            </c:spPr>
            <c:extLst>
              <c:ext xmlns:c16="http://schemas.microsoft.com/office/drawing/2014/chart" uri="{C3380CC4-5D6E-409C-BE32-E72D297353CC}">
                <c16:uniqueId val="{0000004B-E9AF-403C-8458-7EA427B99E15}"/>
              </c:ext>
            </c:extLst>
          </c:dPt>
          <c:dPt>
            <c:idx val="38"/>
            <c:spPr>
              <a:solidFill>
                <a:srgbClr val="E63946"/>
              </a:solidFill>
            </c:spPr>
          </c:dPt>
          <c:dLbls>
            <c:numFmt formatCode="0.0&quot;%&quot;" sourceLinked="0"/>
            <c:spPr>
              <a:noFill/>
              <a:ln>
                <a:noFill/>
              </a:ln>
              <a:effectLst/>
            </c:spPr>
            <c:txPr>
              <a:bodyPr/>
              <a:lstStyle/>
              <a:p>
                <a:pPr>
                  <a:defRPr sz="54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Sheet1!$A$2:$A$40</c:f>
              <c:strCache>
                <c:ptCount val="39"/>
                <c:pt idx="0">
                  <c:v>Casa 24 (Terra by Kaia)</c:v>
                </c:pt>
                <c:pt idx="1">
                  <c:v>Casa 18Ap (Prado Verde)</c:v>
                </c:pt>
                <c:pt idx="2">
                  <c:v>Casa 56 (Pance)</c:v>
                </c:pt>
                <c:pt idx="3">
                  <c:v>Casa 77 (Pance)</c:v>
                </c:pt>
                <c:pt idx="4">
                  <c:v>Casa 15p (Prado Verde)</c:v>
                </c:pt>
                <c:pt idx="5">
                  <c:v>Casa 78T (Terranova)</c:v>
                </c:pt>
                <c:pt idx="6">
                  <c:v>Casa 30 (Pance)</c:v>
                </c:pt>
                <c:pt idx="7">
                  <c:v>Casa 23 (Pance)</c:v>
                </c:pt>
                <c:pt idx="8">
                  <c:v>Casa 102p (Prado Verde)</c:v>
                </c:pt>
                <c:pt idx="9">
                  <c:v>Casa 35 (Pance)</c:v>
                </c:pt>
                <c:pt idx="10">
                  <c:v>Casa 42 (Pance)</c:v>
                </c:pt>
                <c:pt idx="11">
                  <c:v>🧳 Casa 18 (Pance)</c:v>
                </c:pt>
                <c:pt idx="12">
                  <c:v>Casa 23p (Prado Verde)</c:v>
                </c:pt>
                <c:pt idx="13">
                  <c:v>Casa 93p (Prado Verde)</c:v>
                </c:pt>
                <c:pt idx="14">
                  <c:v>Casa 15 (Pance)</c:v>
                </c:pt>
                <c:pt idx="15">
                  <c:v>Casa 435p (Prado Verde)</c:v>
                </c:pt>
                <c:pt idx="16">
                  <c:v>Casa 63 (Pance)</c:v>
                </c:pt>
                <c:pt idx="17">
                  <c:v>Casa 57 (Pance)</c:v>
                </c:pt>
                <c:pt idx="18">
                  <c:v>Casa 10 (Pance)</c:v>
                </c:pt>
                <c:pt idx="19">
                  <c:v>Casa 2 (Pance)</c:v>
                </c:pt>
                <c:pt idx="20">
                  <c:v>Casa 12 (Los Abedules)</c:v>
                </c:pt>
                <c:pt idx="21">
                  <c:v>Casa 70 (Pance)</c:v>
                </c:pt>
                <c:pt idx="22">
                  <c:v>Casa 382p (Prado Verde)</c:v>
                </c:pt>
                <c:pt idx="23">
                  <c:v>Casa 73 (Llanos Pance)</c:v>
                </c:pt>
                <c:pt idx="24">
                  <c:v>Casa 155 (Terra by Kaia)</c:v>
                </c:pt>
                <c:pt idx="25">
                  <c:v>🧳 Casa 287 (Terra by Kaia)</c:v>
                </c:pt>
                <c:pt idx="26">
                  <c:v>Casa 11 (Pance)</c:v>
                </c:pt>
                <c:pt idx="27">
                  <c:v>Casa 10p (Prado Verde)</c:v>
                </c:pt>
                <c:pt idx="28">
                  <c:v>Casa 29 (Pance)</c:v>
                </c:pt>
                <c:pt idx="29">
                  <c:v>Casa 108 (Pance)</c:v>
                </c:pt>
                <c:pt idx="30">
                  <c:v>Casa 111 (Pance)</c:v>
                </c:pt>
                <c:pt idx="31">
                  <c:v>Casa 48 (Pance)</c:v>
                </c:pt>
                <c:pt idx="32">
                  <c:v>Casa 446p (Prado Verde)</c:v>
                </c:pt>
                <c:pt idx="33">
                  <c:v>🧳 Casa 104 (Pance)</c:v>
                </c:pt>
                <c:pt idx="34">
                  <c:v>Casa 99 (Pance)</c:v>
                </c:pt>
                <c:pt idx="35">
                  <c:v>🧳 Casa 76 (Pance)</c:v>
                </c:pt>
                <c:pt idx="36">
                  <c:v>🧳 Casa 74 (Pance)</c:v>
                </c:pt>
                <c:pt idx="37">
                  <c:v>Casa 18PR (Porton Rivera)</c:v>
                </c:pt>
                <c:pt idx="38">
                  <c:v>Casa 55p (Prado Verde)</c:v>
                </c:pt>
              </c:strCache>
            </c:strRef>
          </c:cat>
          <c:val>
            <c:numRef>
              <c:f>Sheet1!$B$2:$B$40</c:f>
              <c:numCache>
                <c:formatCode>General</c:formatCode>
                <c:ptCount val="39"/>
                <c:pt idx="0">
                  <c:v>37.2</c:v>
                </c:pt>
                <c:pt idx="1">
                  <c:v>40.9</c:v>
                </c:pt>
                <c:pt idx="2">
                  <c:v>43.8</c:v>
                </c:pt>
                <c:pt idx="3">
                  <c:v>44.0</c:v>
                </c:pt>
                <c:pt idx="4">
                  <c:v>44.0</c:v>
                </c:pt>
                <c:pt idx="5">
                  <c:v>44.5</c:v>
                </c:pt>
                <c:pt idx="6">
                  <c:v>44.6</c:v>
                </c:pt>
                <c:pt idx="7">
                  <c:v>44.7</c:v>
                </c:pt>
                <c:pt idx="8">
                  <c:v>44.8</c:v>
                </c:pt>
                <c:pt idx="9">
                  <c:v>45.5</c:v>
                </c:pt>
                <c:pt idx="10">
                  <c:v>46.4</c:v>
                </c:pt>
                <c:pt idx="11">
                  <c:v>47.9</c:v>
                </c:pt>
                <c:pt idx="12">
                  <c:v>48.4</c:v>
                </c:pt>
                <c:pt idx="13">
                  <c:v>48.6</c:v>
                </c:pt>
                <c:pt idx="14">
                  <c:v>49.1</c:v>
                </c:pt>
                <c:pt idx="15">
                  <c:v>51.4</c:v>
                </c:pt>
                <c:pt idx="16">
                  <c:v>51.5</c:v>
                </c:pt>
                <c:pt idx="17">
                  <c:v>51.5</c:v>
                </c:pt>
                <c:pt idx="18">
                  <c:v>51.7</c:v>
                </c:pt>
                <c:pt idx="19">
                  <c:v>52.9</c:v>
                </c:pt>
                <c:pt idx="20">
                  <c:v>53.3</c:v>
                </c:pt>
                <c:pt idx="21">
                  <c:v>53.4</c:v>
                </c:pt>
                <c:pt idx="22">
                  <c:v>53.6</c:v>
                </c:pt>
                <c:pt idx="23">
                  <c:v>54.5</c:v>
                </c:pt>
                <c:pt idx="24">
                  <c:v>54.6</c:v>
                </c:pt>
                <c:pt idx="25">
                  <c:v>55.5</c:v>
                </c:pt>
                <c:pt idx="26">
                  <c:v>55.6</c:v>
                </c:pt>
                <c:pt idx="27">
                  <c:v>56.0</c:v>
                </c:pt>
                <c:pt idx="28">
                  <c:v>57.6</c:v>
                </c:pt>
                <c:pt idx="29">
                  <c:v>57.8</c:v>
                </c:pt>
                <c:pt idx="30">
                  <c:v>58.3</c:v>
                </c:pt>
                <c:pt idx="31">
                  <c:v>60.1</c:v>
                </c:pt>
                <c:pt idx="32">
                  <c:v>60.4</c:v>
                </c:pt>
                <c:pt idx="33">
                  <c:v>61.3</c:v>
                </c:pt>
                <c:pt idx="34">
                  <c:v>61.3</c:v>
                </c:pt>
                <c:pt idx="35">
                  <c:v>61.9</c:v>
                </c:pt>
                <c:pt idx="36">
                  <c:v>63.0</c:v>
                </c:pt>
                <c:pt idx="37">
                  <c:v>66.8</c:v>
                </c:pt>
                <c:pt idx="38">
                  <c:v>72.8</c:v>
                </c:pt>
              </c:numCache>
            </c:numRef>
          </c:val>
          <c:extLst>
            <c:ext xmlns:c16="http://schemas.microsoft.com/office/drawing/2014/chart" uri="{C3380CC4-5D6E-409C-BE32-E72D297353CC}">
              <c16:uniqueId val="{0000004C-E9AF-403C-8458-7EA427B99E15}"/>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5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92"/>
        </c:scaling>
        <c:delete val="1"/>
        <c:axPos val="b"/>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24 (alto uso)</c:v>
                </c:pt>
              </c:strCache>
            </c:strRef>
          </c:tx>
          <c:spPr>
            <a:ln w="28575" cap="flat">
              <a:solidFill>
                <a:srgbClr val="1E8449"/>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22</c:v>
                </c:pt>
                <c:pt idx="1">
                  <c:v>19</c:v>
                </c:pt>
                <c:pt idx="2">
                  <c:v>17</c:v>
                </c:pt>
                <c:pt idx="3">
                  <c:v>16</c:v>
                </c:pt>
                <c:pt idx="4">
                  <c:v>16</c:v>
                </c:pt>
                <c:pt idx="5">
                  <c:v>16</c:v>
                </c:pt>
                <c:pt idx="6">
                  <c:v>15</c:v>
                </c:pt>
                <c:pt idx="7">
                  <c:v>15</c:v>
                </c:pt>
                <c:pt idx="8">
                  <c:v>18</c:v>
                </c:pt>
                <c:pt idx="9">
                  <c:v>24</c:v>
                </c:pt>
                <c:pt idx="10">
                  <c:v>34</c:v>
                </c:pt>
                <c:pt idx="11">
                  <c:v>45</c:v>
                </c:pt>
                <c:pt idx="12">
                  <c:v>55</c:v>
                </c:pt>
                <c:pt idx="13">
                  <c:v>64</c:v>
                </c:pt>
                <c:pt idx="14">
                  <c:v>69</c:v>
                </c:pt>
                <c:pt idx="15">
                  <c:v>70</c:v>
                </c:pt>
                <c:pt idx="16">
                  <c:v>68</c:v>
                </c:pt>
                <c:pt idx="17">
                  <c:v>64</c:v>
                </c:pt>
                <c:pt idx="18">
                  <c:v>57</c:v>
                </c:pt>
                <c:pt idx="19">
                  <c:v>51</c:v>
                </c:pt>
                <c:pt idx="20">
                  <c:v>45</c:v>
                </c:pt>
                <c:pt idx="21">
                  <c:v>39</c:v>
                </c:pt>
                <c:pt idx="22">
                  <c:v>33</c:v>
                </c:pt>
                <c:pt idx="23">
                  <c:v>27</c:v>
                </c:pt>
              </c:numCache>
            </c:numRef>
          </c:val>
          <c:smooth val="1"/>
          <c:extLst>
            <c:ext xmlns:c16="http://schemas.microsoft.com/office/drawing/2014/chart" uri="{C3380CC4-5D6E-409C-BE32-E72D297353CC}">
              <c16:uniqueId val="{00000000-0B42-461E-B19C-88806BA56F7A}"/>
            </c:ext>
          </c:extLst>
        </c:ser>
        <c:ser>
          <c:idx val="1"/>
          <c:order val="1"/>
          <c:tx>
            <c:strRef>
              <c:f>Sheet1!$C$1</c:f>
              <c:strCache>
                <c:ptCount val="1"/>
                <c:pt idx="0">
                  <c:v>Casa 55p (bajo uso)</c:v>
                </c:pt>
              </c:strCache>
            </c:strRef>
          </c:tx>
          <c:spPr>
            <a:ln w="28575" cap="flat">
              <a:solidFill>
                <a:srgbClr val="E63946"/>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66</c:v>
                </c:pt>
                <c:pt idx="1">
                  <c:v>61</c:v>
                </c:pt>
                <c:pt idx="2">
                  <c:v>56</c:v>
                </c:pt>
                <c:pt idx="3">
                  <c:v>52</c:v>
                </c:pt>
                <c:pt idx="4">
                  <c:v>47</c:v>
                </c:pt>
                <c:pt idx="5">
                  <c:v>43</c:v>
                </c:pt>
                <c:pt idx="6">
                  <c:v>40</c:v>
                </c:pt>
                <c:pt idx="7">
                  <c:v>40</c:v>
                </c:pt>
                <c:pt idx="8">
                  <c:v>47</c:v>
                </c:pt>
                <c:pt idx="9">
                  <c:v>60</c:v>
                </c:pt>
                <c:pt idx="10">
                  <c:v>75</c:v>
                </c:pt>
                <c:pt idx="11">
                  <c:v>87</c:v>
                </c:pt>
                <c:pt idx="12">
                  <c:v>89</c:v>
                </c:pt>
                <c:pt idx="13">
                  <c:v>90</c:v>
                </c:pt>
                <c:pt idx="14">
                  <c:v>94</c:v>
                </c:pt>
                <c:pt idx="15">
                  <c:v>93</c:v>
                </c:pt>
                <c:pt idx="16">
                  <c:v>95</c:v>
                </c:pt>
                <c:pt idx="17">
                  <c:v>96</c:v>
                </c:pt>
                <c:pt idx="18">
                  <c:v>95</c:v>
                </c:pt>
                <c:pt idx="19">
                  <c:v>93</c:v>
                </c:pt>
                <c:pt idx="20">
                  <c:v>89</c:v>
                </c:pt>
                <c:pt idx="21">
                  <c:v>84</c:v>
                </c:pt>
                <c:pt idx="22">
                  <c:v>77</c:v>
                </c:pt>
                <c:pt idx="23">
                  <c:v>72</c:v>
                </c:pt>
              </c:numCache>
            </c:numRef>
          </c:val>
          <c:smooth val="1"/>
          <c:extLst>
            <c:ext xmlns:c16="http://schemas.microsoft.com/office/drawing/2014/chart" uri="{C3380CC4-5D6E-409C-BE32-E72D297353CC}">
              <c16:uniqueId val="{00000001-0B42-461E-B19C-88806BA56F7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700" b="0" i="0" u="none" strike="noStrike">
                    <a:solidFill>
                      <a:srgbClr val="000000"/>
                    </a:solidFill>
                    <a:latin typeface="Arial"/>
                  </a:defRPr>
                </a:pPr>
                <a:r>
                  <a:rPr lang="es-CO" sz="700" b="0" i="0" u="none" strike="noStrike" noProof="0" dirty="0">
                    <a:solidFill>
                      <a:srgbClr val="000000"/>
                    </a:solidFill>
                    <a:latin typeface="Arial"/>
                  </a:rPr>
                  <a:t>Hora del día</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9525" cap="flat">
              <a:solidFill>
                <a:srgbClr val="EFEFEF"/>
              </a:solidFill>
              <a:prstDash val="solid"/>
              <a:round/>
            </a:ln>
          </c:spPr>
        </c:majorGridlines>
        <c:title>
          <c:tx>
            <c:rich>
              <a:bodyPr/>
              <a:lstStyle/>
              <a:p>
                <a:pPr>
                  <a:defRPr sz="700" b="0" i="0" u="none" strike="noStrike">
                    <a:solidFill>
                      <a:srgbClr val="000000"/>
                    </a:solidFill>
                    <a:latin typeface="Arial"/>
                  </a:defRPr>
                </a:pPr>
                <a:r>
                  <a:rPr lang="es-CO" sz="700" b="0" i="0" u="none" strike="noStrike" noProof="0" dirty="0">
                    <a:solidFill>
                      <a:srgbClr val="000000"/>
                    </a:solidFill>
                    <a:latin typeface="Arial"/>
                  </a:rPr>
                  <a:t>SOC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808080"/>
                </a:solidFill>
                <a:latin typeface="Calibri"/>
              </a:defRPr>
            </a:pPr>
            <a:endParaRPr lang="en-US"/>
          </a:p>
        </c:txPr>
        <c:crossAx val="2094734554"/>
        <c:crosses val="autoZero"/>
        <c:crossBetween val="between"/>
        <c:majorUnit val="20"/>
      </c:valAx>
      <c:spPr>
        <a:noFill/>
        <a:ln w="12700" cap="flat">
          <a:solidFill>
            <a:srgbClr val="FFFFFF"/>
          </a:solidFill>
        </a:ln>
        <a:effectLst/>
      </c:spPr>
    </c:plotArea>
    <c:legend>
      <c:legendPos val="b"/>
      <c:overlay val="0"/>
      <c:txPr>
        <a:bodyPr/>
        <a:lstStyle/>
        <a:p>
          <a:pPr>
            <a:defRPr sz="7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050" b="0" i="0" u="none" strike="noStrike">
                <a:solidFill>
                  <a:srgbClr val="12263A"/>
                </a:solidFill>
                <a:latin typeface="Calibri"/>
              </a:defRPr>
            </a:pPr>
            <a:r>
              <a:rPr lang="es-CO" sz="1050" b="0" i="0" u="none" strike="noStrike" noProof="0" dirty="0">
                <a:solidFill>
                  <a:srgbClr val="12263A"/>
                </a:solidFill>
                <a:latin typeface="Calibri"/>
              </a:rPr>
              <a:t>Reparto de la importación de red</a:t>
            </a:r>
          </a:p>
        </c:rich>
      </c:tx>
      <c:overlay val="0"/>
    </c:title>
    <c:autoTitleDeleted val="0"/>
    <c:plotArea>
      <c:layout/>
      <c:doughnutChart>
        <c:varyColors val="1"/>
        <c:ser>
          <c:idx val="0"/>
          <c:order val="0"/>
          <c:tx>
            <c:strRef>
              <c:f>Sheet1!$B$1</c:f>
              <c:strCache>
                <c:ptCount val="1"/>
                <c:pt idx="0">
                  <c:v>Reparto</c:v>
                </c:pt>
              </c:strCache>
            </c:strRef>
          </c:tx>
          <c:spPr>
            <a:solidFill>
              <a:schemeClr val="accent1"/>
            </a:solidFill>
            <a:ln w="9525" cap="flat">
              <a:solidFill>
                <a:srgbClr val="F9F9F9"/>
              </a:solidFill>
              <a:prstDash val="solid"/>
              <a:round/>
            </a:ln>
            <a:effectLst/>
          </c:spPr>
          <c:dPt>
            <c:idx val="0"/>
            <c:bubble3D val="0"/>
            <c:spPr>
              <a:solidFill>
                <a:srgbClr val="1B3A6B"/>
              </a:solidFill>
              <a:effectLst/>
            </c:spPr>
            <c:extLst>
              <c:ext xmlns:c16="http://schemas.microsoft.com/office/drawing/2014/chart" uri="{C3380CC4-5D6E-409C-BE32-E72D297353CC}">
                <c16:uniqueId val="{00000001-2FC7-4D51-BDC4-CD3012FDC400}"/>
              </c:ext>
            </c:extLst>
          </c:dPt>
          <c:dPt>
            <c:idx val="1"/>
            <c:bubble3D val="0"/>
            <c:spPr>
              <a:solidFill>
                <a:srgbClr val="F4B400"/>
              </a:solidFill>
              <a:effectLst/>
            </c:spPr>
            <c:extLst>
              <c:ext xmlns:c16="http://schemas.microsoft.com/office/drawing/2014/chart" uri="{C3380CC4-5D6E-409C-BE32-E72D297353CC}">
                <c16:uniqueId val="{00000003-2FC7-4D51-BDC4-CD3012FDC400}"/>
              </c:ext>
            </c:extLst>
          </c:dPt>
          <c:dLbls>
            <c:dLbl>
              <c:idx val="0"/>
              <c:numFmt formatCode="0&quot;%&quot;" sourceLinked="0"/>
              <c:spPr/>
              <c:txPr>
                <a:bodyPr/>
                <a:lstStyle/>
                <a:p>
                  <a:pPr>
                    <a:defRPr sz="12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FC7-4D51-BDC4-CD3012FDC400}"/>
                </c:ext>
              </c:extLst>
            </c:dLbl>
            <c:dLbl>
              <c:idx val="1"/>
              <c:numFmt formatCode="0&quot;%&quot;" sourceLinked="0"/>
              <c:spPr/>
              <c:txPr>
                <a:bodyPr/>
                <a:lstStyle/>
                <a:p>
                  <a:pPr>
                    <a:defRPr sz="12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FC7-4D51-BDC4-CD3012FDC400}"/>
                </c:ext>
              </c:extLst>
            </c:dLbl>
            <c:numFmt formatCode="0&quot;%&quot;" sourceLinked="0"/>
            <c:spPr>
              <a:noFill/>
              <a:ln>
                <a:noFill/>
              </a:ln>
              <a:effectLst/>
            </c:spPr>
            <c:txPr>
              <a:bodyPr/>
              <a:lstStyle/>
              <a:p>
                <a:pPr>
                  <a:defRPr sz="1800" b="0" i="0" u="none" strike="noStrike">
                    <a:solidFill>
                      <a:srgbClr val="000000"/>
                    </a:solidFill>
                    <a:latin typeface="Arial"/>
                  </a:defRPr>
                </a:pPr>
                <a:endParaRPr lang="es-CO"/>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Nocturno 18:00 - 06:00</c:v>
                </c:pt>
                <c:pt idx="1">
                  <c:v>Diurno 06:00 - 18:00</c:v>
                </c:pt>
              </c:strCache>
            </c:strRef>
          </c:cat>
          <c:val>
            <c:numRef>
              <c:f>Sheet1!$B$2:$B$3</c:f>
              <c:numCache>
                <c:formatCode>General</c:formatCode>
                <c:ptCount val="2"/>
                <c:pt idx="0">
                  <c:v>82</c:v>
                </c:pt>
                <c:pt idx="1">
                  <c:v>18</c:v>
                </c:pt>
              </c:numCache>
            </c:numRef>
          </c:val>
          <c:extLst>
            <c:ext xmlns:c16="http://schemas.microsoft.com/office/drawing/2014/chart" uri="{C3380CC4-5D6E-409C-BE32-E72D297353CC}">
              <c16:uniqueId val="{00000004-2FC7-4D51-BDC4-CD3012FDC400}"/>
            </c:ext>
          </c:extLst>
        </c:ser>
        <c:dLbls>
          <c:showLegendKey val="0"/>
          <c:showVal val="0"/>
          <c:showCatName val="0"/>
          <c:showSerName val="0"/>
          <c:showPercent val="0"/>
          <c:showBubbleSize val="0"/>
          <c:showLeaderLines val="0"/>
        </c:dLbls>
        <c:firstSliceAng val="0"/>
        <c:holeSize val="55"/>
      </c:doughnutChart>
      <c:spPr>
        <a:noFill/>
        <a:ln w="12700" cap="flat">
          <a:solidFill>
            <a:srgbClr val="FFFFFF"/>
          </a:solidFill>
        </a:ln>
        <a:effectLst/>
      </c:spPr>
    </c:plotArea>
    <c:legend>
      <c:legendPos val="b"/>
      <c:overlay val="0"/>
      <c:txPr>
        <a:bodyPr/>
        <a:lstStyle/>
        <a:p>
          <a:pPr>
            <a:defRPr sz="75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950" b="0" i="0" u="none" strike="noStrike">
                <a:solidFill>
                  <a:srgbClr val="12263A"/>
                </a:solidFill>
                <a:latin typeface="Calibri"/>
              </a:defRPr>
            </a:pPr>
            <a:r>
              <a:rPr lang="es-CO" sz="950" b="0" i="0" u="none" strike="noStrike" noProof="0" dirty="0">
                <a:solidFill>
                  <a:srgbClr val="12263A"/>
                </a:solidFill>
                <a:latin typeface="Calibri"/>
              </a:rPr>
              <a:t>Top 10 - consumo de red nocturno</a:t>
            </a:r>
          </a:p>
        </c:rich>
      </c:tx>
      <c:overlay val="0"/>
    </c:title>
    <c:autoTitleDeleted val="0"/>
    <c:plotArea>
      <c:layout/>
      <c:barChart>
        <c:barDir val="bar"/>
        <c:grouping val="clustered"/>
        <c:varyColors val="0"/>
        <c:ser>
          <c:idx val="0"/>
          <c:order val="0"/>
          <c:tx>
            <c:strRef>
              <c:f>Sheet1!$B$1</c:f>
              <c:strCache>
                <c:ptCount val="1"/>
                <c:pt idx="0">
                  <c:v>Importacion nocturna (kWh)</c:v>
                </c:pt>
              </c:strCache>
            </c:strRef>
          </c:tx>
          <c:spPr>
            <a:solidFill>
              <a:srgbClr val="1B3A6B"/>
            </a:solidFill>
            <a:effectLst/>
          </c:spPr>
          <c:invertIfNegative val="0"/>
          <c:dLbls>
            <c:numFmt formatCode="0" sourceLinked="0"/>
            <c:spPr>
              <a:noFill/>
              <a:ln>
                <a:noFill/>
              </a:ln>
              <a:effectLst/>
            </c:spPr>
            <c:txPr>
              <a:bodyPr/>
              <a:lstStyle/>
              <a:p>
                <a:pPr>
                  <a:defRPr sz="70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Casa 2</c:v>
                </c:pt>
                <c:pt idx="1">
                  <c:v>🧳 Casa 18</c:v>
                </c:pt>
                <c:pt idx="2">
                  <c:v>Casa 70</c:v>
                </c:pt>
                <c:pt idx="3">
                  <c:v>Casa 56</c:v>
                </c:pt>
                <c:pt idx="4">
                  <c:v>🧳 Casa 74</c:v>
                </c:pt>
                <c:pt idx="5">
                  <c:v>Casa 12</c:v>
                </c:pt>
                <c:pt idx="6">
                  <c:v>Casa 35</c:v>
                </c:pt>
                <c:pt idx="7">
                  <c:v>Casa 23</c:v>
                </c:pt>
                <c:pt idx="8">
                  <c:v>Casa 24</c:v>
                </c:pt>
                <c:pt idx="9">
                  <c:v>Casa 78T</c:v>
                </c:pt>
              </c:strCache>
            </c:strRef>
          </c:cat>
          <c:val>
            <c:numRef>
              <c:f>Sheet1!$B$2:$B$11</c:f>
              <c:numCache>
                <c:formatCode>General</c:formatCode>
                <c:ptCount val="10"/>
                <c:pt idx="0">
                  <c:v>209</c:v>
                </c:pt>
                <c:pt idx="1">
                  <c:v>222</c:v>
                </c:pt>
                <c:pt idx="2">
                  <c:v>244</c:v>
                </c:pt>
                <c:pt idx="3">
                  <c:v>287</c:v>
                </c:pt>
                <c:pt idx="4">
                  <c:v>292</c:v>
                </c:pt>
                <c:pt idx="5">
                  <c:v>346</c:v>
                </c:pt>
                <c:pt idx="6">
                  <c:v>426</c:v>
                </c:pt>
                <c:pt idx="7">
                  <c:v>600</c:v>
                </c:pt>
                <c:pt idx="8">
                  <c:v>637</c:v>
                </c:pt>
                <c:pt idx="9">
                  <c:v>840</c:v>
                </c:pt>
              </c:numCache>
            </c:numRef>
          </c:val>
          <c:extLst>
            <c:ext xmlns:c16="http://schemas.microsoft.com/office/drawing/2014/chart" uri="{C3380CC4-5D6E-409C-BE32-E72D297353CC}">
              <c16:uniqueId val="{00000000-286A-49C3-8BA6-7C3CF5F297A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1000.0"/>
          <c:min val="0.0"/>
        </c:scaling>
        <c:delete val="0"/>
        <c:axPos val="b"/>
        <c:majorGridlines>
          <c:spPr>
            <a:ln w="9525" cap="flat">
              <a:solidFill>
                <a:srgbClr val="EFEF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majorUnit val="250.0"/>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Exportacion kWh</c:v>
                </c:pt>
              </c:strCache>
            </c:strRef>
          </c:tx>
          <c:spPr>
            <a:solidFill>
              <a:srgbClr val="F4B400"/>
            </a:solidFill>
            <a:effectLst/>
          </c:spPr>
          <c:invertIfNegative val="0"/>
          <c:dLbls>
            <c:numFmt formatCode="0.0" sourceLinked="0"/>
            <c:spPr>
              <a:noFill/>
              <a:ln>
                <a:noFill/>
              </a:ln>
              <a:effectLst/>
            </c:spPr>
            <c:txPr>
              <a:bodyPr/>
              <a:lstStyle/>
              <a:p>
                <a:pPr>
                  <a:defRPr sz="54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Sheet1!$A$2:$A$40</c:f>
              <c:strCache>
                <c:ptCount val="39"/>
                <c:pt idx="0">
                  <c:v>Casa 78T (Terranova)</c:v>
                </c:pt>
                <c:pt idx="1">
                  <c:v>Casa 11 (Pance)</c:v>
                </c:pt>
                <c:pt idx="2">
                  <c:v>Casa 48 (Pance)</c:v>
                </c:pt>
                <c:pt idx="3">
                  <c:v>Casa 93p (Prado Verde)</c:v>
                </c:pt>
                <c:pt idx="4">
                  <c:v>Casa 77 (Pance)</c:v>
                </c:pt>
                <c:pt idx="5">
                  <c:v>🧳 Casa 104 (Pance)</c:v>
                </c:pt>
                <c:pt idx="6">
                  <c:v>🧳 Casa 18 (Pance)</c:v>
                </c:pt>
                <c:pt idx="7">
                  <c:v>🧳 Casa 76 (Pance)</c:v>
                </c:pt>
                <c:pt idx="8">
                  <c:v>🧳 Casa 74 (Pance)</c:v>
                </c:pt>
                <c:pt idx="9">
                  <c:v>Casa 42 (Pance)</c:v>
                </c:pt>
                <c:pt idx="10">
                  <c:v>Casa 63 (Pance)</c:v>
                </c:pt>
                <c:pt idx="11">
                  <c:v>Casa 12 (Los Abedules)</c:v>
                </c:pt>
                <c:pt idx="12">
                  <c:v>Casa 102p (Prado Verde)</c:v>
                </c:pt>
                <c:pt idx="13">
                  <c:v>Casa 30 (Pance)</c:v>
                </c:pt>
                <c:pt idx="14">
                  <c:v>Casa 57 (Pance)</c:v>
                </c:pt>
                <c:pt idx="15">
                  <c:v>Casa 18PR (Porton Rivera)</c:v>
                </c:pt>
                <c:pt idx="16">
                  <c:v>Casa 2 (Pance)</c:v>
                </c:pt>
                <c:pt idx="17">
                  <c:v>Casa 73 (Llanos Pance)</c:v>
                </c:pt>
                <c:pt idx="18">
                  <c:v>Casa 55p (Prado Verde)</c:v>
                </c:pt>
                <c:pt idx="19">
                  <c:v>Casa 10 (Pance)</c:v>
                </c:pt>
                <c:pt idx="20">
                  <c:v>Casa 108 (Pance)</c:v>
                </c:pt>
                <c:pt idx="21">
                  <c:v>Casa 111 (Pance)</c:v>
                </c:pt>
                <c:pt idx="22">
                  <c:v>Casa 446p (Prado Verde)</c:v>
                </c:pt>
                <c:pt idx="23">
                  <c:v>Casa 18Ap (Prado Verde)</c:v>
                </c:pt>
                <c:pt idx="24">
                  <c:v>Casa 15 (Pance)</c:v>
                </c:pt>
                <c:pt idx="25">
                  <c:v>Casa 382p (Prado Verde)</c:v>
                </c:pt>
                <c:pt idx="26">
                  <c:v>Casa 99 (Pance)</c:v>
                </c:pt>
                <c:pt idx="27">
                  <c:v>Casa 15p (Prado Verde)</c:v>
                </c:pt>
                <c:pt idx="28">
                  <c:v>Casa 35 (Pance)</c:v>
                </c:pt>
                <c:pt idx="29">
                  <c:v>Casa 70 (Pance)</c:v>
                </c:pt>
                <c:pt idx="30">
                  <c:v>🧳 Casa 287 (Terra by Kaia)</c:v>
                </c:pt>
                <c:pt idx="31">
                  <c:v>Casa 155 (Terra by Kaia)</c:v>
                </c:pt>
                <c:pt idx="32">
                  <c:v>Casa 56 (Pance)</c:v>
                </c:pt>
                <c:pt idx="33">
                  <c:v>Casa 435p (Prado Verde)</c:v>
                </c:pt>
                <c:pt idx="34">
                  <c:v>Casa 23 (Pance)</c:v>
                </c:pt>
                <c:pt idx="35">
                  <c:v>Casa 10p (Prado Verde)</c:v>
                </c:pt>
                <c:pt idx="36">
                  <c:v>Casa 23p (Prado Verde)</c:v>
                </c:pt>
                <c:pt idx="37">
                  <c:v>Casa 24 (Terra by Kaia)</c:v>
                </c:pt>
                <c:pt idx="38">
                  <c:v>Casa 29 (Pance)</c:v>
                </c:pt>
              </c:strCache>
            </c:strRef>
          </c:cat>
          <c:val>
            <c:numRef>
              <c:f>Sheet1!$B$2:$B$40</c:f>
              <c:numCache>
                <c:formatCode>General</c:formatCode>
                <c:ptCount val="39"/>
                <c:pt idx="0">
                  <c:v>0.1</c:v>
                </c:pt>
                <c:pt idx="1">
                  <c:v>0.1</c:v>
                </c:pt>
                <c:pt idx="2">
                  <c:v>0.1</c:v>
                </c:pt>
                <c:pt idx="3">
                  <c:v>0.1</c:v>
                </c:pt>
                <c:pt idx="4">
                  <c:v>0.1</c:v>
                </c:pt>
                <c:pt idx="5">
                  <c:v>0.1</c:v>
                </c:pt>
                <c:pt idx="6">
                  <c:v>0.2</c:v>
                </c:pt>
                <c:pt idx="7">
                  <c:v>0.2</c:v>
                </c:pt>
                <c:pt idx="8">
                  <c:v>0.2</c:v>
                </c:pt>
                <c:pt idx="9">
                  <c:v>0.2</c:v>
                </c:pt>
                <c:pt idx="10">
                  <c:v>0.2</c:v>
                </c:pt>
                <c:pt idx="11">
                  <c:v>0.2</c:v>
                </c:pt>
                <c:pt idx="12">
                  <c:v>0.3</c:v>
                </c:pt>
                <c:pt idx="13">
                  <c:v>0.3</c:v>
                </c:pt>
                <c:pt idx="14">
                  <c:v>0.3</c:v>
                </c:pt>
                <c:pt idx="15">
                  <c:v>0.4</c:v>
                </c:pt>
                <c:pt idx="16">
                  <c:v>0.4</c:v>
                </c:pt>
                <c:pt idx="17">
                  <c:v>0.4</c:v>
                </c:pt>
                <c:pt idx="18">
                  <c:v>0.4</c:v>
                </c:pt>
                <c:pt idx="19">
                  <c:v>0.4</c:v>
                </c:pt>
                <c:pt idx="20">
                  <c:v>0.4</c:v>
                </c:pt>
                <c:pt idx="21">
                  <c:v>0.5</c:v>
                </c:pt>
                <c:pt idx="22">
                  <c:v>0.5</c:v>
                </c:pt>
                <c:pt idx="23">
                  <c:v>0.6</c:v>
                </c:pt>
                <c:pt idx="24">
                  <c:v>0.7</c:v>
                </c:pt>
                <c:pt idx="25">
                  <c:v>0.8</c:v>
                </c:pt>
                <c:pt idx="26">
                  <c:v>0.9</c:v>
                </c:pt>
                <c:pt idx="27">
                  <c:v>0.9</c:v>
                </c:pt>
                <c:pt idx="28">
                  <c:v>0.9</c:v>
                </c:pt>
                <c:pt idx="29">
                  <c:v>0.9</c:v>
                </c:pt>
                <c:pt idx="30">
                  <c:v>1.0</c:v>
                </c:pt>
                <c:pt idx="31">
                  <c:v>1.0</c:v>
                </c:pt>
                <c:pt idx="32">
                  <c:v>1.0</c:v>
                </c:pt>
                <c:pt idx="33">
                  <c:v>1.1</c:v>
                </c:pt>
                <c:pt idx="34">
                  <c:v>1.4</c:v>
                </c:pt>
                <c:pt idx="35">
                  <c:v>1.7</c:v>
                </c:pt>
                <c:pt idx="36">
                  <c:v>3.1</c:v>
                </c:pt>
                <c:pt idx="37">
                  <c:v>3.3</c:v>
                </c:pt>
                <c:pt idx="38">
                  <c:v>9.2</c:v>
                </c:pt>
              </c:numCache>
            </c:numRef>
          </c:val>
          <c:extLst>
            <c:ext xmlns:c16="http://schemas.microsoft.com/office/drawing/2014/chart" uri="{C3380CC4-5D6E-409C-BE32-E72D297353CC}">
              <c16:uniqueId val="{00000000-D4F8-4E5F-B611-CA95E2BE239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5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24"/>
        </c:scaling>
        <c:delete val="1"/>
        <c:axPos val="b"/>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Consumo Diseño 30 dias (kWh)</c:v>
                </c:pt>
              </c:strCache>
            </c:strRef>
          </c:tx>
          <c:spPr>
            <a:solidFill>
              <a:srgbClr val="DDDDDD"/>
            </a:solidFill>
            <a:effectLst/>
          </c:spPr>
          <c:invertIfNegative val="0"/>
          <c:dLbls>
            <c:numFmt formatCode="#,##0" sourceLinked="0"/>
            <c:spPr>
              <a:noFill/>
              <a:ln>
                <a:noFill/>
              </a:ln>
              <a:effectLst/>
            </c:spPr>
            <c:txPr>
              <a:bodyPr/>
              <a:lstStyle/>
              <a:p>
                <a:pPr>
                  <a:defRPr sz="65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Reservas de Pance</c:v>
                </c:pt>
                <c:pt idx="1">
                  <c:v>Prado Verde</c:v>
                </c:pt>
                <c:pt idx="2">
                  <c:v>Terra by Kaia</c:v>
                </c:pt>
                <c:pt idx="3">
                  <c:v>Terranova</c:v>
                </c:pt>
                <c:pt idx="4">
                  <c:v>Los Abedules</c:v>
                </c:pt>
                <c:pt idx="5">
                  <c:v>Porton Rivera</c:v>
                </c:pt>
                <c:pt idx="6">
                  <c:v>Llanos Pance</c:v>
                </c:pt>
              </c:strCache>
            </c:strRef>
          </c:cat>
          <c:val>
            <c:numRef>
              <c:f>Sheet1!$B$2:$B$8</c:f>
              <c:numCache>
                <c:formatCode>General</c:formatCode>
                <c:ptCount val="7"/>
                <c:pt idx="0">
                  <c:v>12552</c:v>
                </c:pt>
                <c:pt idx="1">
                  <c:v>4658</c:v>
                </c:pt>
                <c:pt idx="2">
                  <c:v>2542</c:v>
                </c:pt>
                <c:pt idx="3">
                  <c:v>1136</c:v>
                </c:pt>
                <c:pt idx="4">
                  <c:v>1894</c:v>
                </c:pt>
                <c:pt idx="5">
                  <c:v>476</c:v>
                </c:pt>
                <c:pt idx="6">
                  <c:v>408</c:v>
                </c:pt>
              </c:numCache>
            </c:numRef>
          </c:val>
          <c:extLst>
            <c:ext xmlns:c16="http://schemas.microsoft.com/office/drawing/2014/chart" uri="{C3380CC4-5D6E-409C-BE32-E72D297353CC}">
              <c16:uniqueId val="{00000000-5A2B-4705-B4B6-658564FB8A1F}"/>
            </c:ext>
          </c:extLst>
        </c:ser>
        <c:ser>
          <c:idx val="1"/>
          <c:order val="1"/>
          <c:tx>
            <c:strRef>
              <c:f>Sheet1!$C$1</c:f>
              <c:strCache>
                <c:ptCount val="1"/>
                <c:pt idx="0">
                  <c:v>Consumo Real Sep (kWh)</c:v>
                </c:pt>
              </c:strCache>
            </c:strRef>
          </c:tx>
          <c:spPr>
            <a:solidFill>
              <a:srgbClr val="2B5BA3"/>
            </a:solidFill>
            <a:effectLst/>
          </c:spPr>
          <c:invertIfNegative val="0"/>
          <c:dLbls>
            <c:numFmt formatCode="#,##0" sourceLinked="0"/>
            <c:spPr>
              <a:noFill/>
              <a:ln>
                <a:noFill/>
              </a:ln>
              <a:effectLst/>
            </c:spPr>
            <c:txPr>
              <a:bodyPr/>
              <a:lstStyle/>
              <a:p>
                <a:pPr>
                  <a:defRPr sz="65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Reservas de Pance</c:v>
                </c:pt>
                <c:pt idx="1">
                  <c:v>Prado Verde</c:v>
                </c:pt>
                <c:pt idx="2">
                  <c:v>Terra by Kaia</c:v>
                </c:pt>
                <c:pt idx="3">
                  <c:v>Terranova</c:v>
                </c:pt>
                <c:pt idx="4">
                  <c:v>Los Abedules</c:v>
                </c:pt>
                <c:pt idx="5">
                  <c:v>Porton Rivera</c:v>
                </c:pt>
                <c:pt idx="6">
                  <c:v>Llanos Pance</c:v>
                </c:pt>
              </c:strCache>
            </c:strRef>
          </c:cat>
          <c:val>
            <c:numRef>
              <c:f>Sheet1!$C$2:$C$8</c:f>
              <c:numCache>
                <c:formatCode>General</c:formatCode>
                <c:ptCount val="7"/>
                <c:pt idx="0">
                  <c:v>14694</c:v>
                </c:pt>
                <c:pt idx="1">
                  <c:v>4995</c:v>
                </c:pt>
                <c:pt idx="2">
                  <c:v>2916</c:v>
                </c:pt>
                <c:pt idx="3">
                  <c:v>1881</c:v>
                </c:pt>
                <c:pt idx="4">
                  <c:v>1440</c:v>
                </c:pt>
                <c:pt idx="5">
                  <c:v>619</c:v>
                </c:pt>
                <c:pt idx="6">
                  <c:v>530</c:v>
                </c:pt>
              </c:numCache>
            </c:numRef>
          </c:val>
          <c:extLst>
            <c:ext xmlns:c16="http://schemas.microsoft.com/office/drawing/2014/chart" uri="{C3380CC4-5D6E-409C-BE32-E72D297353CC}">
              <c16:uniqueId val="{00000001-5A2B-4705-B4B6-658564FB8A1F}"/>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F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8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Consumo de diseno (kWh)</c:v>
                </c:pt>
              </c:strCache>
            </c:strRef>
          </c:tx>
          <c:spPr>
            <a:solidFill>
              <a:srgbClr val="DDDDDD"/>
            </a:solidFill>
            <a:effectLst/>
          </c:spPr>
          <c:invertIfNegative val="0"/>
          <c:dLbls>
            <c:numFmt formatCode="#,##0" sourceLinked="0"/>
            <c:spPr>
              <a:noFill/>
              <a:ln>
                <a:noFill/>
              </a:ln>
              <a:effectLst/>
            </c:spPr>
            <c:txPr>
              <a:bodyPr/>
              <a:lstStyle/>
              <a:p>
                <a:pPr>
                  <a:defRPr sz="90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Semana 1 (01-07 Sep)</c:v>
                </c:pt>
                <c:pt idx="1">
                  <c:v>Semana 2 (08-14 Sep)</c:v>
                </c:pt>
                <c:pt idx="2">
                  <c:v>Semana 3 (15-21 Sep)</c:v>
                </c:pt>
                <c:pt idx="3">
                  <c:v>Semana 4 (22-28 Sep)</c:v>
                </c:pt>
              </c:strCache>
            </c:strRef>
          </c:cat>
          <c:val>
            <c:numRef>
              <c:f>Sheet1!$B$2:$B$5</c:f>
              <c:numCache>
                <c:formatCode>General</c:formatCode>
                <c:ptCount val="4"/>
                <c:pt idx="0">
                  <c:v>5522</c:v>
                </c:pt>
                <c:pt idx="1">
                  <c:v>5522</c:v>
                </c:pt>
                <c:pt idx="2">
                  <c:v>5522</c:v>
                </c:pt>
                <c:pt idx="3">
                  <c:v>5522</c:v>
                </c:pt>
              </c:numCache>
            </c:numRef>
          </c:val>
          <c:extLst>
            <c:ext xmlns:c16="http://schemas.microsoft.com/office/drawing/2014/chart" uri="{C3380CC4-5D6E-409C-BE32-E72D297353CC}">
              <c16:uniqueId val="{00000000-6681-4138-A7BB-EA5F67E540DB}"/>
            </c:ext>
          </c:extLst>
        </c:ser>
        <c:ser>
          <c:idx val="1"/>
          <c:order val="1"/>
          <c:tx>
            <c:strRef>
              <c:f>Sheet1!$C$1</c:f>
              <c:strCache>
                <c:ptCount val="1"/>
                <c:pt idx="0">
                  <c:v>Consumo real (kWh)</c:v>
                </c:pt>
              </c:strCache>
            </c:strRef>
          </c:tx>
          <c:spPr>
            <a:solidFill>
              <a:srgbClr val="2B5BA3"/>
            </a:solidFill>
            <a:effectLst/>
          </c:spPr>
          <c:invertIfNegative val="0"/>
          <c:dLbls>
            <c:numFmt formatCode="#,##0" sourceLinked="0"/>
            <c:spPr>
              <a:noFill/>
              <a:ln>
                <a:noFill/>
              </a:ln>
              <a:effectLst/>
            </c:spPr>
            <c:txPr>
              <a:bodyPr/>
              <a:lstStyle/>
              <a:p>
                <a:pPr>
                  <a:defRPr sz="90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Semana 1 (01-07 Sep)</c:v>
                </c:pt>
                <c:pt idx="1">
                  <c:v>Semana 2 (08-14 Sep)</c:v>
                </c:pt>
                <c:pt idx="2">
                  <c:v>Semana 3 (15-21 Sep)</c:v>
                </c:pt>
                <c:pt idx="3">
                  <c:v>Semana 4 (22-28 Sep)</c:v>
                </c:pt>
              </c:strCache>
            </c:strRef>
          </c:cat>
          <c:val>
            <c:numRef>
              <c:f>Sheet1!$C$2:$C$5</c:f>
              <c:numCache>
                <c:formatCode>General</c:formatCode>
                <c:ptCount val="4"/>
                <c:pt idx="0">
                  <c:v>5897</c:v>
                </c:pt>
                <c:pt idx="1">
                  <c:v>6584</c:v>
                </c:pt>
                <c:pt idx="2">
                  <c:v>6728</c:v>
                </c:pt>
                <c:pt idx="3">
                  <c:v>5472</c:v>
                </c:pt>
              </c:numCache>
            </c:numRef>
          </c:val>
          <c:extLst>
            <c:ext xmlns:c16="http://schemas.microsoft.com/office/drawing/2014/chart" uri="{C3380CC4-5D6E-409C-BE32-E72D297353CC}">
              <c16:uniqueId val="{00000001-6681-4138-A7BB-EA5F67E540D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8000"/>
          <c:min val="0"/>
        </c:scaling>
        <c:delete val="0"/>
        <c:axPos val="l"/>
        <c:majorGridlines>
          <c:spPr>
            <a:ln w="9525" cap="flat">
              <a:solidFill>
                <a:srgbClr val="EF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majorUnit val="2000"/>
      </c:valAx>
      <c:spPr>
        <a:noFill/>
        <a:ln w="12700" cap="flat">
          <a:solidFill>
            <a:srgbClr val="FFFFFF"/>
          </a:solidFill>
        </a:ln>
        <a:effectLst/>
      </c:spPr>
    </c:plotArea>
    <c:legend>
      <c:legendPos val="b"/>
      <c:overlay val="0"/>
      <c:txPr>
        <a:bodyPr/>
        <a:lstStyle/>
        <a:p>
          <a:pPr>
            <a:defRPr sz="80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Variacion %</c:v>
                </c:pt>
              </c:strCache>
            </c:strRef>
          </c:tx>
          <c:spPr>
            <a:solidFill>
              <a:srgbClr val="CA6F1E"/>
            </a:solidFill>
            <a:effectLst/>
          </c:spPr>
          <c:invertIfNegative val="0"/>
          <c:dPt>
            <c:idx val="0"/>
            <c:invertIfNegative val="0"/>
            <c:bubble3D val="0"/>
            <c:spPr>
              <a:solidFill>
                <a:srgbClr val="E63946"/>
              </a:solidFill>
            </c:spPr>
            <c:extLst>
              <c:ext xmlns:c16="http://schemas.microsoft.com/office/drawing/2014/chart" uri="{C3380CC4-5D6E-409C-BE32-E72D297353CC}">
                <c16:uniqueId val="{00000001-8B8C-40F5-BA89-186E5D070EF4}"/>
              </c:ext>
            </c:extLst>
          </c:dPt>
          <c:dPt>
            <c:idx val="1"/>
            <c:invertIfNegative val="0"/>
            <c:bubble3D val="0"/>
            <c:spPr>
              <a:solidFill>
                <a:srgbClr val="E63946"/>
              </a:solidFill>
            </c:spPr>
            <c:extLst>
              <c:ext xmlns:c16="http://schemas.microsoft.com/office/drawing/2014/chart" uri="{C3380CC4-5D6E-409C-BE32-E72D297353CC}">
                <c16:uniqueId val="{00000003-8B8C-40F5-BA89-186E5D070EF4}"/>
              </c:ext>
            </c:extLst>
          </c:dPt>
          <c:dPt>
            <c:idx val="2"/>
            <c:invertIfNegative val="0"/>
            <c:bubble3D val="0"/>
            <c:spPr>
              <a:solidFill>
                <a:srgbClr val="E63946"/>
              </a:solidFill>
              <a:effectLst/>
            </c:spPr>
            <c:extLst>
              <c:ext xmlns:c16="http://schemas.microsoft.com/office/drawing/2014/chart" uri="{C3380CC4-5D6E-409C-BE32-E72D297353CC}">
                <c16:uniqueId val="{00000005-8B8C-40F5-BA89-186E5D070EF4}"/>
              </c:ext>
            </c:extLst>
          </c:dPt>
          <c:dPt>
            <c:idx val="3"/>
            <c:invertIfNegative val="0"/>
            <c:bubble3D val="0"/>
            <c:spPr>
              <a:solidFill>
                <a:srgbClr val="CA6F1E"/>
              </a:solidFill>
              <a:effectLst/>
            </c:spPr>
            <c:extLst>
              <c:ext xmlns:c16="http://schemas.microsoft.com/office/drawing/2014/chart" uri="{C3380CC4-5D6E-409C-BE32-E72D297353CC}">
                <c16:uniqueId val="{00000007-8B8C-40F5-BA89-186E5D070EF4}"/>
              </c:ext>
            </c:extLst>
          </c:dPt>
          <c:dPt>
            <c:idx val="4"/>
            <c:invertIfNegative val="0"/>
            <c:bubble3D val="0"/>
            <c:spPr>
              <a:solidFill>
                <a:srgbClr val="CA6F1E"/>
              </a:solidFill>
              <a:effectLst/>
            </c:spPr>
            <c:extLst>
              <c:ext xmlns:c16="http://schemas.microsoft.com/office/drawing/2014/chart" uri="{C3380CC4-5D6E-409C-BE32-E72D297353CC}">
                <c16:uniqueId val="{00000009-8B8C-40F5-BA89-186E5D070EF4}"/>
              </c:ext>
            </c:extLst>
          </c:dPt>
          <c:dPt>
            <c:idx val="5"/>
            <c:invertIfNegative val="0"/>
            <c:bubble3D val="0"/>
            <c:spPr>
              <a:solidFill>
                <a:srgbClr val="CA6F1E"/>
              </a:solidFill>
              <a:effectLst/>
            </c:spPr>
            <c:extLst>
              <c:ext xmlns:c16="http://schemas.microsoft.com/office/drawing/2014/chart" uri="{C3380CC4-5D6E-409C-BE32-E72D297353CC}">
                <c16:uniqueId val="{0000000B-8B8C-40F5-BA89-186E5D070EF4}"/>
              </c:ext>
            </c:extLst>
          </c:dPt>
          <c:dPt>
            <c:idx val="6"/>
            <c:invertIfNegative val="0"/>
            <c:bubble3D val="0"/>
            <c:spPr>
              <a:solidFill>
                <a:srgbClr val="CA6F1E"/>
              </a:solidFill>
              <a:effectLst/>
            </c:spPr>
            <c:extLst>
              <c:ext xmlns:c16="http://schemas.microsoft.com/office/drawing/2014/chart" uri="{C3380CC4-5D6E-409C-BE32-E72D297353CC}">
                <c16:uniqueId val="{0000000D-8B8C-40F5-BA89-186E5D070EF4}"/>
              </c:ext>
            </c:extLst>
          </c:dPt>
          <c:dPt>
            <c:idx val="7"/>
            <c:invertIfNegative val="0"/>
            <c:bubble3D val="0"/>
            <c:spPr>
              <a:solidFill>
                <a:srgbClr val="CA6F1E"/>
              </a:solidFill>
              <a:effectLst/>
            </c:spPr>
            <c:extLst>
              <c:ext xmlns:c16="http://schemas.microsoft.com/office/drawing/2014/chart" uri="{C3380CC4-5D6E-409C-BE32-E72D297353CC}">
                <c16:uniqueId val="{0000000F-8B8C-40F5-BA89-186E5D070EF4}"/>
              </c:ext>
            </c:extLst>
          </c:dPt>
          <c:dPt>
            <c:idx val="8"/>
            <c:invertIfNegative val="0"/>
            <c:bubble3D val="0"/>
            <c:spPr>
              <a:solidFill>
                <a:srgbClr val="E63946"/>
              </a:solidFill>
              <a:effectLst/>
            </c:spPr>
            <c:extLst>
              <c:ext xmlns:c16="http://schemas.microsoft.com/office/drawing/2014/chart" uri="{C3380CC4-5D6E-409C-BE32-E72D297353CC}">
                <c16:uniqueId val="{00000011-8B8C-40F5-BA89-186E5D070EF4}"/>
              </c:ext>
            </c:extLst>
          </c:dPt>
          <c:dPt>
            <c:idx val="9"/>
            <c:invertIfNegative val="0"/>
            <c:bubble3D val="0"/>
            <c:spPr>
              <a:solidFill>
                <a:srgbClr val="E63946"/>
              </a:solidFill>
              <a:effectLst/>
            </c:spPr>
            <c:extLst>
              <c:ext xmlns:c16="http://schemas.microsoft.com/office/drawing/2014/chart" uri="{C3380CC4-5D6E-409C-BE32-E72D297353CC}">
                <c16:uniqueId val="{00000013-8B8C-40F5-BA89-186E5D070EF4}"/>
              </c:ext>
            </c:extLst>
          </c:dPt>
          <c:dPt>
            <c:idx val="10"/>
            <c:invertIfNegative val="0"/>
            <c:bubble3D val="0"/>
            <c:spPr>
              <a:solidFill>
                <a:srgbClr val="E63946"/>
              </a:solidFill>
              <a:effectLst/>
            </c:spPr>
            <c:extLst>
              <c:ext xmlns:c16="http://schemas.microsoft.com/office/drawing/2014/chart" uri="{C3380CC4-5D6E-409C-BE32-E72D297353CC}">
                <c16:uniqueId val="{00000015-8B8C-40F5-BA89-186E5D070EF4}"/>
              </c:ext>
            </c:extLst>
          </c:dPt>
          <c:dLbls>
            <c:numFmt formatCode="0;\-0" sourceLinked="0"/>
            <c:spPr>
              <a:noFill/>
              <a:ln>
                <a:noFill/>
              </a:ln>
              <a:effectLst/>
            </c:spPr>
            <c:txPr>
              <a:bodyPr/>
              <a:lstStyle/>
              <a:p>
                <a:pPr>
                  <a:defRPr sz="85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Casa 18PR</c:v>
                </c:pt>
                <c:pt idx="1">
                  <c:v>🧳 Casa 104</c:v>
                </c:pt>
                <c:pt idx="2">
                  <c:v>Casa 10p</c:v>
                </c:pt>
                <c:pt idx="3">
                  <c:v>Casa 446p</c:v>
                </c:pt>
                <c:pt idx="4">
                  <c:v>Casa 24</c:v>
                </c:pt>
                <c:pt idx="5">
                  <c:v>Casa 73</c:v>
                </c:pt>
                <c:pt idx="6">
                  <c:v>Casa 18Ap</c:v>
                </c:pt>
                <c:pt idx="7">
                  <c:v>Casa 2</c:v>
                </c:pt>
                <c:pt idx="8">
                  <c:v>Casa 35</c:v>
                </c:pt>
                <c:pt idx="9">
                  <c:v>🧳 Casa 287</c:v>
                </c:pt>
              </c:strCache>
            </c:strRef>
          </c:cat>
          <c:val>
            <c:numRef>
              <c:f>Sheet1!$B$2:$B$11</c:f>
              <c:numCache>
                <c:formatCode>General</c:formatCode>
                <c:ptCount val="10"/>
                <c:pt idx="0">
                  <c:v>-39</c:v>
                </c:pt>
                <c:pt idx="1">
                  <c:v>-37</c:v>
                </c:pt>
                <c:pt idx="2">
                  <c:v>-36</c:v>
                </c:pt>
                <c:pt idx="3">
                  <c:v>-23</c:v>
                </c:pt>
                <c:pt idx="4">
                  <c:v>-20</c:v>
                </c:pt>
                <c:pt idx="5">
                  <c:v>19</c:v>
                </c:pt>
                <c:pt idx="6">
                  <c:v>21</c:v>
                </c:pt>
                <c:pt idx="7">
                  <c:v>25</c:v>
                </c:pt>
                <c:pt idx="8">
                  <c:v>40</c:v>
                </c:pt>
                <c:pt idx="9">
                  <c:v>97</c:v>
                </c:pt>
              </c:numCache>
            </c:numRef>
          </c:val>
          <c:extLst>
            <c:ext xmlns:c16="http://schemas.microsoft.com/office/drawing/2014/chart" uri="{C3380CC4-5D6E-409C-BE32-E72D297353CC}">
              <c16:uniqueId val="{00000016-8B8C-40F5-BA89-186E5D070EF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120.0"/>
          <c:min val="-60.0"/>
        </c:scaling>
        <c:delete val="0"/>
        <c:axPos val="l"/>
        <c:majorGridlines>
          <c:spPr>
            <a:ln w="9525" cap="flat">
              <a:solidFill>
                <a:srgbClr val="EF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majorUnit val="20.0"/>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100" b="0" i="0" u="none" strike="noStrike">
                <a:solidFill>
                  <a:srgbClr val="12263A"/>
                </a:solidFill>
                <a:latin typeface="Calibri"/>
              </a:defRPr>
            </a:pPr>
            <a:r>
              <a:rPr lang="es-CO" sz="1100" b="0" i="0" u="none" strike="noStrike" noProof="0" dirty="0">
                <a:solidFill>
                  <a:srgbClr val="12263A"/>
                </a:solidFill>
                <a:latin typeface="Calibri"/>
              </a:rPr>
              <a:t>Distribución de las 39 casas afectadas</a:t>
            </a:r>
          </a:p>
        </c:rich>
      </c:tx>
      <c:overlay val="0"/>
    </c:title>
    <c:autoTitleDeleted val="0"/>
    <c:plotArea>
      <c:layout/>
      <c:pieChart>
        <c:varyColors val="1"/>
        <c:ser>
          <c:idx val="0"/>
          <c:order val="0"/>
          <c:tx>
            <c:strRef>
              <c:f>Sheet1!$B$1</c:f>
              <c:strCache>
                <c:ptCount val="1"/>
                <c:pt idx="0">
                  <c:v>Efectividad</c:v>
                </c:pt>
              </c:strCache>
            </c:strRef>
          </c:tx>
          <c:spPr>
            <a:solidFill>
              <a:schemeClr val="accent1"/>
            </a:solidFill>
            <a:ln w="9525" cap="flat">
              <a:solidFill>
                <a:srgbClr val="F9F9F9"/>
              </a:solidFill>
              <a:prstDash val="solid"/>
              <a:round/>
            </a:ln>
            <a:effectLst/>
          </c:spPr>
          <c:dPt>
            <c:idx val="0"/>
            <c:bubble3D val="0"/>
            <c:spPr>
              <a:solidFill>
                <a:srgbClr val="1E8449"/>
              </a:solidFill>
              <a:effectLst/>
            </c:spPr>
            <c:extLst>
              <c:ext xmlns:c16="http://schemas.microsoft.com/office/drawing/2014/chart" uri="{C3380CC4-5D6E-409C-BE32-E72D297353CC}">
                <c16:uniqueId val="{00000001-7678-4EBB-B312-4A01BE8C6762}"/>
              </c:ext>
            </c:extLst>
          </c:dPt>
          <c:dPt>
            <c:idx val="1"/>
            <c:bubble3D val="0"/>
            <c:spPr>
              <a:solidFill>
                <a:srgbClr val="F4B400"/>
              </a:solidFill>
              <a:effectLst/>
            </c:spPr>
            <c:extLst>
              <c:ext xmlns:c16="http://schemas.microsoft.com/office/drawing/2014/chart" uri="{C3380CC4-5D6E-409C-BE32-E72D297353CC}">
                <c16:uniqueId val="{00000003-7678-4EBB-B312-4A01BE8C6762}"/>
              </c:ext>
            </c:extLst>
          </c:dPt>
          <c:dPt>
            <c:idx val="2"/>
            <c:bubble3D val="0"/>
            <c:spPr>
              <a:solidFill>
                <a:srgbClr val="CA6F1E"/>
              </a:solidFill>
              <a:effectLst/>
            </c:spPr>
            <c:extLst>
              <c:ext xmlns:c16="http://schemas.microsoft.com/office/drawing/2014/chart" uri="{C3380CC4-5D6E-409C-BE32-E72D297353CC}">
                <c16:uniqueId val="{00000005-7678-4EBB-B312-4A01BE8C6762}"/>
              </c:ext>
            </c:extLst>
          </c:dPt>
          <c:dPt>
            <c:idx val="3"/>
            <c:bubble3D val="0"/>
            <c:spPr>
              <a:solidFill>
                <a:srgbClr val="E63946"/>
              </a:solidFill>
              <a:effectLst/>
            </c:spPr>
            <c:extLst>
              <c:ext xmlns:c16="http://schemas.microsoft.com/office/drawing/2014/chart" uri="{C3380CC4-5D6E-409C-BE32-E72D297353CC}">
                <c16:uniqueId val="{00000007-7678-4EBB-B312-4A01BE8C6762}"/>
              </c:ext>
            </c:extLst>
          </c:dPt>
          <c:dLbls>
            <c:dLbl>
              <c:idx val="0"/>
              <c:numFmt formatCode="General" sourceLinked="0"/>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78-4EBB-B312-4A01BE8C6762}"/>
                </c:ext>
              </c:extLst>
            </c:dLbl>
            <c:dLbl>
              <c:idx val="1"/>
              <c:numFmt formatCode="General" sourceLinked="0"/>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78-4EBB-B312-4A01BE8C6762}"/>
                </c:ext>
              </c:extLst>
            </c:dLbl>
            <c:dLbl>
              <c:idx val="2"/>
              <c:numFmt formatCode="General" sourceLinked="0"/>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678-4EBB-B312-4A01BE8C6762}"/>
                </c:ext>
              </c:extLst>
            </c:dLbl>
            <c:dLbl>
              <c:idx val="3"/>
              <c:numFmt formatCode="General" sourceLinked="0"/>
              <c:spPr/>
              <c:txPr>
                <a:bodyPr/>
                <a:lstStyle/>
                <a:p>
                  <a:pPr>
                    <a:defRPr sz="1100" b="0" i="0" u="none" strike="noStrike">
                      <a:solidFill>
                        <a:srgbClr val="FFFFFF"/>
                      </a:solidFill>
                      <a:latin typeface="Calibri"/>
                    </a:defRPr>
                  </a:pPr>
                  <a:endParaRPr lang="es-CO"/>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78-4EBB-B312-4A01BE8C6762}"/>
                </c:ext>
              </c:extLst>
            </c:dLbl>
            <c:numFmt formatCode="General" sourceLinked="0"/>
            <c:spPr>
              <a:noFill/>
              <a:ln>
                <a:noFill/>
              </a:ln>
              <a:effectLst/>
            </c:spPr>
            <c:txPr>
              <a:bodyPr/>
              <a:lstStyle/>
              <a:p>
                <a:pPr>
                  <a:defRPr sz="1800" b="0" i="0" u="none" strike="noStrike">
                    <a:solidFill>
                      <a:srgbClr val="000000"/>
                    </a:solidFill>
                    <a:latin typeface="Arial"/>
                  </a:defRPr>
                </a:pPr>
                <a:endParaRPr lang="es-CO"/>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Respaldo ≥ 95%</c:v>
                </c:pt>
                <c:pt idx="1">
                  <c:v>Respaldo 80-95%</c:v>
                </c:pt>
                <c:pt idx="2">
                  <c:v>Respaldo 50-80%</c:v>
                </c:pt>
                <c:pt idx="3">
                  <c:v>Respaldo &lt; 50%</c:v>
                </c:pt>
              </c:strCache>
            </c:strRef>
          </c:cat>
          <c:val>
            <c:numRef>
              <c:f>Sheet1!$B$2:$B$5</c:f>
              <c:numCache>
                <c:formatCode>General</c:formatCode>
                <c:ptCount val="4"/>
                <c:pt idx="0">
                  <c:v>31</c:v>
                </c:pt>
                <c:pt idx="1">
                  <c:v>5</c:v>
                </c:pt>
                <c:pt idx="2">
                  <c:v>1</c:v>
                </c:pt>
                <c:pt idx="3">
                  <c:v>2</c:v>
                </c:pt>
              </c:numCache>
            </c:numRef>
          </c:val>
          <c:extLst>
            <c:ext xmlns:c16="http://schemas.microsoft.com/office/drawing/2014/chart" uri="{C3380CC4-5D6E-409C-BE32-E72D297353CC}">
              <c16:uniqueId val="{00000008-7678-4EBB-B312-4A01BE8C6762}"/>
            </c:ext>
          </c:extLst>
        </c:ser>
        <c:dLbls>
          <c:showLegendKey val="0"/>
          <c:showVal val="0"/>
          <c:showCatName val="0"/>
          <c:showSerName val="0"/>
          <c:showPercent val="0"/>
          <c:showBubbleSize val="0"/>
          <c:showLeaderLines val="0"/>
        </c:dLbls>
        <c:firstSliceAng val="0"/>
      </c:pieChart>
      <c:spPr>
        <a:noFill/>
        <a:ln w="12700" cap="flat">
          <a:solidFill>
            <a:srgbClr val="FFFFFF"/>
          </a:solidFill>
        </a:ln>
        <a:effectLst/>
      </c:spPr>
    </c:plotArea>
    <c:legend>
      <c:legendPos val="b"/>
      <c:overlay val="0"/>
      <c:txPr>
        <a:bodyPr/>
        <a:lstStyle/>
        <a:p>
          <a:pPr>
            <a:defRPr sz="750">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 de Respaldo</c:v>
                </c:pt>
              </c:strCache>
            </c:strRef>
          </c:tx>
          <c:spPr>
            <a:solidFill>
              <a:srgbClr val="1E8449"/>
            </a:solidFill>
            <a:effectLst/>
          </c:spPr>
          <c:invertIfNegative val="0"/>
          <c:dPt>
            <c:idx val="0"/>
            <c:invertIfNegative val="0"/>
            <c:bubble3D val="0"/>
            <c:spPr>
              <a:solidFill>
                <a:srgbClr val="1E8449"/>
              </a:solidFill>
              <a:effectLst/>
            </c:spPr>
            <c:extLst>
              <c:ext xmlns:c16="http://schemas.microsoft.com/office/drawing/2014/chart" uri="{C3380CC4-5D6E-409C-BE32-E72D297353CC}">
                <c16:uniqueId val="{00000001-222D-4681-8F00-B457F43B793F}"/>
              </c:ext>
            </c:extLst>
          </c:dPt>
          <c:dPt>
            <c:idx val="1"/>
            <c:invertIfNegative val="0"/>
            <c:bubble3D val="0"/>
            <c:spPr>
              <a:solidFill>
                <a:srgbClr val="1E8449"/>
              </a:solidFill>
              <a:effectLst/>
            </c:spPr>
            <c:extLst>
              <c:ext xmlns:c16="http://schemas.microsoft.com/office/drawing/2014/chart" uri="{C3380CC4-5D6E-409C-BE32-E72D297353CC}">
                <c16:uniqueId val="{00000003-222D-4681-8F00-B457F43B793F}"/>
              </c:ext>
            </c:extLst>
          </c:dPt>
          <c:dPt>
            <c:idx val="2"/>
            <c:invertIfNegative val="0"/>
            <c:bubble3D val="0"/>
            <c:spPr>
              <a:solidFill>
                <a:srgbClr val="1E8449"/>
              </a:solidFill>
              <a:effectLst/>
            </c:spPr>
            <c:extLst>
              <c:ext xmlns:c16="http://schemas.microsoft.com/office/drawing/2014/chart" uri="{C3380CC4-5D6E-409C-BE32-E72D297353CC}">
                <c16:uniqueId val="{00000005-222D-4681-8F00-B457F43B793F}"/>
              </c:ext>
            </c:extLst>
          </c:dPt>
          <c:dPt>
            <c:idx val="3"/>
            <c:invertIfNegative val="0"/>
            <c:bubble3D val="0"/>
            <c:spPr>
              <a:solidFill>
                <a:srgbClr val="1E8449"/>
              </a:solidFill>
              <a:effectLst/>
            </c:spPr>
            <c:extLst>
              <c:ext xmlns:c16="http://schemas.microsoft.com/office/drawing/2014/chart" uri="{C3380CC4-5D6E-409C-BE32-E72D297353CC}">
                <c16:uniqueId val="{00000007-222D-4681-8F00-B457F43B793F}"/>
              </c:ext>
            </c:extLst>
          </c:dPt>
          <c:dPt>
            <c:idx val="4"/>
            <c:invertIfNegative val="0"/>
            <c:bubble3D val="0"/>
            <c:spPr>
              <a:solidFill>
                <a:srgbClr val="1E8449"/>
              </a:solidFill>
              <a:effectLst/>
            </c:spPr>
            <c:extLst>
              <c:ext xmlns:c16="http://schemas.microsoft.com/office/drawing/2014/chart" uri="{C3380CC4-5D6E-409C-BE32-E72D297353CC}">
                <c16:uniqueId val="{00000009-222D-4681-8F00-B457F43B793F}"/>
              </c:ext>
            </c:extLst>
          </c:dPt>
          <c:dPt>
            <c:idx val="5"/>
            <c:invertIfNegative val="0"/>
            <c:bubble3D val="0"/>
            <c:spPr>
              <a:solidFill>
                <a:srgbClr val="1E8449"/>
              </a:solidFill>
              <a:effectLst/>
            </c:spPr>
            <c:extLst>
              <c:ext xmlns:c16="http://schemas.microsoft.com/office/drawing/2014/chart" uri="{C3380CC4-5D6E-409C-BE32-E72D297353CC}">
                <c16:uniqueId val="{0000000B-222D-4681-8F00-B457F43B793F}"/>
              </c:ext>
            </c:extLst>
          </c:dPt>
          <c:dPt>
            <c:idx val="6"/>
            <c:invertIfNegative val="0"/>
            <c:bubble3D val="0"/>
            <c:spPr>
              <a:solidFill>
                <a:srgbClr val="1E8449"/>
              </a:solidFill>
              <a:effectLst/>
            </c:spPr>
            <c:extLst>
              <c:ext xmlns:c16="http://schemas.microsoft.com/office/drawing/2014/chart" uri="{C3380CC4-5D6E-409C-BE32-E72D297353CC}">
                <c16:uniqueId val="{0000000D-222D-4681-8F00-B457F43B793F}"/>
              </c:ext>
            </c:extLst>
          </c:dPt>
          <c:dPt>
            <c:idx val="7"/>
            <c:invertIfNegative val="0"/>
            <c:bubble3D val="0"/>
            <c:spPr>
              <a:solidFill>
                <a:srgbClr val="1E8449"/>
              </a:solidFill>
              <a:effectLst/>
            </c:spPr>
            <c:extLst>
              <c:ext xmlns:c16="http://schemas.microsoft.com/office/drawing/2014/chart" uri="{C3380CC4-5D6E-409C-BE32-E72D297353CC}">
                <c16:uniqueId val="{0000000F-222D-4681-8F00-B457F43B793F}"/>
              </c:ext>
            </c:extLst>
          </c:dPt>
          <c:dPt>
            <c:idx val="8"/>
            <c:invertIfNegative val="0"/>
            <c:bubble3D val="0"/>
            <c:spPr>
              <a:solidFill>
                <a:srgbClr val="1E8449"/>
              </a:solidFill>
              <a:effectLst/>
            </c:spPr>
            <c:extLst>
              <c:ext xmlns:c16="http://schemas.microsoft.com/office/drawing/2014/chart" uri="{C3380CC4-5D6E-409C-BE32-E72D297353CC}">
                <c16:uniqueId val="{00000011-222D-4681-8F00-B457F43B793F}"/>
              </c:ext>
            </c:extLst>
          </c:dPt>
          <c:dPt>
            <c:idx val="9"/>
            <c:invertIfNegative val="0"/>
            <c:bubble3D val="0"/>
            <c:spPr>
              <a:solidFill>
                <a:srgbClr val="1E8449"/>
              </a:solidFill>
              <a:effectLst/>
            </c:spPr>
            <c:extLst>
              <c:ext xmlns:c16="http://schemas.microsoft.com/office/drawing/2014/chart" uri="{C3380CC4-5D6E-409C-BE32-E72D297353CC}">
                <c16:uniqueId val="{00000013-222D-4681-8F00-B457F43B793F}"/>
              </c:ext>
            </c:extLst>
          </c:dPt>
          <c:dPt>
            <c:idx val="10"/>
            <c:invertIfNegative val="0"/>
            <c:bubble3D val="0"/>
            <c:spPr>
              <a:solidFill>
                <a:srgbClr val="1E8449"/>
              </a:solidFill>
              <a:effectLst/>
            </c:spPr>
            <c:extLst>
              <c:ext xmlns:c16="http://schemas.microsoft.com/office/drawing/2014/chart" uri="{C3380CC4-5D6E-409C-BE32-E72D297353CC}">
                <c16:uniqueId val="{00000015-222D-4681-8F00-B457F43B793F}"/>
              </c:ext>
            </c:extLst>
          </c:dPt>
          <c:dPt>
            <c:idx val="11"/>
            <c:invertIfNegative val="0"/>
            <c:bubble3D val="0"/>
            <c:spPr>
              <a:solidFill>
                <a:srgbClr val="1E8449"/>
              </a:solidFill>
              <a:effectLst/>
            </c:spPr>
            <c:extLst>
              <c:ext xmlns:c16="http://schemas.microsoft.com/office/drawing/2014/chart" uri="{C3380CC4-5D6E-409C-BE32-E72D297353CC}">
                <c16:uniqueId val="{00000017-222D-4681-8F00-B457F43B793F}"/>
              </c:ext>
            </c:extLst>
          </c:dPt>
          <c:dPt>
            <c:idx val="12"/>
            <c:invertIfNegative val="0"/>
            <c:bubble3D val="0"/>
            <c:spPr>
              <a:solidFill>
                <a:srgbClr val="F4B400"/>
              </a:solidFill>
              <a:effectLst/>
            </c:spPr>
            <c:extLst>
              <c:ext xmlns:c16="http://schemas.microsoft.com/office/drawing/2014/chart" uri="{C3380CC4-5D6E-409C-BE32-E72D297353CC}">
                <c16:uniqueId val="{00000019-222D-4681-8F00-B457F43B793F}"/>
              </c:ext>
            </c:extLst>
          </c:dPt>
          <c:dPt>
            <c:idx val="13"/>
            <c:spPr>
              <a:solidFill>
                <a:srgbClr val="F4B400"/>
              </a:solidFill>
            </c:spPr>
          </c:dPt>
          <c:dPt>
            <c:idx val="14"/>
            <c:spPr>
              <a:solidFill>
                <a:srgbClr val="F4B400"/>
              </a:solidFill>
            </c:spPr>
          </c:dPt>
          <c:dPt>
            <c:idx val="15"/>
            <c:spPr>
              <a:solidFill>
                <a:srgbClr val="F4B400"/>
              </a:solidFill>
            </c:spPr>
          </c:dPt>
          <c:dPt>
            <c:idx val="16"/>
            <c:spPr>
              <a:solidFill>
                <a:srgbClr val="F4B400"/>
              </a:solidFill>
            </c:spPr>
          </c:dPt>
          <c:dPt>
            <c:idx val="17"/>
            <c:spPr>
              <a:solidFill>
                <a:srgbClr val="CA6F1E"/>
              </a:solidFill>
            </c:spPr>
          </c:dPt>
          <c:dPt>
            <c:idx val="18"/>
            <c:spPr>
              <a:solidFill>
                <a:srgbClr val="E63946"/>
              </a:solidFill>
            </c:spPr>
          </c:dPt>
          <c:dPt>
            <c:idx val="19"/>
            <c:spPr>
              <a:solidFill>
                <a:srgbClr val="E63946"/>
              </a:solidFill>
            </c:spPr>
          </c:dPt>
          <c:dLbls>
            <c:numFmt formatCode="0.0" sourceLinked="0"/>
            <c:spPr>
              <a:noFill/>
              <a:ln>
                <a:noFill/>
              </a:ln>
              <a:effectLst/>
            </c:spPr>
            <c:txPr>
              <a:bodyPr/>
              <a:lstStyle/>
              <a:p>
                <a:pPr>
                  <a:defRPr sz="75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Casa 382p</c:v>
                </c:pt>
                <c:pt idx="1">
                  <c:v>Casa 15</c:v>
                </c:pt>
                <c:pt idx="2">
                  <c:v>Casa 29</c:v>
                </c:pt>
                <c:pt idx="3">
                  <c:v>Casa 30</c:v>
                </c:pt>
                <c:pt idx="4">
                  <c:v>Casa 11</c:v>
                </c:pt>
                <c:pt idx="5">
                  <c:v>🧳 Casa 104</c:v>
                </c:pt>
                <c:pt idx="6">
                  <c:v>Casa 35</c:v>
                </c:pt>
                <c:pt idx="7">
                  <c:v>Casa 48</c:v>
                </c:pt>
                <c:pt idx="8">
                  <c:v>🧳 Casa 18</c:v>
                </c:pt>
                <c:pt idx="9">
                  <c:v>Casa 99</c:v>
                </c:pt>
                <c:pt idx="10">
                  <c:v>Casa 93p</c:v>
                </c:pt>
                <c:pt idx="11">
                  <c:v>Casa 56</c:v>
                </c:pt>
                <c:pt idx="12">
                  <c:v>Casa 24</c:v>
                </c:pt>
                <c:pt idx="13">
                  <c:v>Casa 23</c:v>
                </c:pt>
                <c:pt idx="14">
                  <c:v>Casa 42</c:v>
                </c:pt>
                <c:pt idx="15">
                  <c:v>Casa 73</c:v>
                </c:pt>
                <c:pt idx="16">
                  <c:v>🧳 Casa 287</c:v>
                </c:pt>
                <c:pt idx="17">
                  <c:v>Casa 18PR</c:v>
                </c:pt>
                <c:pt idx="18">
                  <c:v>Casa 12</c:v>
                </c:pt>
                <c:pt idx="19">
                  <c:v>Casa 78T</c:v>
                </c:pt>
              </c:strCache>
            </c:strRef>
          </c:cat>
          <c:val>
            <c:numRef>
              <c:f>Sheet1!$B$2:$B$21</c:f>
              <c:numCache>
                <c:formatCode>General</c:formatCode>
                <c:ptCount val="20"/>
                <c:pt idx="0">
                  <c:v>98.6</c:v>
                </c:pt>
                <c:pt idx="1">
                  <c:v>98.4</c:v>
                </c:pt>
                <c:pt idx="2">
                  <c:v>98.4</c:v>
                </c:pt>
                <c:pt idx="3">
                  <c:v>98.3</c:v>
                </c:pt>
                <c:pt idx="4">
                  <c:v>98.3</c:v>
                </c:pt>
                <c:pt idx="5">
                  <c:v>98.2</c:v>
                </c:pt>
                <c:pt idx="6">
                  <c:v>98.2</c:v>
                </c:pt>
                <c:pt idx="7">
                  <c:v>98.2</c:v>
                </c:pt>
                <c:pt idx="8">
                  <c:v>98.2</c:v>
                </c:pt>
                <c:pt idx="9">
                  <c:v>97.8</c:v>
                </c:pt>
                <c:pt idx="10">
                  <c:v>95.4</c:v>
                </c:pt>
                <c:pt idx="11">
                  <c:v>95.4</c:v>
                </c:pt>
                <c:pt idx="12">
                  <c:v>94.3</c:v>
                </c:pt>
                <c:pt idx="13">
                  <c:v>94.3</c:v>
                </c:pt>
                <c:pt idx="14">
                  <c:v>94.0</c:v>
                </c:pt>
                <c:pt idx="15">
                  <c:v>93.8</c:v>
                </c:pt>
                <c:pt idx="16">
                  <c:v>88.1</c:v>
                </c:pt>
                <c:pt idx="17">
                  <c:v>51.1</c:v>
                </c:pt>
                <c:pt idx="18">
                  <c:v>37.8</c:v>
                </c:pt>
                <c:pt idx="19">
                  <c:v>0.0</c:v>
                </c:pt>
              </c:numCache>
            </c:numRef>
          </c:val>
          <c:extLst>
            <c:ext xmlns:c16="http://schemas.microsoft.com/office/drawing/2014/chart" uri="{C3380CC4-5D6E-409C-BE32-E72D297353CC}">
              <c16:uniqueId val="{0000001A-222D-4681-8F00-B457F43B793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120"/>
        </c:scaling>
        <c:delete val="0"/>
        <c:axPos val="b"/>
        <c:majorGridlines>
          <c:spPr>
            <a:ln w="9525" cap="flat">
              <a:solidFill>
                <a:srgbClr val="EFEF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08080"/>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100" b="0" i="0" u="none" strike="noStrike">
                <a:solidFill>
                  <a:srgbClr val="12263A"/>
                </a:solidFill>
                <a:latin typeface="Calibri"/>
              </a:defRPr>
            </a:pPr>
            <a:r>
              <a:rPr lang="es-CO" sz="1100" b="0" i="0" u="none" strike="noStrike" noProof="0" dirty="0">
                <a:solidFill>
                  <a:srgbClr val="12263A"/>
                </a:solidFill>
                <a:latin typeface="Calibri"/>
              </a:rPr>
              <a:t>Cantidad de fallas de inversor por marca (acumulado)</a:t>
            </a:r>
          </a:p>
        </c:rich>
      </c:tx>
      <c:overlay val="0"/>
    </c:title>
    <c:autoTitleDeleted val="0"/>
    <c:plotArea>
      <c:layout/>
      <c:barChart>
        <c:barDir val="col"/>
        <c:grouping val="clustered"/>
        <c:varyColors val="0"/>
        <c:ser>
          <c:idx val="0"/>
          <c:order val="0"/>
          <c:tx>
            <c:strRef>
              <c:f>Sheet1!$B$1</c:f>
              <c:strCache>
                <c:ptCount val="1"/>
                <c:pt idx="0">
                  <c:v>Fallas</c:v>
                </c:pt>
              </c:strCache>
            </c:strRef>
          </c:tx>
          <c:spPr>
            <a:solidFill>
              <a:srgbClr val="2B5BA3"/>
            </a:solidFill>
            <a:effectLst/>
          </c:spPr>
          <c:invertIfNegative val="0"/>
          <c:dPt>
            <c:idx val="0"/>
            <c:invertIfNegative val="0"/>
            <c:bubble3D val="0"/>
            <c:extLst>
              <c:ext xmlns:c16="http://schemas.microsoft.com/office/drawing/2014/chart" uri="{C3380CC4-5D6E-409C-BE32-E72D297353CC}">
                <c16:uniqueId val="{00000001-0F18-4DC6-86AB-070DB4F4AED7}"/>
              </c:ext>
            </c:extLst>
          </c:dPt>
          <c:dPt>
            <c:idx val="1"/>
            <c:invertIfNegative val="0"/>
            <c:bubble3D val="0"/>
            <c:spPr>
              <a:solidFill>
                <a:srgbClr val="CA6F1E"/>
              </a:solidFill>
              <a:effectLst/>
            </c:spPr>
            <c:extLst>
              <c:ext xmlns:c16="http://schemas.microsoft.com/office/drawing/2014/chart" uri="{C3380CC4-5D6E-409C-BE32-E72D297353CC}">
                <c16:uniqueId val="{00000003-0F18-4DC6-86AB-070DB4F4AED7}"/>
              </c:ext>
            </c:extLst>
          </c:dPt>
          <c:dLbls>
            <c:numFmt formatCode="#,##0" sourceLinked="0"/>
            <c:spPr>
              <a:noFill/>
              <a:ln>
                <a:noFill/>
              </a:ln>
              <a:effectLst/>
            </c:spPr>
            <c:txPr>
              <a:bodyPr/>
              <a:lstStyle/>
              <a:p>
                <a:pPr>
                  <a:defRPr sz="1400" b="0" i="0" u="none" strike="noStrike">
                    <a:solidFill>
                      <a:srgbClr val="40404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Deye</c:v>
                </c:pt>
                <c:pt idx="1">
                  <c:v>Livoltek</c:v>
                </c:pt>
              </c:strCache>
            </c:strRef>
          </c:cat>
          <c:val>
            <c:numRef>
              <c:f>Sheet1!$B$2:$B$3</c:f>
              <c:numCache>
                <c:formatCode>General</c:formatCode>
                <c:ptCount val="2"/>
                <c:pt idx="0">
                  <c:v>6</c:v>
                </c:pt>
                <c:pt idx="1">
                  <c:v>1</c:v>
                </c:pt>
              </c:numCache>
            </c:numRef>
          </c:val>
          <c:extLst>
            <c:ext xmlns:c16="http://schemas.microsoft.com/office/drawing/2014/chart" uri="{C3380CC4-5D6E-409C-BE32-E72D297353CC}">
              <c16:uniqueId val="{00000004-0F18-4DC6-86AB-070DB4F4AED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2"/>
        <c:crosses val="autoZero"/>
        <c:auto val="1"/>
        <c:lblAlgn val="ctr"/>
        <c:lblOffset val="100"/>
        <c:noMultiLvlLbl val="1"/>
      </c:catAx>
      <c:valAx>
        <c:axId val="2094734552"/>
        <c:scaling>
          <c:orientation val="minMax"/>
          <c:max val="7"/>
        </c:scaling>
        <c:delete val="1"/>
        <c:axPos val="l"/>
        <c:majorGridlines>
          <c:spPr>
            <a:ln w="9525" cap="flat">
              <a:solidFill>
                <a:srgbClr val="EFEFEF"/>
              </a:solidFill>
              <a:prstDash val="solid"/>
              <a:round/>
            </a:ln>
          </c:spPr>
        </c:majorGridlines>
        <c:numFmt formatCode="General" sourceLinked="0"/>
        <c:majorTickMark val="out"/>
        <c:minorTickMark val="none"/>
        <c:tickLblPos val="nextTo"/>
        <c:crossAx val="2094734554"/>
        <c:crosses val="autoZero"/>
        <c:crossBetween val="between"/>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931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Cierre del mes de septiembre 2026 con las mismas 39 viviendas de la primera quincena. Todos los KPI se recalcularon desde la telemetría cruda de Metrum (cierres diarios de los medidores de red y solar, SOC de los inversores y eventos de interrupción).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El alcance se mantiene en las 39 viviendas evaluadas en la primera quincena para que el cierre mensual sea comparable. Los 7 sistemas con anomalía de medición se revisan aparte (diapositiva oculta de anomalías).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La efectividad de respaldo (94,5%) queda apenas bajo la meta del 95% por Casa 12 (Los Abedules), que respaldó solo 37,8% en dos cortes de ~2 h con SOC al 15%; sin esa vivienda el indicador sería 98,2%. Rendimiento = promedio simple por conjunto de yield real / yield de diseño. Ninguna vivienda queda bajo 60% de desempeño.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Yield real = generación del mes / kWp x 365 / días con datos, agregado por conjunto. Generación = demanda (medidor solar) - importación + exportación (medidor de red), el mismo balance que reproduce exactamente la 1.ª quincena. Promedio simple de los 7 conjuntos: 1.103 kWh/kWp/año. Portón Rivera tiene 22 días con datos (sin cierres del 19 al 26 sep).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29 viviendas en banda alta y 10 en media. Ninguna vivienda queda por debajo del 60%. Casa 18PR se calcula con 22 días de datos.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Demanda = consumo medido por el medidor solar. Energía cubierta por solar = demanda - importación + exportación del medidor de red. La cobertura del mes (63,1%) es similar a la de la 1.ª quincena (62,7%).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SOC promedio = promedio de los promedios horarios de BattSOC del inversor en el mes. Casa 78T ya reporta SOC (44,5%) y entra al indicador: las 39 viviendas tienen lectura.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Franjas: diurno 06:00-17:59 y nocturno 18:00-05:59, calculadas con las lecturas cada 15 minutos del registro de energía importada del medidor de red de las 39 viviendas. La suma de ambas franjas coincide con la importación del mes por cierres diarios (diferencia &lt; 0,3%).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Exportación = registro de energía activa exportada (CenergyAE) del medidor de red, la misma variable que cierra el balance de generación. El total de la 1.ª quincena (104,2 kWh) venía de otra fuente que no corresponde a ninguna variable de Metrum; con esta variable la 1.ª quincena suma 18,1 kWh.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Casa 30 no tiene línea base de diseño. Portón Rivera se normaliza a 30 días porque no tiene cierres diarios del 19 al 26 sep.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La semana 1 recalculada (5.897 kWh) coincide exactamente con la del reporte de la 1.ª quincena, lo que valida el método. La semana 2 del archivo de seguimiento (7.534 kWh) no se reproduce con los datos de Metrum.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Variación = consumo diario promedio 16-30 sep frente a 01-15 sep, por vivienda. Reemplaza la desviación por vivienda frente al diseño porque la línea base semanal por vivienda no está disponible en Metrum; se retoma cuando se reciba ese archivo.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Efectividad = (tiempo de interrupción del OR, medidor de red - tiempo sin energía del medidor solar) / tiempo de interrupción del OR, sumado sobre las 39 viviendas (107,9 h de red y 102,0 h de respaldo). No se excluye ninguna vivienda. Los cortes separados por menos de 15 min se agrupan en un evento.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 de respaldo = (tiempo de interrupción del OR - tiempo sin energía en el medidor solar) / tiempo de interrupción del OR, por vivienda, sumando todos los eventos de septiembre.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Revisado contra los eventos de los inversores en Metrum. Los Deye no publican códigos de falla en la plataforma, así que el registro de campo sigue siendo la fuente para esa marca.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rPr lang="en-US" dirty="0"/>
              <a:t>Conteo acumulado del proyecto desde junio de 2026.</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Generación neta = consumo del medidor solar - importación + exportación del medidor de red, sumada sobre los días con cierres completos de septiembre.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Anomalías detectadas al recalcular septiembre desde la telemetría cruda de Metrum.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Casos priorizados por impacto en la confiabilidad del reporte y en la operación.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t>Cierre del reporte del mes de septiembre 2026.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4.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6.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548640" y="1051560"/>
            <a:ext cx="5486400" cy="365760"/>
          </a:xfrm>
          <a:prstGeom prst="rect">
            <a:avLst/>
          </a:prstGeom>
          <a:noFill/>
          <a:ln/>
        </p:spPr>
        <p:txBody>
          <a:bodyPr wrap="square" lIns="0" tIns="0" rIns="0" bIns="0" rtlCol="0" anchor="ctr"/>
          <a:lstStyle/>
          <a:p>
            <a:pPr marL="0" indent="0">
              <a:buNone/>
            </a:pPr>
            <a:r>
              <a:rPr lang="es-CO" sz="1700" b="1" kern="0" spc="300" noProof="0" dirty="0">
                <a:solidFill>
                  <a:srgbClr val="F5A623"/>
                </a:solidFill>
                <a:latin typeface="Calibri" pitchFamily="34" charset="0"/>
                <a:ea typeface="Calibri" pitchFamily="34" charset="-122"/>
                <a:cs typeface="Calibri" pitchFamily="34" charset="-120"/>
              </a:rPr>
              <a:t>PROYECTO</a:t>
            </a:r>
            <a:endParaRPr lang="es-CO" sz="1700" noProof="0" dirty="0"/>
          </a:p>
        </p:txBody>
      </p:sp>
      <p:sp>
        <p:nvSpPr>
          <p:cNvPr id="3" name="Text 1"/>
          <p:cNvSpPr/>
          <p:nvPr/>
        </p:nvSpPr>
        <p:spPr>
          <a:xfrm>
            <a:off x="548640" y="1417320"/>
            <a:ext cx="5486400" cy="777240"/>
          </a:xfrm>
          <a:prstGeom prst="rect">
            <a:avLst/>
          </a:prstGeom>
          <a:noFill/>
          <a:ln/>
        </p:spPr>
        <p:txBody>
          <a:bodyPr wrap="square" lIns="0" tIns="0" rIns="0" bIns="0" rtlCol="0" anchor="ctr"/>
          <a:lstStyle/>
          <a:p>
            <a:pPr marL="0" indent="0">
              <a:buNone/>
            </a:pPr>
            <a:r>
              <a:rPr lang="es-CO" sz="5200" b="1" noProof="0" dirty="0">
                <a:solidFill>
                  <a:srgbClr val="FFFFFF"/>
                </a:solidFill>
                <a:latin typeface="Calibri" pitchFamily="34" charset="0"/>
                <a:ea typeface="Calibri" pitchFamily="34" charset="-122"/>
                <a:cs typeface="Calibri" pitchFamily="34" charset="-120"/>
              </a:rPr>
              <a:t>SUNNY</a:t>
            </a:r>
            <a:endParaRPr lang="es-CO" sz="5200" noProof="0" dirty="0"/>
          </a:p>
        </p:txBody>
      </p:sp>
      <p:sp>
        <p:nvSpPr>
          <p:cNvPr id="4" name="Text 2"/>
          <p:cNvSpPr/>
          <p:nvPr/>
        </p:nvSpPr>
        <p:spPr>
          <a:xfrm>
            <a:off x="548640" y="2286000"/>
            <a:ext cx="6400800" cy="365760"/>
          </a:xfrm>
          <a:prstGeom prst="rect">
            <a:avLst/>
          </a:prstGeom>
          <a:noFill/>
          <a:ln/>
        </p:spPr>
        <p:txBody>
          <a:bodyPr wrap="square" lIns="0" tIns="0" rIns="0" bIns="0" rtlCol="0" anchor="ctr"/>
          <a:lstStyle/>
          <a:p>
            <a:pPr marL="0" indent="0">
              <a:buNone/>
            </a:pPr>
            <a:r>
              <a:rPr lang="es-CO" sz="1700" noProof="0" dirty="0">
                <a:solidFill>
                  <a:srgbClr val="FFFFFF"/>
                </a:solidFill>
                <a:latin typeface="Calibri" pitchFamily="34" charset="0"/>
                <a:ea typeface="Calibri" pitchFamily="34" charset="-122"/>
                <a:cs typeface="Calibri" pitchFamily="34" charset="-120"/>
              </a:rPr>
              <a:t>Reporte Operativo de O&amp;M</a:t>
            </a:r>
            <a:endParaRPr lang="es-CO" sz="1700" noProof="0" dirty="0"/>
          </a:p>
        </p:txBody>
      </p:sp>
      <p:sp>
        <p:nvSpPr>
          <p:cNvPr id="5" name="Text 3"/>
          <p:cNvSpPr/>
          <p:nvPr/>
        </p:nvSpPr>
        <p:spPr>
          <a:xfrm>
            <a:off x="548640" y="2697480"/>
            <a:ext cx="8046720" cy="320040"/>
          </a:xfrm>
          <a:prstGeom prst="rect">
            <a:avLst/>
          </a:prstGeom>
          <a:noFill/>
          <a:ln/>
        </p:spPr>
        <p:txBody>
          <a:bodyPr wrap="square" lIns="0" tIns="0" rIns="0" bIns="0" rtlCol="0" anchor="ctr"/>
          <a:lstStyle/>
          <a:p>
            <a:pPr marL="0" indent="0">
              <a:buNone/>
            </a:pPr>
            <a:r>
              <a:rPr lang="es-CO" sz="1150" noProof="0" dirty="0">
                <a:solidFill>
                  <a:srgbClr val="F5A623"/>
                </a:solidFill>
                <a:latin typeface="Calibri" pitchFamily="34" charset="0"/>
                <a:ea typeface="Calibri" pitchFamily="34" charset="-122"/>
                <a:cs typeface="Calibri" pitchFamily="34" charset="-120"/>
              </a:rPr>
              <a:t>01 - 30 Sep. 2026 (30 días)   ·   39 casas con reporte energético   ·   202,3 kWp   ·   7 conjuntos</a:t>
            </a:r>
            <a:endParaRPr lang="es-CO" sz="1150" noProof="0" dirty="0"/>
          </a:p>
        </p:txBody>
      </p:sp>
      <p:sp>
        <p:nvSpPr>
          <p:cNvPr id="6" name="Shape 4"/>
          <p:cNvSpPr/>
          <p:nvPr/>
        </p:nvSpPr>
        <p:spPr>
          <a:xfrm>
            <a:off x="548640" y="3703320"/>
            <a:ext cx="1377086"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7" name="Text 5"/>
          <p:cNvSpPr/>
          <p:nvPr/>
        </p:nvSpPr>
        <p:spPr>
          <a:xfrm>
            <a:off x="548640" y="3703320"/>
            <a:ext cx="1377086"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Reservas de Pance</a:t>
            </a:r>
            <a:endParaRPr lang="es-CO" sz="800" noProof="0" dirty="0"/>
          </a:p>
        </p:txBody>
      </p:sp>
      <p:sp>
        <p:nvSpPr>
          <p:cNvPr id="8" name="Shape 6"/>
          <p:cNvSpPr/>
          <p:nvPr/>
        </p:nvSpPr>
        <p:spPr>
          <a:xfrm>
            <a:off x="2035454" y="3703320"/>
            <a:ext cx="949147"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9" name="Text 7"/>
          <p:cNvSpPr/>
          <p:nvPr/>
        </p:nvSpPr>
        <p:spPr>
          <a:xfrm>
            <a:off x="2035454" y="3703320"/>
            <a:ext cx="949147"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Prado Verde</a:t>
            </a:r>
            <a:endParaRPr lang="es-CO" sz="800" noProof="0" dirty="0"/>
          </a:p>
        </p:txBody>
      </p:sp>
      <p:sp>
        <p:nvSpPr>
          <p:cNvPr id="10" name="Shape 8"/>
          <p:cNvSpPr/>
          <p:nvPr/>
        </p:nvSpPr>
        <p:spPr>
          <a:xfrm>
            <a:off x="3094330" y="3703320"/>
            <a:ext cx="1091794"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11" name="Text 9"/>
          <p:cNvSpPr/>
          <p:nvPr/>
        </p:nvSpPr>
        <p:spPr>
          <a:xfrm>
            <a:off x="3094330" y="3703320"/>
            <a:ext cx="1091794"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Terra by Kaia</a:t>
            </a:r>
            <a:endParaRPr lang="es-CO" sz="800" noProof="0" dirty="0"/>
          </a:p>
        </p:txBody>
      </p:sp>
      <p:sp>
        <p:nvSpPr>
          <p:cNvPr id="12" name="Shape 10"/>
          <p:cNvSpPr/>
          <p:nvPr/>
        </p:nvSpPr>
        <p:spPr>
          <a:xfrm>
            <a:off x="4295851" y="3703320"/>
            <a:ext cx="806501"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13" name="Text 11"/>
          <p:cNvSpPr/>
          <p:nvPr/>
        </p:nvSpPr>
        <p:spPr>
          <a:xfrm>
            <a:off x="4295851" y="3703320"/>
            <a:ext cx="806501"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Terranova</a:t>
            </a:r>
            <a:endParaRPr lang="es-CO" sz="800" noProof="0" dirty="0"/>
          </a:p>
        </p:txBody>
      </p:sp>
      <p:sp>
        <p:nvSpPr>
          <p:cNvPr id="14" name="Shape 12"/>
          <p:cNvSpPr/>
          <p:nvPr/>
        </p:nvSpPr>
        <p:spPr>
          <a:xfrm>
            <a:off x="5212080" y="3703320"/>
            <a:ext cx="1020470"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15" name="Text 13"/>
          <p:cNvSpPr/>
          <p:nvPr/>
        </p:nvSpPr>
        <p:spPr>
          <a:xfrm>
            <a:off x="5212080" y="3703320"/>
            <a:ext cx="1020470"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Los Abedules</a:t>
            </a:r>
            <a:endParaRPr lang="es-CO" sz="800" noProof="0" dirty="0"/>
          </a:p>
        </p:txBody>
      </p:sp>
      <p:sp>
        <p:nvSpPr>
          <p:cNvPr id="16" name="Shape 14"/>
          <p:cNvSpPr/>
          <p:nvPr/>
        </p:nvSpPr>
        <p:spPr>
          <a:xfrm>
            <a:off x="6342278" y="3703320"/>
            <a:ext cx="1091794"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17" name="Text 15"/>
          <p:cNvSpPr/>
          <p:nvPr/>
        </p:nvSpPr>
        <p:spPr>
          <a:xfrm>
            <a:off x="6342278" y="3703320"/>
            <a:ext cx="1091794"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Portón Rivera</a:t>
            </a:r>
            <a:endParaRPr lang="es-CO" sz="800" noProof="0" dirty="0"/>
          </a:p>
        </p:txBody>
      </p:sp>
      <p:sp>
        <p:nvSpPr>
          <p:cNvPr id="18" name="Shape 16"/>
          <p:cNvSpPr/>
          <p:nvPr/>
        </p:nvSpPr>
        <p:spPr>
          <a:xfrm>
            <a:off x="7543800" y="3703320"/>
            <a:ext cx="1234440" cy="310896"/>
          </a:xfrm>
          <a:prstGeom prst="roundRect">
            <a:avLst>
              <a:gd name="adj" fmla="val 50000"/>
            </a:avLst>
          </a:prstGeom>
          <a:solidFill>
            <a:srgbClr val="2B5BA3"/>
          </a:solidFill>
          <a:ln w="12700">
            <a:solidFill>
              <a:srgbClr val="2B5BA3"/>
            </a:solidFill>
            <a:prstDash val="solid"/>
          </a:ln>
        </p:spPr>
        <p:txBody>
          <a:bodyPr/>
          <a:lstStyle/>
          <a:p>
            <a:endParaRPr lang="es-CO" noProof="0" dirty="0"/>
          </a:p>
        </p:txBody>
      </p:sp>
      <p:sp>
        <p:nvSpPr>
          <p:cNvPr id="19" name="Text 17"/>
          <p:cNvSpPr/>
          <p:nvPr/>
        </p:nvSpPr>
        <p:spPr>
          <a:xfrm>
            <a:off x="7543800" y="3703320"/>
            <a:ext cx="1234440" cy="310896"/>
          </a:xfrm>
          <a:prstGeom prst="rect">
            <a:avLst/>
          </a:prstGeom>
          <a:noFill/>
          <a:ln/>
        </p:spPr>
        <p:txBody>
          <a:bodyPr wrap="square" lIns="0" tIns="0" rIns="0" bIns="0" rtlCol="0" anchor="ctr"/>
          <a:lstStyle/>
          <a:p>
            <a:pPr marL="0" indent="0" algn="ctr">
              <a:buNone/>
            </a:pPr>
            <a:r>
              <a:rPr lang="es-CO" sz="800" noProof="0" dirty="0">
                <a:solidFill>
                  <a:srgbClr val="FFFFFF"/>
                </a:solidFill>
                <a:latin typeface="Calibri" pitchFamily="34" charset="0"/>
                <a:ea typeface="Calibri" pitchFamily="34" charset="-122"/>
                <a:cs typeface="Calibri" pitchFamily="34" charset="-120"/>
              </a:rPr>
              <a:t>Llanos de Pance</a:t>
            </a:r>
            <a:endParaRPr lang="es-CO" sz="800" noProof="0" dirty="0"/>
          </a:p>
        </p:txBody>
      </p:sp>
      <p:sp>
        <p:nvSpPr>
          <p:cNvPr id="20" name="Text 18"/>
          <p:cNvSpPr/>
          <p:nvPr/>
        </p:nvSpPr>
        <p:spPr>
          <a:xfrm>
            <a:off x="548640" y="4617720"/>
            <a:ext cx="6400800" cy="228600"/>
          </a:xfrm>
          <a:prstGeom prst="rect">
            <a:avLst/>
          </a:prstGeom>
          <a:noFill/>
          <a:ln/>
        </p:spPr>
        <p:txBody>
          <a:bodyPr wrap="square" lIns="0" tIns="0" rIns="0" bIns="0" rtlCol="0" anchor="ctr"/>
          <a:lstStyle/>
          <a:p>
            <a:pPr marL="0" indent="0">
              <a:buNone/>
            </a:pPr>
            <a:r>
              <a:rPr lang="es-CO" sz="900" noProof="0" dirty="0">
                <a:solidFill>
                  <a:srgbClr val="9FB3D9"/>
                </a:solidFill>
                <a:latin typeface="Calibri" pitchFamily="34" charset="0"/>
                <a:ea typeface="Calibri" pitchFamily="34" charset="-122"/>
                <a:cs typeface="Calibri" pitchFamily="34" charset="-120"/>
              </a:rPr>
              <a:t>Promigas S.A. E.S.P.  · Operación y Mantenimiento Solar</a:t>
            </a:r>
            <a:endParaRPr lang="es-CO" sz="9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Proyecto Sunny   —   ALCANCE DEL MES</a:t>
            </a:r>
            <a:endParaRPr lang="es-CO" sz="1900" noProof="0" dirty="0"/>
          </a:p>
        </p:txBody>
      </p:sp>
      <p:sp>
        <p:nvSpPr>
          <p:cNvPr id="5" name="Text 3"/>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6" name="Text 4"/>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2</a:t>
            </a:r>
            <a:endParaRPr lang="es-CO" sz="800" noProof="0" dirty="0"/>
          </a:p>
        </p:txBody>
      </p:sp>
      <p:sp>
        <p:nvSpPr>
          <p:cNvPr id="7" name="Shape 5"/>
          <p:cNvSpPr/>
          <p:nvPr/>
        </p:nvSpPr>
        <p:spPr>
          <a:xfrm>
            <a:off x="365760" y="1234440"/>
            <a:ext cx="4069080" cy="1417320"/>
          </a:xfrm>
          <a:prstGeom prst="rect">
            <a:avLst/>
          </a:prstGeom>
          <a:solidFill>
            <a:srgbClr val="F7F9FC"/>
          </a:solidFill>
          <a:ln w="9525">
            <a:solidFill>
              <a:srgbClr val="E3E7EA"/>
            </a:solidFill>
            <a:prstDash val="solid"/>
          </a:ln>
        </p:spPr>
        <p:txBody>
          <a:bodyPr/>
          <a:lstStyle/>
          <a:p>
            <a:endParaRPr lang="es-CO" noProof="0" dirty="0"/>
          </a:p>
        </p:txBody>
      </p:sp>
      <p:sp>
        <p:nvSpPr>
          <p:cNvPr id="8" name="Text 6"/>
          <p:cNvSpPr/>
          <p:nvPr/>
        </p:nvSpPr>
        <p:spPr>
          <a:xfrm>
            <a:off x="548640" y="1399032"/>
            <a:ext cx="457200" cy="365760"/>
          </a:xfrm>
          <a:prstGeom prst="rect">
            <a:avLst/>
          </a:prstGeom>
          <a:noFill/>
          <a:ln/>
        </p:spPr>
        <p:txBody>
          <a:bodyPr wrap="square" lIns="0" tIns="0" rIns="0" bIns="0" rtlCol="0" anchor="ctr"/>
          <a:lstStyle/>
          <a:p>
            <a:pPr marL="0" indent="0">
              <a:buNone/>
            </a:pPr>
            <a:r>
              <a:rPr lang="es-CO" sz="2200" noProof="0" dirty="0">
                <a:solidFill>
                  <a:srgbClr val="000000"/>
                </a:solidFill>
                <a:latin typeface="Calibri" pitchFamily="34" charset="0"/>
                <a:ea typeface="Calibri" pitchFamily="34" charset="-122"/>
                <a:cs typeface="Calibri" pitchFamily="34" charset="-120"/>
              </a:rPr>
              <a:t>🏠</a:t>
            </a:r>
            <a:endParaRPr lang="es-CO" sz="2200" noProof="0" dirty="0"/>
          </a:p>
        </p:txBody>
      </p:sp>
      <p:sp>
        <p:nvSpPr>
          <p:cNvPr id="9" name="Text 7"/>
          <p:cNvSpPr/>
          <p:nvPr/>
        </p:nvSpPr>
        <p:spPr>
          <a:xfrm>
            <a:off x="1143000" y="1417320"/>
            <a:ext cx="3154680" cy="274320"/>
          </a:xfrm>
          <a:prstGeom prst="rect">
            <a:avLst/>
          </a:prstGeom>
          <a:noFill/>
          <a:ln/>
        </p:spPr>
        <p:txBody>
          <a:bodyPr wrap="square" lIns="0" tIns="0" rIns="0" bIns="0" rtlCol="0" anchor="ctr"/>
          <a:lstStyle/>
          <a:p>
            <a:pPr marL="0" indent="0">
              <a:buNone/>
            </a:pPr>
            <a:r>
              <a:rPr lang="es-CO" sz="1000" b="1" noProof="0" dirty="0">
                <a:solidFill>
                  <a:srgbClr val="7F8C8D"/>
                </a:solidFill>
                <a:latin typeface="Calibri" pitchFamily="34" charset="0"/>
                <a:ea typeface="Calibri" pitchFamily="34" charset="-122"/>
                <a:cs typeface="Calibri" pitchFamily="34" charset="-120"/>
              </a:rPr>
              <a:t>Sistemas evaluados</a:t>
            </a:r>
            <a:endParaRPr lang="es-CO" sz="1000" noProof="0" dirty="0"/>
          </a:p>
        </p:txBody>
      </p:sp>
      <p:sp>
        <p:nvSpPr>
          <p:cNvPr id="10" name="Text 8"/>
          <p:cNvSpPr/>
          <p:nvPr/>
        </p:nvSpPr>
        <p:spPr>
          <a:xfrm>
            <a:off x="548640" y="1801368"/>
            <a:ext cx="3703320" cy="384048"/>
          </a:xfrm>
          <a:prstGeom prst="rect">
            <a:avLst/>
          </a:prstGeom>
          <a:noFill/>
          <a:ln/>
        </p:spPr>
        <p:txBody>
          <a:bodyPr wrap="square" lIns="0" tIns="0" rIns="0" bIns="0" rtlCol="0" anchor="ctr"/>
          <a:lstStyle/>
          <a:p>
            <a:pPr marL="0" indent="0">
              <a:buNone/>
            </a:pPr>
            <a:r>
              <a:rPr lang="es-CO" sz="2000" b="1" noProof="0" dirty="0">
                <a:solidFill>
                  <a:srgbClr val="1B3A6B"/>
                </a:solidFill>
                <a:latin typeface="Calibri" pitchFamily="34" charset="0"/>
                <a:ea typeface="Calibri" pitchFamily="34" charset="-122"/>
                <a:cs typeface="Calibri" pitchFamily="34" charset="-120"/>
              </a:rPr>
              <a:t>39 de 47</a:t>
            </a:r>
            <a:endParaRPr lang="es-CO" sz="2000" noProof="0" dirty="0"/>
          </a:p>
        </p:txBody>
      </p:sp>
      <p:sp>
        <p:nvSpPr>
          <p:cNvPr id="11" name="Text 9"/>
          <p:cNvSpPr/>
          <p:nvPr/>
        </p:nvSpPr>
        <p:spPr>
          <a:xfrm>
            <a:off x="548640" y="2221992"/>
            <a:ext cx="3703320" cy="365760"/>
          </a:xfrm>
          <a:prstGeom prst="rect">
            <a:avLst/>
          </a:prstGeom>
          <a:noFill/>
          <a:ln/>
        </p:spPr>
        <p:txBody>
          <a:bodyPr wrap="square" lIns="0" tIns="0" rIns="0" bIns="0" rtlCol="0" anchor="ctr"/>
          <a:lstStyle/>
          <a:p>
            <a:pPr marL="0" indent="0">
              <a:buNone/>
            </a:pPr>
            <a:r>
              <a:rPr lang="es-CO" sz="900" noProof="0" dirty="0">
                <a:solidFill>
                  <a:srgbClr val="7F8C8D"/>
                </a:solidFill>
                <a:latin typeface="Calibri" pitchFamily="34" charset="0"/>
                <a:ea typeface="Calibri" pitchFamily="34" charset="-122"/>
                <a:cs typeface="Calibri" pitchFamily="34" charset="-120"/>
              </a:rPr>
              <a:t>8 excluidos, los mismos de la 1.ª quincena: puesta en marcha reciente o anomalía de medición</a:t>
            </a:r>
            <a:endParaRPr lang="es-CO" sz="900" noProof="0" dirty="0"/>
          </a:p>
        </p:txBody>
      </p:sp>
      <p:sp>
        <p:nvSpPr>
          <p:cNvPr id="12" name="Shape 10"/>
          <p:cNvSpPr/>
          <p:nvPr/>
        </p:nvSpPr>
        <p:spPr>
          <a:xfrm>
            <a:off x="4709160" y="1234440"/>
            <a:ext cx="4069080" cy="1417320"/>
          </a:xfrm>
          <a:prstGeom prst="rect">
            <a:avLst/>
          </a:prstGeom>
          <a:solidFill>
            <a:srgbClr val="F7F9FC"/>
          </a:solidFill>
          <a:ln w="9525">
            <a:solidFill>
              <a:srgbClr val="E3E7EA"/>
            </a:solidFill>
            <a:prstDash val="solid"/>
          </a:ln>
        </p:spPr>
        <p:txBody>
          <a:bodyPr/>
          <a:lstStyle/>
          <a:p>
            <a:endParaRPr lang="es-CO" noProof="0" dirty="0"/>
          </a:p>
        </p:txBody>
      </p:sp>
      <p:sp>
        <p:nvSpPr>
          <p:cNvPr id="13" name="Text 11"/>
          <p:cNvSpPr/>
          <p:nvPr/>
        </p:nvSpPr>
        <p:spPr>
          <a:xfrm>
            <a:off x="4892040" y="1399032"/>
            <a:ext cx="457200" cy="365760"/>
          </a:xfrm>
          <a:prstGeom prst="rect">
            <a:avLst/>
          </a:prstGeom>
          <a:noFill/>
          <a:ln/>
        </p:spPr>
        <p:txBody>
          <a:bodyPr wrap="square" lIns="0" tIns="0" rIns="0" bIns="0" rtlCol="0" anchor="ctr"/>
          <a:lstStyle/>
          <a:p>
            <a:pPr marL="0" indent="0">
              <a:buNone/>
            </a:pPr>
            <a:r>
              <a:rPr lang="es-CO" sz="2200" noProof="0" dirty="0">
                <a:solidFill>
                  <a:srgbClr val="000000"/>
                </a:solidFill>
                <a:latin typeface="Calibri" pitchFamily="34" charset="0"/>
                <a:ea typeface="Calibri" pitchFamily="34" charset="-122"/>
                <a:cs typeface="Calibri" pitchFamily="34" charset="-120"/>
              </a:rPr>
              <a:t>⚡</a:t>
            </a:r>
            <a:endParaRPr lang="es-CO" sz="2200" noProof="0" dirty="0"/>
          </a:p>
        </p:txBody>
      </p:sp>
      <p:sp>
        <p:nvSpPr>
          <p:cNvPr id="14" name="Text 12"/>
          <p:cNvSpPr/>
          <p:nvPr/>
        </p:nvSpPr>
        <p:spPr>
          <a:xfrm>
            <a:off x="5486400" y="1417320"/>
            <a:ext cx="3154680" cy="274320"/>
          </a:xfrm>
          <a:prstGeom prst="rect">
            <a:avLst/>
          </a:prstGeom>
          <a:noFill/>
          <a:ln/>
        </p:spPr>
        <p:txBody>
          <a:bodyPr wrap="square" lIns="0" tIns="0" rIns="0" bIns="0" rtlCol="0" anchor="ctr"/>
          <a:lstStyle/>
          <a:p>
            <a:pPr marL="0" indent="0">
              <a:buNone/>
            </a:pPr>
            <a:r>
              <a:rPr lang="es-CO" sz="1000" b="1" noProof="0" dirty="0">
                <a:solidFill>
                  <a:srgbClr val="7F8C8D"/>
                </a:solidFill>
                <a:latin typeface="Calibri" pitchFamily="34" charset="0"/>
                <a:ea typeface="Calibri" pitchFamily="34" charset="-122"/>
                <a:cs typeface="Calibri" pitchFamily="34" charset="-120"/>
              </a:rPr>
              <a:t>Capacidad instalada</a:t>
            </a:r>
            <a:endParaRPr lang="es-CO" sz="1000" noProof="0" dirty="0"/>
          </a:p>
        </p:txBody>
      </p:sp>
      <p:sp>
        <p:nvSpPr>
          <p:cNvPr id="15" name="Text 13"/>
          <p:cNvSpPr/>
          <p:nvPr/>
        </p:nvSpPr>
        <p:spPr>
          <a:xfrm>
            <a:off x="4892040" y="1801368"/>
            <a:ext cx="3703320" cy="384048"/>
          </a:xfrm>
          <a:prstGeom prst="rect">
            <a:avLst/>
          </a:prstGeom>
          <a:noFill/>
          <a:ln/>
        </p:spPr>
        <p:txBody>
          <a:bodyPr wrap="square" lIns="0" tIns="0" rIns="0" bIns="0" rtlCol="0" anchor="ctr"/>
          <a:lstStyle/>
          <a:p>
            <a:pPr marL="0" indent="0">
              <a:buNone/>
            </a:pPr>
            <a:r>
              <a:rPr lang="es-CO" sz="2000" b="1" noProof="0" dirty="0">
                <a:solidFill>
                  <a:srgbClr val="1B3A6B"/>
                </a:solidFill>
                <a:latin typeface="Calibri" pitchFamily="34" charset="0"/>
                <a:ea typeface="Calibri" pitchFamily="34" charset="-122"/>
                <a:cs typeface="Calibri" pitchFamily="34" charset="-120"/>
              </a:rPr>
              <a:t>202,3 kWp</a:t>
            </a:r>
            <a:endParaRPr lang="es-CO" sz="2000" noProof="0" dirty="0"/>
          </a:p>
        </p:txBody>
      </p:sp>
      <p:sp>
        <p:nvSpPr>
          <p:cNvPr id="16" name="Text 14"/>
          <p:cNvSpPr/>
          <p:nvPr/>
        </p:nvSpPr>
        <p:spPr>
          <a:xfrm>
            <a:off x="4892040" y="2221992"/>
            <a:ext cx="3703320" cy="365760"/>
          </a:xfrm>
          <a:prstGeom prst="rect">
            <a:avLst/>
          </a:prstGeom>
          <a:noFill/>
          <a:ln/>
        </p:spPr>
        <p:txBody>
          <a:bodyPr wrap="square" lIns="0" tIns="0" rIns="0" bIns="0" rtlCol="0" anchor="ctr"/>
          <a:lstStyle/>
          <a:p>
            <a:pPr marL="0" indent="0">
              <a:buNone/>
            </a:pPr>
            <a:r>
              <a:rPr lang="es-CO" sz="900" noProof="0" dirty="0">
                <a:solidFill>
                  <a:srgbClr val="7F8C8D"/>
                </a:solidFill>
                <a:latin typeface="Calibri" pitchFamily="34" charset="0"/>
                <a:ea typeface="Calibri" pitchFamily="34" charset="-122"/>
                <a:cs typeface="Calibri" pitchFamily="34" charset="-120"/>
              </a:rPr>
              <a:t>Potencia pico DC · híbridos FV + BESS on-grid</a:t>
            </a:r>
            <a:endParaRPr lang="es-CO" sz="900" noProof="0" dirty="0"/>
          </a:p>
        </p:txBody>
      </p:sp>
      <p:sp>
        <p:nvSpPr>
          <p:cNvPr id="22" name="Shape 20"/>
          <p:cNvSpPr/>
          <p:nvPr/>
        </p:nvSpPr>
        <p:spPr>
          <a:xfrm>
            <a:off x="365760" y="2862072"/>
            <a:ext cx="4069080" cy="1417320"/>
          </a:xfrm>
          <a:prstGeom prst="rect">
            <a:avLst/>
          </a:prstGeom>
          <a:solidFill>
            <a:srgbClr val="F7F9FC"/>
          </a:solidFill>
          <a:ln w="9525">
            <a:solidFill>
              <a:srgbClr val="E3E7EA"/>
            </a:solidFill>
            <a:prstDash val="solid"/>
          </a:ln>
        </p:spPr>
        <p:txBody>
          <a:bodyPr/>
          <a:lstStyle/>
          <a:p>
            <a:endParaRPr lang="es-CO" noProof="0" dirty="0"/>
          </a:p>
        </p:txBody>
      </p:sp>
      <p:sp>
        <p:nvSpPr>
          <p:cNvPr id="23" name="Text 21"/>
          <p:cNvSpPr/>
          <p:nvPr/>
        </p:nvSpPr>
        <p:spPr>
          <a:xfrm>
            <a:off x="548640" y="3026664"/>
            <a:ext cx="457200" cy="365760"/>
          </a:xfrm>
          <a:prstGeom prst="rect">
            <a:avLst/>
          </a:prstGeom>
          <a:noFill/>
          <a:ln/>
        </p:spPr>
        <p:txBody>
          <a:bodyPr wrap="square" lIns="0" tIns="0" rIns="0" bIns="0" rtlCol="0" anchor="ctr"/>
          <a:lstStyle/>
          <a:p>
            <a:pPr marL="0" indent="0">
              <a:buNone/>
            </a:pPr>
            <a:r>
              <a:rPr lang="es-CO" sz="2200" noProof="0" dirty="0">
                <a:solidFill>
                  <a:srgbClr val="000000"/>
                </a:solidFill>
                <a:latin typeface="Calibri" pitchFamily="34" charset="0"/>
                <a:ea typeface="Calibri" pitchFamily="34" charset="-122"/>
                <a:cs typeface="Calibri" pitchFamily="34" charset="-120"/>
              </a:rPr>
              <a:t>🏘</a:t>
            </a:r>
            <a:endParaRPr lang="es-CO" sz="2200" noProof="0" dirty="0"/>
          </a:p>
        </p:txBody>
      </p:sp>
      <p:sp>
        <p:nvSpPr>
          <p:cNvPr id="24" name="Text 22"/>
          <p:cNvSpPr/>
          <p:nvPr/>
        </p:nvSpPr>
        <p:spPr>
          <a:xfrm>
            <a:off x="1143000" y="3044952"/>
            <a:ext cx="3154680" cy="274320"/>
          </a:xfrm>
          <a:prstGeom prst="rect">
            <a:avLst/>
          </a:prstGeom>
          <a:noFill/>
          <a:ln/>
        </p:spPr>
        <p:txBody>
          <a:bodyPr wrap="square" lIns="0" tIns="0" rIns="0" bIns="0" rtlCol="0" anchor="ctr"/>
          <a:lstStyle/>
          <a:p>
            <a:pPr marL="0" indent="0">
              <a:buNone/>
            </a:pPr>
            <a:r>
              <a:rPr lang="es-CO" sz="1000" b="1" noProof="0" dirty="0">
                <a:solidFill>
                  <a:srgbClr val="7F8C8D"/>
                </a:solidFill>
                <a:latin typeface="Calibri" pitchFamily="34" charset="0"/>
                <a:ea typeface="Calibri" pitchFamily="34" charset="-122"/>
                <a:cs typeface="Calibri" pitchFamily="34" charset="-120"/>
              </a:rPr>
              <a:t>Conjuntos monitoreados</a:t>
            </a:r>
            <a:endParaRPr lang="es-CO" sz="1000" noProof="0" dirty="0"/>
          </a:p>
        </p:txBody>
      </p:sp>
      <p:sp>
        <p:nvSpPr>
          <p:cNvPr id="25" name="Text 23"/>
          <p:cNvSpPr/>
          <p:nvPr/>
        </p:nvSpPr>
        <p:spPr>
          <a:xfrm>
            <a:off x="548640" y="3429000"/>
            <a:ext cx="3703320" cy="384048"/>
          </a:xfrm>
          <a:prstGeom prst="rect">
            <a:avLst/>
          </a:prstGeom>
          <a:noFill/>
          <a:ln/>
        </p:spPr>
        <p:txBody>
          <a:bodyPr wrap="square" lIns="0" tIns="0" rIns="0" bIns="0" rtlCol="0" anchor="ctr"/>
          <a:lstStyle/>
          <a:p>
            <a:pPr marL="0" indent="0">
              <a:buNone/>
            </a:pPr>
            <a:r>
              <a:rPr lang="es-CO" sz="2000" b="1" noProof="0" dirty="0">
                <a:solidFill>
                  <a:srgbClr val="1B3A6B"/>
                </a:solidFill>
                <a:latin typeface="Calibri" pitchFamily="34" charset="0"/>
                <a:ea typeface="Calibri" pitchFamily="34" charset="-122"/>
                <a:cs typeface="Calibri" pitchFamily="34" charset="-120"/>
              </a:rPr>
              <a:t>7 conjuntos</a:t>
            </a:r>
            <a:endParaRPr lang="es-CO" sz="2000" noProof="0" dirty="0"/>
          </a:p>
        </p:txBody>
      </p:sp>
      <p:sp>
        <p:nvSpPr>
          <p:cNvPr id="26" name="Text 24"/>
          <p:cNvSpPr/>
          <p:nvPr/>
        </p:nvSpPr>
        <p:spPr>
          <a:xfrm>
            <a:off x="548640" y="3849624"/>
            <a:ext cx="3703320" cy="365760"/>
          </a:xfrm>
          <a:prstGeom prst="rect">
            <a:avLst/>
          </a:prstGeom>
          <a:noFill/>
          <a:ln/>
        </p:spPr>
        <p:txBody>
          <a:bodyPr wrap="square" lIns="0" tIns="0" rIns="0" bIns="0" rtlCol="0" anchor="ctr"/>
          <a:lstStyle/>
          <a:p>
            <a:pPr marL="0" indent="0">
              <a:buNone/>
            </a:pPr>
            <a:r>
              <a:rPr lang="es-CO" sz="900" noProof="0" dirty="0">
                <a:solidFill>
                  <a:srgbClr val="7F8C8D"/>
                </a:solidFill>
                <a:latin typeface="Calibri" pitchFamily="34" charset="0"/>
                <a:ea typeface="Calibri" pitchFamily="34" charset="-122"/>
                <a:cs typeface="Calibri" pitchFamily="34" charset="-120"/>
              </a:rPr>
              <a:t>Pance (22) · Prado Verde (10) · Terra (3) · 4 de 1 casa</a:t>
            </a:r>
            <a:endParaRPr lang="es-CO" sz="9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Resumen Ejecutivo   —   KPIs del Mes</a:t>
            </a:r>
            <a:endParaRPr lang="es-CO" sz="1900" noProof="0" dirty="0"/>
          </a:p>
        </p:txBody>
      </p:sp>
      <p:sp>
        <p:nvSpPr>
          <p:cNvPr id="5" name="Text 3"/>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6" name="Text 4"/>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3</a:t>
            </a:r>
            <a:endParaRPr lang="es-CO" sz="800" noProof="0" dirty="0"/>
          </a:p>
        </p:txBody>
      </p:sp>
      <p:sp>
        <p:nvSpPr>
          <p:cNvPr id="7" name="Text 5"/>
          <p:cNvSpPr/>
          <p:nvPr/>
        </p:nvSpPr>
        <p:spPr>
          <a:xfrm>
            <a:off x="365760" y="886968"/>
            <a:ext cx="8412480" cy="256032"/>
          </a:xfrm>
          <a:prstGeom prst="rect">
            <a:avLst/>
          </a:prstGeom>
          <a:noFill/>
          <a:ln/>
        </p:spPr>
        <p:txBody>
          <a:bodyPr wrap="square" lIns="0" tIns="0" rIns="0" bIns="0" rtlCol="0" anchor="ctr"/>
          <a:lstStyle/>
          <a:p>
            <a:pPr marL="0" indent="0">
              <a:buNone/>
            </a:pPr>
            <a:r>
              <a:rPr lang="es-CO" sz="1050" noProof="0" dirty="0">
                <a:solidFill>
                  <a:srgbClr val="7F8C8D"/>
                </a:solidFill>
                <a:latin typeface="Calibri" pitchFamily="34" charset="0"/>
                <a:ea typeface="Calibri" pitchFamily="34" charset="-122"/>
                <a:cs typeface="Calibri" pitchFamily="34" charset="-120"/>
              </a:rPr>
              <a:t>Periodo: 01 - 30 Sep 2026  (30 días)   ·   39 viviendas   ·   7 conjuntos</a:t>
            </a:r>
            <a:endParaRPr lang="es-CO" sz="1050" noProof="0" dirty="0"/>
          </a:p>
        </p:txBody>
      </p:sp>
      <p:sp>
        <p:nvSpPr>
          <p:cNvPr id="8" name="Shape 6"/>
          <p:cNvSpPr/>
          <p:nvPr/>
        </p:nvSpPr>
        <p:spPr>
          <a:xfrm>
            <a:off x="365760" y="1280160"/>
            <a:ext cx="1572768" cy="3246120"/>
          </a:xfrm>
          <a:prstGeom prst="rect">
            <a:avLst/>
          </a:prstGeom>
          <a:solidFill>
            <a:srgbClr val="FFFFFF"/>
          </a:solidFill>
          <a:ln w="9525">
            <a:solidFill>
              <a:srgbClr val="E3E7EA"/>
            </a:solidFill>
            <a:prstDash val="solid"/>
          </a:ln>
        </p:spPr>
        <p:txBody>
          <a:bodyPr/>
          <a:lstStyle/>
          <a:p>
            <a:endParaRPr lang="es-CO" noProof="0" dirty="0"/>
          </a:p>
        </p:txBody>
      </p:sp>
      <p:sp>
        <p:nvSpPr>
          <p:cNvPr id="9" name="Shape 7"/>
          <p:cNvSpPr/>
          <p:nvPr/>
        </p:nvSpPr>
        <p:spPr>
          <a:xfrm>
            <a:off x="365760" y="1280160"/>
            <a:ext cx="1572768" cy="155448"/>
          </a:xfrm>
          <a:prstGeom prst="rect">
            <a:avLst/>
          </a:prstGeom>
          <a:solidFill>
            <a:srgbClr val="1F6F78"/>
          </a:solidFill>
          <a:ln w="12700">
            <a:solidFill>
              <a:srgbClr val="1F6F78"/>
            </a:solidFill>
            <a:prstDash val="solid"/>
          </a:ln>
        </p:spPr>
        <p:txBody>
          <a:bodyPr/>
          <a:lstStyle/>
          <a:p>
            <a:endParaRPr lang="es-CO" noProof="0" dirty="0"/>
          </a:p>
        </p:txBody>
      </p:sp>
      <p:sp>
        <p:nvSpPr>
          <p:cNvPr id="10" name="Text 8"/>
          <p:cNvSpPr/>
          <p:nvPr/>
        </p:nvSpPr>
        <p:spPr>
          <a:xfrm>
            <a:off x="411480" y="1435608"/>
            <a:ext cx="1481328" cy="1188720"/>
          </a:xfrm>
          <a:prstGeom prst="rect">
            <a:avLst/>
          </a:prstGeom>
          <a:noFill/>
          <a:ln/>
        </p:spPr>
        <p:txBody>
          <a:bodyPr wrap="square" lIns="0" tIns="0" rIns="0" bIns="0" rtlCol="0" anchor="ctr"/>
          <a:lstStyle/>
          <a:p>
            <a:pPr marL="0" indent="0" algn="ctr">
              <a:buNone/>
            </a:pPr>
            <a:r>
              <a:rPr lang="es-CO" sz="3400" b="1" noProof="0" dirty="0">
                <a:solidFill>
                  <a:srgbClr val="1F6F78"/>
                </a:solidFill>
                <a:latin typeface="Calibri" pitchFamily="34" charset="0"/>
                <a:ea typeface="Calibri" pitchFamily="34" charset="-122"/>
                <a:cs typeface="Calibri" pitchFamily="34" charset="-120"/>
              </a:rPr>
              <a:t>63,1%</a:t>
            </a:r>
            <a:endParaRPr lang="es-CO" sz="3400" noProof="0" dirty="0"/>
          </a:p>
        </p:txBody>
      </p:sp>
      <p:sp>
        <p:nvSpPr>
          <p:cNvPr id="11" name="Shape 9"/>
          <p:cNvSpPr/>
          <p:nvPr/>
        </p:nvSpPr>
        <p:spPr>
          <a:xfrm>
            <a:off x="365760" y="2624328"/>
            <a:ext cx="1572768" cy="941832"/>
          </a:xfrm>
          <a:prstGeom prst="rect">
            <a:avLst/>
          </a:prstGeom>
          <a:solidFill>
            <a:srgbClr val="D9EEF0"/>
          </a:solidFill>
          <a:ln w="12700">
            <a:solidFill>
              <a:srgbClr val="D9EEF0"/>
            </a:solidFill>
            <a:prstDash val="solid"/>
          </a:ln>
        </p:spPr>
        <p:txBody>
          <a:bodyPr/>
          <a:lstStyle/>
          <a:p>
            <a:endParaRPr lang="es-CO" noProof="0" dirty="0"/>
          </a:p>
        </p:txBody>
      </p:sp>
      <p:sp>
        <p:nvSpPr>
          <p:cNvPr id="12" name="Text 10"/>
          <p:cNvSpPr/>
          <p:nvPr/>
        </p:nvSpPr>
        <p:spPr>
          <a:xfrm>
            <a:off x="438912" y="2624328"/>
            <a:ext cx="1426464" cy="941832"/>
          </a:xfrm>
          <a:prstGeom prst="rect">
            <a:avLst/>
          </a:prstGeom>
          <a:noFill/>
          <a:ln/>
        </p:spPr>
        <p:txBody>
          <a:bodyPr wrap="square" lIns="0" tIns="0" rIns="0" bIns="0" rtlCol="0" anchor="ctr"/>
          <a:lstStyle/>
          <a:p>
            <a:pPr marL="0" indent="0" algn="ctr">
              <a:buNone/>
            </a:pPr>
            <a:r>
              <a:rPr lang="es-CO" sz="1100" b="1" noProof="0" dirty="0">
                <a:solidFill>
                  <a:srgbClr val="1A1A2E"/>
                </a:solidFill>
                <a:latin typeface="Calibri" pitchFamily="34" charset="0"/>
                <a:ea typeface="Calibri" pitchFamily="34" charset="-122"/>
                <a:cs typeface="Calibri" pitchFamily="34" charset="-120"/>
              </a:rPr>
              <a:t>Cobertura Solar Media</a:t>
            </a:r>
            <a:endParaRPr lang="es-CO" sz="1100" noProof="0" dirty="0"/>
          </a:p>
        </p:txBody>
      </p:sp>
      <p:sp>
        <p:nvSpPr>
          <p:cNvPr id="13" name="Text 11"/>
          <p:cNvSpPr/>
          <p:nvPr/>
        </p:nvSpPr>
        <p:spPr>
          <a:xfrm>
            <a:off x="438912" y="3657600"/>
            <a:ext cx="1426464" cy="274320"/>
          </a:xfrm>
          <a:prstGeom prst="rect">
            <a:avLst/>
          </a:prstGeom>
          <a:noFill/>
          <a:ln/>
        </p:spPr>
        <p:txBody>
          <a:bodyPr wrap="square" lIns="0" tIns="0" rIns="0" bIns="0" rtlCol="0" anchor="ctr"/>
          <a:lstStyle/>
          <a:p>
            <a:pPr marL="0" indent="0" algn="ctr">
              <a:buNone/>
            </a:pPr>
            <a:r>
              <a:rPr lang="es-CO" sz="850" noProof="0" dirty="0">
                <a:solidFill>
                  <a:srgbClr val="7F8C8D"/>
                </a:solidFill>
                <a:latin typeface="Calibri" pitchFamily="34" charset="0"/>
                <a:ea typeface="Calibri" pitchFamily="34" charset="-122"/>
                <a:cs typeface="Calibri" pitchFamily="34" charset="-120"/>
              </a:rPr>
              <a:t>meta &gt;= 70%</a:t>
            </a:r>
            <a:endParaRPr lang="es-CO" sz="850" noProof="0" dirty="0"/>
          </a:p>
        </p:txBody>
      </p:sp>
      <p:sp>
        <p:nvSpPr>
          <p:cNvPr id="14" name="Shape 12"/>
          <p:cNvSpPr/>
          <p:nvPr/>
        </p:nvSpPr>
        <p:spPr>
          <a:xfrm>
            <a:off x="365760" y="4041648"/>
            <a:ext cx="1572768" cy="484632"/>
          </a:xfrm>
          <a:prstGeom prst="rect">
            <a:avLst/>
          </a:prstGeom>
          <a:solidFill>
            <a:srgbClr val="1F6F78"/>
          </a:solidFill>
          <a:ln w="12700">
            <a:solidFill>
              <a:srgbClr val="1F6F78"/>
            </a:solidFill>
            <a:prstDash val="solid"/>
          </a:ln>
        </p:spPr>
        <p:txBody>
          <a:bodyPr/>
          <a:lstStyle/>
          <a:p>
            <a:endParaRPr lang="es-CO" noProof="0" dirty="0"/>
          </a:p>
        </p:txBody>
      </p:sp>
      <p:sp>
        <p:nvSpPr>
          <p:cNvPr id="15" name="Text 13"/>
          <p:cNvSpPr/>
          <p:nvPr/>
        </p:nvSpPr>
        <p:spPr>
          <a:xfrm>
            <a:off x="365760" y="4041648"/>
            <a:ext cx="1572768" cy="484632"/>
          </a:xfrm>
          <a:prstGeom prst="rect">
            <a:avLst/>
          </a:prstGeom>
          <a:noFill/>
          <a:ln/>
        </p:spPr>
        <p:txBody>
          <a:bodyPr wrap="square" lIns="0" tIns="0" rIns="0" bIns="0" rtlCol="0" anchor="ctr"/>
          <a:lstStyle/>
          <a:p>
            <a:pPr marL="0" indent="0" algn="ctr">
              <a:buNone/>
            </a:pPr>
            <a:r>
              <a:rPr lang="es-CO" sz="1000" b="1" noProof="0" dirty="0">
                <a:solidFill>
                  <a:srgbClr val="FFFFFF"/>
                </a:solidFill>
                <a:latin typeface="Calibri" pitchFamily="34" charset="0"/>
                <a:ea typeface="Calibri" pitchFamily="34" charset="-122"/>
                <a:cs typeface="Calibri" pitchFamily="34" charset="-120"/>
              </a:rPr>
              <a:t>SEGUIMIENTO</a:t>
            </a:r>
            <a:endParaRPr lang="es-CO" sz="1000" noProof="0" dirty="0"/>
          </a:p>
        </p:txBody>
      </p:sp>
      <p:sp>
        <p:nvSpPr>
          <p:cNvPr id="16" name="Shape 14"/>
          <p:cNvSpPr/>
          <p:nvPr/>
        </p:nvSpPr>
        <p:spPr>
          <a:xfrm>
            <a:off x="2066544" y="1280160"/>
            <a:ext cx="1572768" cy="3246120"/>
          </a:xfrm>
          <a:prstGeom prst="rect">
            <a:avLst/>
          </a:prstGeom>
          <a:solidFill>
            <a:srgbClr val="FFFFFF"/>
          </a:solidFill>
          <a:ln w="9525">
            <a:solidFill>
              <a:srgbClr val="E3E7EA"/>
            </a:solidFill>
            <a:prstDash val="solid"/>
          </a:ln>
        </p:spPr>
        <p:txBody>
          <a:bodyPr/>
          <a:lstStyle/>
          <a:p>
            <a:endParaRPr lang="es-CO" noProof="0" dirty="0"/>
          </a:p>
        </p:txBody>
      </p:sp>
      <p:sp>
        <p:nvSpPr>
          <p:cNvPr id="17" name="Shape 15"/>
          <p:cNvSpPr/>
          <p:nvPr/>
        </p:nvSpPr>
        <p:spPr>
          <a:xfrm>
            <a:off x="2066544" y="1280160"/>
            <a:ext cx="1572768" cy="155448"/>
          </a:xfrm>
          <a:prstGeom prst="rect">
            <a:avLst/>
          </a:prstGeom>
          <a:solidFill>
            <a:srgbClr val="1F6F78"/>
          </a:solidFill>
          <a:ln w="12700">
            <a:solidFill>
              <a:srgbClr val="1F6F78"/>
            </a:solidFill>
            <a:prstDash val="solid"/>
          </a:ln>
        </p:spPr>
        <p:txBody>
          <a:bodyPr/>
          <a:lstStyle/>
          <a:p>
            <a:endParaRPr lang="es-CO" noProof="0" dirty="0"/>
          </a:p>
        </p:txBody>
      </p:sp>
      <p:sp>
        <p:nvSpPr>
          <p:cNvPr id="18" name="Text 16"/>
          <p:cNvSpPr/>
          <p:nvPr/>
        </p:nvSpPr>
        <p:spPr>
          <a:xfrm>
            <a:off x="2112264" y="1435608"/>
            <a:ext cx="1481328" cy="1188720"/>
          </a:xfrm>
          <a:prstGeom prst="rect">
            <a:avLst/>
          </a:prstGeom>
          <a:noFill/>
          <a:ln/>
        </p:spPr>
        <p:txBody>
          <a:bodyPr wrap="square" lIns="0" tIns="0" rIns="0" bIns="0" rtlCol="0" anchor="ctr"/>
          <a:lstStyle/>
          <a:p>
            <a:pPr marL="0" indent="0" algn="ctr">
              <a:buNone/>
            </a:pPr>
            <a:r>
              <a:rPr lang="es-CO" sz="3200" b="1" noProof="0" dirty="0">
                <a:solidFill>
                  <a:srgbClr val="1F6F78"/>
                </a:solidFill>
                <a:latin typeface="Calibri" pitchFamily="34" charset="0"/>
                <a:ea typeface="Calibri" pitchFamily="34" charset="-122"/>
                <a:cs typeface="Calibri" pitchFamily="34" charset="-120"/>
              </a:rPr>
              <a:t>1.103</a:t>
            </a:r>
            <a:endParaRPr lang="es-CO" sz="3200" noProof="0" dirty="0"/>
          </a:p>
        </p:txBody>
      </p:sp>
      <p:sp>
        <p:nvSpPr>
          <p:cNvPr id="19" name="Shape 17"/>
          <p:cNvSpPr/>
          <p:nvPr/>
        </p:nvSpPr>
        <p:spPr>
          <a:xfrm>
            <a:off x="2066544" y="2624328"/>
            <a:ext cx="1572768" cy="941832"/>
          </a:xfrm>
          <a:prstGeom prst="rect">
            <a:avLst/>
          </a:prstGeom>
          <a:solidFill>
            <a:srgbClr val="D9EEF0"/>
          </a:solidFill>
          <a:ln w="12700">
            <a:solidFill>
              <a:srgbClr val="D9EEF0"/>
            </a:solidFill>
            <a:prstDash val="solid"/>
          </a:ln>
        </p:spPr>
        <p:txBody>
          <a:bodyPr/>
          <a:lstStyle/>
          <a:p>
            <a:endParaRPr lang="es-CO" noProof="0" dirty="0"/>
          </a:p>
        </p:txBody>
      </p:sp>
      <p:sp>
        <p:nvSpPr>
          <p:cNvPr id="20" name="Text 18"/>
          <p:cNvSpPr/>
          <p:nvPr/>
        </p:nvSpPr>
        <p:spPr>
          <a:xfrm>
            <a:off x="2139696" y="2624328"/>
            <a:ext cx="1426464" cy="941832"/>
          </a:xfrm>
          <a:prstGeom prst="rect">
            <a:avLst/>
          </a:prstGeom>
          <a:noFill/>
          <a:ln/>
        </p:spPr>
        <p:txBody>
          <a:bodyPr wrap="square" lIns="0" tIns="0" rIns="0" bIns="0" rtlCol="0" anchor="ctr"/>
          <a:lstStyle/>
          <a:p>
            <a:pPr marL="0" indent="0" algn="ctr">
              <a:buNone/>
            </a:pPr>
            <a:r>
              <a:rPr lang="es-CO" sz="1100" b="1" noProof="0" dirty="0">
                <a:solidFill>
                  <a:srgbClr val="1A1A2E"/>
                </a:solidFill>
                <a:latin typeface="Calibri" pitchFamily="34" charset="0"/>
                <a:ea typeface="Calibri" pitchFamily="34" charset="-122"/>
                <a:cs typeface="Calibri" pitchFamily="34" charset="-120"/>
              </a:rPr>
              <a:t>Yield Real Medio (kWh/kWp/año)</a:t>
            </a:r>
            <a:endParaRPr lang="es-CO" sz="1100" noProof="0" dirty="0"/>
          </a:p>
        </p:txBody>
      </p:sp>
      <p:sp>
        <p:nvSpPr>
          <p:cNvPr id="21" name="Text 19"/>
          <p:cNvSpPr/>
          <p:nvPr/>
        </p:nvSpPr>
        <p:spPr>
          <a:xfrm>
            <a:off x="2139696" y="3657600"/>
            <a:ext cx="1426464" cy="274320"/>
          </a:xfrm>
          <a:prstGeom prst="rect">
            <a:avLst/>
          </a:prstGeom>
          <a:noFill/>
          <a:ln/>
        </p:spPr>
        <p:txBody>
          <a:bodyPr wrap="square" lIns="0" tIns="0" rIns="0" bIns="0" rtlCol="0" anchor="ctr"/>
          <a:lstStyle/>
          <a:p>
            <a:pPr marL="0" indent="0" algn="ctr">
              <a:buNone/>
            </a:pPr>
            <a:r>
              <a:rPr lang="es-CO" sz="850" noProof="0" dirty="0">
                <a:solidFill>
                  <a:srgbClr val="7F8C8D"/>
                </a:solidFill>
                <a:latin typeface="Calibri" pitchFamily="34" charset="0"/>
                <a:ea typeface="Calibri" pitchFamily="34" charset="-122"/>
                <a:cs typeface="Calibri" pitchFamily="34" charset="-120"/>
              </a:rPr>
              <a:t>vs. 1.188-1.323 objetivo</a:t>
            </a:r>
            <a:endParaRPr lang="es-CO" sz="850" noProof="0" dirty="0"/>
          </a:p>
        </p:txBody>
      </p:sp>
      <p:sp>
        <p:nvSpPr>
          <p:cNvPr id="22" name="Shape 20"/>
          <p:cNvSpPr/>
          <p:nvPr/>
        </p:nvSpPr>
        <p:spPr>
          <a:xfrm>
            <a:off x="2066544" y="4041648"/>
            <a:ext cx="1572768" cy="484632"/>
          </a:xfrm>
          <a:prstGeom prst="rect">
            <a:avLst/>
          </a:prstGeom>
          <a:solidFill>
            <a:srgbClr val="1F6F78"/>
          </a:solidFill>
          <a:ln w="12700">
            <a:solidFill>
              <a:srgbClr val="1F6F78"/>
            </a:solidFill>
            <a:prstDash val="solid"/>
          </a:ln>
        </p:spPr>
        <p:txBody>
          <a:bodyPr/>
          <a:lstStyle/>
          <a:p>
            <a:endParaRPr lang="es-CO" noProof="0" dirty="0"/>
          </a:p>
        </p:txBody>
      </p:sp>
      <p:sp>
        <p:nvSpPr>
          <p:cNvPr id="23" name="Text 21"/>
          <p:cNvSpPr/>
          <p:nvPr/>
        </p:nvSpPr>
        <p:spPr>
          <a:xfrm>
            <a:off x="2066544" y="4041648"/>
            <a:ext cx="1572768" cy="484632"/>
          </a:xfrm>
          <a:prstGeom prst="rect">
            <a:avLst/>
          </a:prstGeom>
          <a:noFill/>
          <a:ln/>
        </p:spPr>
        <p:txBody>
          <a:bodyPr wrap="square" lIns="0" tIns="0" rIns="0" bIns="0" rtlCol="0" anchor="ctr"/>
          <a:lstStyle/>
          <a:p>
            <a:pPr marL="0" indent="0" algn="ctr">
              <a:buNone/>
            </a:pPr>
            <a:r>
              <a:rPr lang="es-CO" sz="1000" b="1" noProof="0" dirty="0">
                <a:solidFill>
                  <a:srgbClr val="FFFFFF"/>
                </a:solidFill>
                <a:latin typeface="Calibri" pitchFamily="34" charset="0"/>
                <a:ea typeface="Calibri" pitchFamily="34" charset="-122"/>
                <a:cs typeface="Calibri" pitchFamily="34" charset="-120"/>
              </a:rPr>
              <a:t>SEGUIMIENTO</a:t>
            </a:r>
            <a:endParaRPr lang="es-CO" sz="1000" noProof="0" dirty="0"/>
          </a:p>
        </p:txBody>
      </p:sp>
      <p:sp>
        <p:nvSpPr>
          <p:cNvPr id="24" name="Shape 22"/>
          <p:cNvSpPr/>
          <p:nvPr/>
        </p:nvSpPr>
        <p:spPr>
          <a:xfrm>
            <a:off x="3767328" y="1280160"/>
            <a:ext cx="1572768" cy="3246120"/>
          </a:xfrm>
          <a:prstGeom prst="rect">
            <a:avLst/>
          </a:prstGeom>
          <a:solidFill>
            <a:srgbClr val="FFFFFF"/>
          </a:solidFill>
          <a:ln w="9525">
            <a:solidFill>
              <a:srgbClr val="E3E7EA"/>
            </a:solidFill>
            <a:prstDash val="solid"/>
          </a:ln>
        </p:spPr>
        <p:txBody>
          <a:bodyPr/>
          <a:lstStyle/>
          <a:p>
            <a:endParaRPr lang="es-CO" noProof="0" dirty="0"/>
          </a:p>
        </p:txBody>
      </p:sp>
      <p:sp>
        <p:nvSpPr>
          <p:cNvPr id="25" name="Shape 23"/>
          <p:cNvSpPr/>
          <p:nvPr/>
        </p:nvSpPr>
        <p:spPr>
          <a:xfrm>
            <a:off x="3767328" y="1280160"/>
            <a:ext cx="1572768" cy="155448"/>
          </a:xfrm>
          <a:prstGeom prst="rect">
            <a:avLst/>
          </a:prstGeom>
          <a:solidFill>
            <a:srgbClr val="1F6F78"/>
          </a:solidFill>
          <a:ln w="12700">
            <a:solidFill>
              <a:srgbClr val="1F6F78"/>
            </a:solidFill>
            <a:prstDash val="solid"/>
          </a:ln>
        </p:spPr>
        <p:txBody>
          <a:bodyPr/>
          <a:lstStyle/>
          <a:p>
            <a:endParaRPr lang="es-CO" noProof="0" dirty="0"/>
          </a:p>
        </p:txBody>
      </p:sp>
      <p:sp>
        <p:nvSpPr>
          <p:cNvPr id="26" name="Text 24"/>
          <p:cNvSpPr/>
          <p:nvPr/>
        </p:nvSpPr>
        <p:spPr>
          <a:xfrm>
            <a:off x="3813048" y="1435608"/>
            <a:ext cx="1481328" cy="1188720"/>
          </a:xfrm>
          <a:prstGeom prst="rect">
            <a:avLst/>
          </a:prstGeom>
          <a:noFill/>
          <a:ln/>
        </p:spPr>
        <p:txBody>
          <a:bodyPr wrap="square" lIns="0" tIns="0" rIns="0" bIns="0" rtlCol="0" anchor="ctr"/>
          <a:lstStyle/>
          <a:p>
            <a:pPr marL="0" indent="0" algn="ctr">
              <a:buNone/>
            </a:pPr>
            <a:r>
              <a:rPr lang="es-CO" sz="3400" b="1" noProof="0" dirty="0">
                <a:solidFill>
                  <a:srgbClr val="1F6F78"/>
                </a:solidFill>
                <a:latin typeface="Calibri" pitchFamily="34" charset="0"/>
                <a:ea typeface="Calibri" pitchFamily="34" charset="-122"/>
                <a:cs typeface="Calibri" pitchFamily="34" charset="-120"/>
              </a:rPr>
              <a:t>94,5%</a:t>
            </a:r>
            <a:endParaRPr lang="es-CO" sz="3400" noProof="0" dirty="0"/>
          </a:p>
        </p:txBody>
      </p:sp>
      <p:sp>
        <p:nvSpPr>
          <p:cNvPr id="27" name="Shape 25"/>
          <p:cNvSpPr/>
          <p:nvPr/>
        </p:nvSpPr>
        <p:spPr>
          <a:xfrm>
            <a:off x="3767328" y="2624328"/>
            <a:ext cx="1572768" cy="941832"/>
          </a:xfrm>
          <a:prstGeom prst="rect">
            <a:avLst/>
          </a:prstGeom>
          <a:solidFill>
            <a:srgbClr val="D9EEF0"/>
          </a:solidFill>
          <a:ln w="12700">
            <a:solidFill>
              <a:srgbClr val="D9EEF0"/>
            </a:solidFill>
            <a:prstDash val="solid"/>
          </a:ln>
        </p:spPr>
        <p:txBody>
          <a:bodyPr/>
          <a:lstStyle/>
          <a:p>
            <a:endParaRPr lang="es-CO" noProof="0" dirty="0"/>
          </a:p>
        </p:txBody>
      </p:sp>
      <p:sp>
        <p:nvSpPr>
          <p:cNvPr id="28" name="Text 26"/>
          <p:cNvSpPr/>
          <p:nvPr/>
        </p:nvSpPr>
        <p:spPr>
          <a:xfrm>
            <a:off x="3840480" y="2624328"/>
            <a:ext cx="1426464" cy="941832"/>
          </a:xfrm>
          <a:prstGeom prst="rect">
            <a:avLst/>
          </a:prstGeom>
          <a:noFill/>
          <a:ln/>
        </p:spPr>
        <p:txBody>
          <a:bodyPr wrap="square" lIns="0" tIns="0" rIns="0" bIns="0" rtlCol="0" anchor="ctr"/>
          <a:lstStyle/>
          <a:p>
            <a:pPr marL="0" indent="0" algn="ctr">
              <a:buNone/>
            </a:pPr>
            <a:r>
              <a:rPr lang="es-CO" sz="1100" b="1" noProof="0" dirty="0">
                <a:solidFill>
                  <a:srgbClr val="1A1A2E"/>
                </a:solidFill>
                <a:latin typeface="Calibri" pitchFamily="34" charset="0"/>
                <a:ea typeface="Calibri" pitchFamily="34" charset="-122"/>
                <a:cs typeface="Calibri" pitchFamily="34" charset="-120"/>
              </a:rPr>
              <a:t>Efectividad de Respaldo</a:t>
            </a:r>
            <a:endParaRPr lang="es-CO" sz="1100" noProof="0" dirty="0"/>
          </a:p>
        </p:txBody>
      </p:sp>
      <p:sp>
        <p:nvSpPr>
          <p:cNvPr id="29" name="Text 27"/>
          <p:cNvSpPr/>
          <p:nvPr/>
        </p:nvSpPr>
        <p:spPr>
          <a:xfrm>
            <a:off x="3840480" y="3657600"/>
            <a:ext cx="1426464" cy="274320"/>
          </a:xfrm>
          <a:prstGeom prst="rect">
            <a:avLst/>
          </a:prstGeom>
          <a:noFill/>
          <a:ln/>
        </p:spPr>
        <p:txBody>
          <a:bodyPr wrap="square" lIns="0" tIns="0" rIns="0" bIns="0" rtlCol="0" anchor="ctr"/>
          <a:lstStyle/>
          <a:p>
            <a:pPr marL="0" indent="0" algn="ctr">
              <a:buNone/>
            </a:pPr>
            <a:r>
              <a:rPr lang="es-CO" sz="850" noProof="0" dirty="0">
                <a:solidFill>
                  <a:srgbClr val="7F8C8D"/>
                </a:solidFill>
                <a:latin typeface="Calibri" pitchFamily="34" charset="0"/>
                <a:ea typeface="Calibri" pitchFamily="34" charset="-122"/>
                <a:cs typeface="Calibri" pitchFamily="34" charset="-120"/>
              </a:rPr>
              <a:t>meta &gt;= 95%</a:t>
            </a:r>
            <a:endParaRPr lang="es-CO" sz="850" noProof="0" dirty="0"/>
          </a:p>
        </p:txBody>
      </p:sp>
      <p:sp>
        <p:nvSpPr>
          <p:cNvPr id="30" name="Shape 28"/>
          <p:cNvSpPr/>
          <p:nvPr/>
        </p:nvSpPr>
        <p:spPr>
          <a:xfrm>
            <a:off x="3767328" y="4041648"/>
            <a:ext cx="1572768" cy="484632"/>
          </a:xfrm>
          <a:prstGeom prst="rect">
            <a:avLst/>
          </a:prstGeom>
          <a:solidFill>
            <a:srgbClr val="1F6F78"/>
          </a:solidFill>
          <a:ln w="12700">
            <a:solidFill>
              <a:srgbClr val="1F6F78"/>
            </a:solidFill>
            <a:prstDash val="solid"/>
          </a:ln>
        </p:spPr>
        <p:txBody>
          <a:bodyPr/>
          <a:lstStyle/>
          <a:p>
            <a:endParaRPr lang="es-CO" noProof="0" dirty="0"/>
          </a:p>
        </p:txBody>
      </p:sp>
      <p:sp>
        <p:nvSpPr>
          <p:cNvPr id="31" name="Text 29"/>
          <p:cNvSpPr/>
          <p:nvPr/>
        </p:nvSpPr>
        <p:spPr>
          <a:xfrm>
            <a:off x="3767328" y="4041648"/>
            <a:ext cx="1572768" cy="484632"/>
          </a:xfrm>
          <a:prstGeom prst="rect">
            <a:avLst/>
          </a:prstGeom>
          <a:noFill/>
          <a:ln/>
        </p:spPr>
        <p:txBody>
          <a:bodyPr wrap="square" lIns="0" tIns="0" rIns="0" bIns="0" rtlCol="0" anchor="ctr"/>
          <a:lstStyle/>
          <a:p>
            <a:pPr marL="0" indent="0" algn="ctr">
              <a:buNone/>
            </a:pPr>
            <a:r>
              <a:rPr lang="es-CO" sz="1000" b="1" noProof="0" dirty="0">
                <a:solidFill>
                  <a:srgbClr val="FFFFFF"/>
                </a:solidFill>
                <a:latin typeface="Calibri" pitchFamily="34" charset="0"/>
                <a:ea typeface="Calibri" pitchFamily="34" charset="-122"/>
                <a:cs typeface="Calibri" pitchFamily="34" charset="-120"/>
              </a:rPr>
              <a:t>SEGUIMIENTO</a:t>
            </a:r>
            <a:endParaRPr lang="es-CO" sz="1000" noProof="0" dirty="0"/>
          </a:p>
        </p:txBody>
      </p:sp>
      <p:sp>
        <p:nvSpPr>
          <p:cNvPr id="32" name="Shape 30"/>
          <p:cNvSpPr/>
          <p:nvPr/>
        </p:nvSpPr>
        <p:spPr>
          <a:xfrm>
            <a:off x="5468112" y="1280160"/>
            <a:ext cx="1572768" cy="3246120"/>
          </a:xfrm>
          <a:prstGeom prst="rect">
            <a:avLst/>
          </a:prstGeom>
          <a:solidFill>
            <a:srgbClr val="FFFFFF"/>
          </a:solidFill>
          <a:ln w="9525">
            <a:solidFill>
              <a:srgbClr val="E3E7EA"/>
            </a:solidFill>
            <a:prstDash val="solid"/>
          </a:ln>
        </p:spPr>
        <p:txBody>
          <a:bodyPr/>
          <a:lstStyle/>
          <a:p>
            <a:endParaRPr lang="es-CO" noProof="0" dirty="0"/>
          </a:p>
        </p:txBody>
      </p:sp>
      <p:sp>
        <p:nvSpPr>
          <p:cNvPr id="33" name="Shape 31"/>
          <p:cNvSpPr/>
          <p:nvPr/>
        </p:nvSpPr>
        <p:spPr>
          <a:xfrm>
            <a:off x="5468112" y="1280160"/>
            <a:ext cx="1572768" cy="155448"/>
          </a:xfrm>
          <a:prstGeom prst="rect">
            <a:avLst/>
          </a:prstGeom>
          <a:solidFill>
            <a:srgbClr val="1E8449"/>
          </a:solidFill>
          <a:ln w="12700">
            <a:solidFill>
              <a:srgbClr val="1E8449"/>
            </a:solidFill>
            <a:prstDash val="solid"/>
          </a:ln>
        </p:spPr>
        <p:txBody>
          <a:bodyPr/>
          <a:lstStyle/>
          <a:p>
            <a:endParaRPr lang="es-CO" noProof="0" dirty="0"/>
          </a:p>
        </p:txBody>
      </p:sp>
      <p:sp>
        <p:nvSpPr>
          <p:cNvPr id="34" name="Text 32"/>
          <p:cNvSpPr/>
          <p:nvPr/>
        </p:nvSpPr>
        <p:spPr>
          <a:xfrm>
            <a:off x="5513832" y="1435608"/>
            <a:ext cx="1481328" cy="1188720"/>
          </a:xfrm>
          <a:prstGeom prst="rect">
            <a:avLst/>
          </a:prstGeom>
          <a:noFill/>
          <a:ln/>
        </p:spPr>
        <p:txBody>
          <a:bodyPr wrap="square" lIns="0" tIns="0" rIns="0" bIns="0" rtlCol="0" anchor="ctr"/>
          <a:lstStyle/>
          <a:p>
            <a:pPr marL="0" indent="0" algn="ctr">
              <a:buNone/>
            </a:pPr>
            <a:r>
              <a:rPr lang="es-CO" sz="4000" b="1" noProof="0" dirty="0">
                <a:solidFill>
                  <a:srgbClr val="1E8449"/>
                </a:solidFill>
                <a:latin typeface="Calibri" pitchFamily="34" charset="0"/>
                <a:ea typeface="Calibri" pitchFamily="34" charset="-122"/>
                <a:cs typeface="Calibri" pitchFamily="34" charset="-120"/>
              </a:rPr>
              <a:t>0</a:t>
            </a:r>
            <a:endParaRPr lang="es-CO" sz="4000" noProof="0" dirty="0"/>
          </a:p>
        </p:txBody>
      </p:sp>
      <p:sp>
        <p:nvSpPr>
          <p:cNvPr id="35" name="Shape 33"/>
          <p:cNvSpPr/>
          <p:nvPr/>
        </p:nvSpPr>
        <p:spPr>
          <a:xfrm>
            <a:off x="5468112" y="2624328"/>
            <a:ext cx="1572768" cy="941832"/>
          </a:xfrm>
          <a:prstGeom prst="rect">
            <a:avLst/>
          </a:prstGeom>
          <a:solidFill>
            <a:srgbClr val="CDF3DD"/>
          </a:solidFill>
          <a:ln w="12700">
            <a:solidFill>
              <a:srgbClr val="CDF3DD"/>
            </a:solidFill>
            <a:prstDash val="solid"/>
          </a:ln>
        </p:spPr>
        <p:txBody>
          <a:bodyPr/>
          <a:lstStyle/>
          <a:p>
            <a:endParaRPr lang="es-CO" noProof="0" dirty="0"/>
          </a:p>
        </p:txBody>
      </p:sp>
      <p:sp>
        <p:nvSpPr>
          <p:cNvPr id="36" name="Text 34"/>
          <p:cNvSpPr/>
          <p:nvPr/>
        </p:nvSpPr>
        <p:spPr>
          <a:xfrm>
            <a:off x="5541264" y="2624328"/>
            <a:ext cx="1426464" cy="941832"/>
          </a:xfrm>
          <a:prstGeom prst="rect">
            <a:avLst/>
          </a:prstGeom>
          <a:noFill/>
          <a:ln/>
        </p:spPr>
        <p:txBody>
          <a:bodyPr wrap="square" lIns="0" tIns="0" rIns="0" bIns="0" rtlCol="0" anchor="ctr"/>
          <a:lstStyle/>
          <a:p>
            <a:pPr marL="0" indent="0" algn="ctr">
              <a:buNone/>
            </a:pPr>
            <a:r>
              <a:rPr lang="es-CO" sz="1100" b="1" noProof="0" dirty="0">
                <a:solidFill>
                  <a:srgbClr val="1A1A2E"/>
                </a:solidFill>
                <a:latin typeface="Calibri" pitchFamily="34" charset="0"/>
                <a:ea typeface="Calibri" pitchFamily="34" charset="-122"/>
                <a:cs typeface="Calibri" pitchFamily="34" charset="-120"/>
              </a:rPr>
              <a:t>Casas en Zona Critica (&lt;60%)</a:t>
            </a:r>
            <a:endParaRPr lang="es-CO" sz="1100" noProof="0" dirty="0"/>
          </a:p>
        </p:txBody>
      </p:sp>
      <p:sp>
        <p:nvSpPr>
          <p:cNvPr id="37" name="Text 35"/>
          <p:cNvSpPr/>
          <p:nvPr/>
        </p:nvSpPr>
        <p:spPr>
          <a:xfrm>
            <a:off x="5541264" y="3657600"/>
            <a:ext cx="1426464" cy="274320"/>
          </a:xfrm>
          <a:prstGeom prst="rect">
            <a:avLst/>
          </a:prstGeom>
          <a:noFill/>
          <a:ln/>
        </p:spPr>
        <p:txBody>
          <a:bodyPr wrap="square" lIns="0" tIns="0" rIns="0" bIns="0" rtlCol="0" anchor="ctr"/>
          <a:lstStyle/>
          <a:p>
            <a:pPr marL="0" indent="0" algn="ctr">
              <a:buNone/>
            </a:pPr>
            <a:r>
              <a:rPr lang="es-CO" sz="850" noProof="0" dirty="0">
                <a:solidFill>
                  <a:srgbClr val="7F8C8D"/>
                </a:solidFill>
                <a:latin typeface="Calibri" pitchFamily="34" charset="0"/>
                <a:ea typeface="Calibri" pitchFamily="34" charset="-122"/>
                <a:cs typeface="Calibri" pitchFamily="34" charset="-120"/>
              </a:rPr>
              <a:t>desempeño del periodo</a:t>
            </a:r>
            <a:endParaRPr lang="es-CO" sz="850" noProof="0" dirty="0"/>
          </a:p>
        </p:txBody>
      </p:sp>
      <p:sp>
        <p:nvSpPr>
          <p:cNvPr id="38" name="Shape 36"/>
          <p:cNvSpPr/>
          <p:nvPr/>
        </p:nvSpPr>
        <p:spPr>
          <a:xfrm>
            <a:off x="5468112" y="4041648"/>
            <a:ext cx="1572768" cy="484632"/>
          </a:xfrm>
          <a:prstGeom prst="rect">
            <a:avLst/>
          </a:prstGeom>
          <a:solidFill>
            <a:srgbClr val="1E8449"/>
          </a:solidFill>
          <a:ln w="12700">
            <a:solidFill>
              <a:srgbClr val="1E8449"/>
            </a:solidFill>
            <a:prstDash val="solid"/>
          </a:ln>
        </p:spPr>
        <p:txBody>
          <a:bodyPr/>
          <a:lstStyle/>
          <a:p>
            <a:endParaRPr lang="es-CO" noProof="0" dirty="0"/>
          </a:p>
        </p:txBody>
      </p:sp>
      <p:sp>
        <p:nvSpPr>
          <p:cNvPr id="39" name="Text 37"/>
          <p:cNvSpPr/>
          <p:nvPr/>
        </p:nvSpPr>
        <p:spPr>
          <a:xfrm>
            <a:off x="5468112" y="4041648"/>
            <a:ext cx="1572768" cy="484632"/>
          </a:xfrm>
          <a:prstGeom prst="rect">
            <a:avLst/>
          </a:prstGeom>
          <a:noFill/>
          <a:ln/>
        </p:spPr>
        <p:txBody>
          <a:bodyPr wrap="square" lIns="0" tIns="0" rIns="0" bIns="0" rtlCol="0" anchor="ctr"/>
          <a:lstStyle/>
          <a:p>
            <a:pPr marL="0" indent="0" algn="ctr">
              <a:buNone/>
            </a:pPr>
            <a:r>
              <a:rPr lang="es-CO" sz="1200" b="1" noProof="0" dirty="0">
                <a:solidFill>
                  <a:srgbClr val="FFFFFF"/>
                </a:solidFill>
                <a:latin typeface="Calibri" pitchFamily="34" charset="0"/>
                <a:ea typeface="Calibri" pitchFamily="34" charset="-122"/>
                <a:cs typeface="Calibri" pitchFamily="34" charset="-120"/>
              </a:rPr>
              <a:t>NORMAL</a:t>
            </a:r>
            <a:endParaRPr lang="es-CO" sz="1200" noProof="0" dirty="0"/>
          </a:p>
        </p:txBody>
      </p:sp>
      <p:sp>
        <p:nvSpPr>
          <p:cNvPr id="40" name="Shape 38"/>
          <p:cNvSpPr/>
          <p:nvPr/>
        </p:nvSpPr>
        <p:spPr>
          <a:xfrm>
            <a:off x="7168896" y="1280160"/>
            <a:ext cx="1572768" cy="3246120"/>
          </a:xfrm>
          <a:prstGeom prst="rect">
            <a:avLst/>
          </a:prstGeom>
          <a:solidFill>
            <a:srgbClr val="FFFFFF"/>
          </a:solidFill>
          <a:ln w="9525">
            <a:solidFill>
              <a:srgbClr val="E3E7EA"/>
            </a:solidFill>
            <a:prstDash val="solid"/>
          </a:ln>
        </p:spPr>
        <p:txBody>
          <a:bodyPr/>
          <a:lstStyle/>
          <a:p>
            <a:endParaRPr lang="es-CO" noProof="0" dirty="0"/>
          </a:p>
        </p:txBody>
      </p:sp>
      <p:sp>
        <p:nvSpPr>
          <p:cNvPr id="41" name="Shape 39"/>
          <p:cNvSpPr/>
          <p:nvPr/>
        </p:nvSpPr>
        <p:spPr>
          <a:xfrm>
            <a:off x="7168896" y="1280160"/>
            <a:ext cx="1572768" cy="155448"/>
          </a:xfrm>
          <a:prstGeom prst="rect">
            <a:avLst/>
          </a:prstGeom>
          <a:solidFill>
            <a:srgbClr val="1E8449"/>
          </a:solidFill>
          <a:ln w="12700">
            <a:solidFill>
              <a:srgbClr val="1E8449"/>
            </a:solidFill>
            <a:prstDash val="solid"/>
          </a:ln>
        </p:spPr>
        <p:txBody>
          <a:bodyPr/>
          <a:lstStyle/>
          <a:p>
            <a:endParaRPr lang="es-CO" noProof="0" dirty="0"/>
          </a:p>
        </p:txBody>
      </p:sp>
      <p:sp>
        <p:nvSpPr>
          <p:cNvPr id="42" name="Text 40"/>
          <p:cNvSpPr/>
          <p:nvPr/>
        </p:nvSpPr>
        <p:spPr>
          <a:xfrm>
            <a:off x="7214616" y="1435608"/>
            <a:ext cx="1481328" cy="1188720"/>
          </a:xfrm>
          <a:prstGeom prst="rect">
            <a:avLst/>
          </a:prstGeom>
          <a:noFill/>
          <a:ln/>
        </p:spPr>
        <p:txBody>
          <a:bodyPr wrap="square" lIns="0" tIns="0" rIns="0" bIns="0" rtlCol="0" anchor="ctr"/>
          <a:lstStyle/>
          <a:p>
            <a:pPr marL="0" indent="0" algn="ctr">
              <a:buNone/>
            </a:pPr>
            <a:r>
              <a:rPr lang="es-CO" sz="3400" b="1" noProof="0" dirty="0">
                <a:solidFill>
                  <a:srgbClr val="1E8449"/>
                </a:solidFill>
                <a:latin typeface="Calibri" pitchFamily="34" charset="0"/>
                <a:ea typeface="Calibri" pitchFamily="34" charset="-122"/>
                <a:cs typeface="Calibri" pitchFamily="34" charset="-120"/>
              </a:rPr>
              <a:t>88,4%</a:t>
            </a:r>
            <a:endParaRPr lang="es-CO" sz="3400" noProof="0" dirty="0"/>
          </a:p>
        </p:txBody>
      </p:sp>
      <p:sp>
        <p:nvSpPr>
          <p:cNvPr id="43" name="Shape 41"/>
          <p:cNvSpPr/>
          <p:nvPr/>
        </p:nvSpPr>
        <p:spPr>
          <a:xfrm>
            <a:off x="7168896" y="2624328"/>
            <a:ext cx="1572768" cy="941832"/>
          </a:xfrm>
          <a:prstGeom prst="rect">
            <a:avLst/>
          </a:prstGeom>
          <a:solidFill>
            <a:srgbClr val="CDF3DD"/>
          </a:solidFill>
          <a:ln w="12700">
            <a:solidFill>
              <a:srgbClr val="CDF3DD"/>
            </a:solidFill>
            <a:prstDash val="solid"/>
          </a:ln>
        </p:spPr>
        <p:txBody>
          <a:bodyPr/>
          <a:lstStyle/>
          <a:p>
            <a:endParaRPr lang="es-CO" noProof="0" dirty="0"/>
          </a:p>
        </p:txBody>
      </p:sp>
      <p:sp>
        <p:nvSpPr>
          <p:cNvPr id="44" name="Text 42"/>
          <p:cNvSpPr/>
          <p:nvPr/>
        </p:nvSpPr>
        <p:spPr>
          <a:xfrm>
            <a:off x="7242048" y="2624328"/>
            <a:ext cx="1426464" cy="941832"/>
          </a:xfrm>
          <a:prstGeom prst="rect">
            <a:avLst/>
          </a:prstGeom>
          <a:noFill/>
          <a:ln/>
        </p:spPr>
        <p:txBody>
          <a:bodyPr wrap="square" lIns="0" tIns="0" rIns="0" bIns="0" rtlCol="0" anchor="ctr"/>
          <a:lstStyle/>
          <a:p>
            <a:pPr marL="0" indent="0" algn="ctr">
              <a:buNone/>
            </a:pPr>
            <a:r>
              <a:rPr lang="es-CO" sz="1100" b="1" noProof="0" dirty="0">
                <a:solidFill>
                  <a:srgbClr val="1A1A2E"/>
                </a:solidFill>
                <a:latin typeface="Calibri" pitchFamily="34" charset="0"/>
                <a:ea typeface="Calibri" pitchFamily="34" charset="-122"/>
                <a:cs typeface="Calibri" pitchFamily="34" charset="-120"/>
              </a:rPr>
              <a:t>Rendimiento Promedio del Proyecto</a:t>
            </a:r>
            <a:endParaRPr lang="es-CO" sz="1100" noProof="0" dirty="0"/>
          </a:p>
        </p:txBody>
      </p:sp>
      <p:sp>
        <p:nvSpPr>
          <p:cNvPr id="45" name="Text 43"/>
          <p:cNvSpPr/>
          <p:nvPr/>
        </p:nvSpPr>
        <p:spPr>
          <a:xfrm>
            <a:off x="7242048" y="3657600"/>
            <a:ext cx="1426464" cy="274320"/>
          </a:xfrm>
          <a:prstGeom prst="rect">
            <a:avLst/>
          </a:prstGeom>
          <a:noFill/>
          <a:ln/>
        </p:spPr>
        <p:txBody>
          <a:bodyPr wrap="square" lIns="0" tIns="0" rIns="0" bIns="0" rtlCol="0" anchor="ctr"/>
          <a:lstStyle/>
          <a:p>
            <a:pPr marL="0" indent="0" algn="ctr">
              <a:buNone/>
            </a:pPr>
            <a:r>
              <a:rPr lang="es-CO" sz="850" noProof="0" dirty="0">
                <a:solidFill>
                  <a:srgbClr val="7F8C8D"/>
                </a:solidFill>
                <a:latin typeface="Calibri" pitchFamily="34" charset="0"/>
                <a:ea typeface="Calibri" pitchFamily="34" charset="-122"/>
                <a:cs typeface="Calibri" pitchFamily="34" charset="-120"/>
              </a:rPr>
              <a:t>meta &gt;= 80%</a:t>
            </a:r>
            <a:endParaRPr lang="es-CO" sz="850" noProof="0" dirty="0"/>
          </a:p>
        </p:txBody>
      </p:sp>
      <p:sp>
        <p:nvSpPr>
          <p:cNvPr id="46" name="Shape 44"/>
          <p:cNvSpPr/>
          <p:nvPr/>
        </p:nvSpPr>
        <p:spPr>
          <a:xfrm>
            <a:off x="7168896" y="4041648"/>
            <a:ext cx="1572768" cy="484632"/>
          </a:xfrm>
          <a:prstGeom prst="rect">
            <a:avLst/>
          </a:prstGeom>
          <a:solidFill>
            <a:srgbClr val="1E8449"/>
          </a:solidFill>
          <a:ln w="12700">
            <a:solidFill>
              <a:srgbClr val="1E8449"/>
            </a:solidFill>
            <a:prstDash val="solid"/>
          </a:ln>
        </p:spPr>
        <p:txBody>
          <a:bodyPr/>
          <a:lstStyle/>
          <a:p>
            <a:endParaRPr lang="es-CO" noProof="0" dirty="0"/>
          </a:p>
        </p:txBody>
      </p:sp>
      <p:sp>
        <p:nvSpPr>
          <p:cNvPr id="47" name="Text 45"/>
          <p:cNvSpPr/>
          <p:nvPr/>
        </p:nvSpPr>
        <p:spPr>
          <a:xfrm>
            <a:off x="7168896" y="4041648"/>
            <a:ext cx="1572768" cy="484632"/>
          </a:xfrm>
          <a:prstGeom prst="rect">
            <a:avLst/>
          </a:prstGeom>
          <a:noFill/>
          <a:ln/>
        </p:spPr>
        <p:txBody>
          <a:bodyPr wrap="square" lIns="0" tIns="0" rIns="0" bIns="0" rtlCol="0" anchor="ctr"/>
          <a:lstStyle/>
          <a:p>
            <a:pPr marL="0" indent="0" algn="ctr">
              <a:buNone/>
            </a:pPr>
            <a:r>
              <a:rPr lang="es-CO" sz="1200" b="1" noProof="0" dirty="0">
                <a:solidFill>
                  <a:srgbClr val="FFFFFF"/>
                </a:solidFill>
                <a:latin typeface="Calibri" pitchFamily="34" charset="0"/>
                <a:ea typeface="Calibri" pitchFamily="34" charset="-122"/>
                <a:cs typeface="Calibri" pitchFamily="34" charset="-120"/>
              </a:rPr>
              <a:t>NORMAL</a:t>
            </a:r>
            <a:endParaRPr lang="es-CO" sz="1200" noProof="0" dirty="0"/>
          </a:p>
        </p:txBody>
      </p:sp>
      <p:sp>
        <p:nvSpPr>
          <p:cNvPr id="48" name="Text 46"/>
          <p:cNvSpPr/>
          <p:nvPr/>
        </p:nvSpPr>
        <p:spPr>
          <a:xfrm>
            <a:off x="365760" y="4590288"/>
            <a:ext cx="8412480" cy="256032"/>
          </a:xfrm>
          <a:prstGeom prst="rect">
            <a:avLst/>
          </a:prstGeom>
          <a:noFill/>
          <a:ln/>
        </p:spPr>
        <p:txBody>
          <a:bodyPr wrap="square" lIns="0" tIns="0" rIns="0" bIns="0" rtlCol="0" anchor="ctr"/>
          <a:lstStyle/>
          <a:p>
            <a:pPr marL="0" indent="0">
              <a:buNone/>
            </a:pPr>
            <a:r>
              <a:rPr lang="es-CO" sz="750" i="1" noProof="0" dirty="0">
                <a:solidFill>
                  <a:srgbClr val="7F8C8D"/>
                </a:solidFill>
                <a:latin typeface="Calibri" pitchFamily="34" charset="0"/>
                <a:ea typeface="Calibri" pitchFamily="34" charset="-122"/>
                <a:cs typeface="Calibri" pitchFamily="34" charset="-120"/>
              </a:rPr>
              <a:t>Generación: 17.866 kWh · Demanda: 26.910 kWh · Importación: 9.078 kWh · Exportación a red: 34,2 kWh · 201 eventos de red en 39 viviendas · sin fallas técnicas nuevas  |  Cobertura, yield y rendimiento: promedio simple por conjunto, recalculados desde los cierres diarios de los medidores en Metrum.</a:t>
            </a:r>
            <a:endParaRPr lang="es-CO" sz="7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YIELD REAL DEL MES VS. YIELD DE DISEÑO</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YIELD Y GENERACION SOLAR</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4</a:t>
            </a:r>
            <a:endParaRPr lang="es-CO" sz="800" noProof="0" dirty="0"/>
          </a:p>
        </p:txBody>
      </p:sp>
      <p:graphicFrame>
        <p:nvGraphicFramePr>
          <p:cNvPr id="8" name="Chart 0"/>
          <p:cNvGraphicFramePr/>
          <p:nvPr/>
        </p:nvGraphicFramePr>
        <p:xfrm>
          <a:off x="320040" y="1371600"/>
          <a:ext cx="850392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365760" y="4297680"/>
            <a:ext cx="8412480" cy="411480"/>
          </a:xfrm>
          <a:prstGeom prst="rect">
            <a:avLst/>
          </a:prstGeom>
          <a:noFill/>
          <a:ln/>
        </p:spPr>
        <p:txBody>
          <a:bodyPr wrap="square" lIns="0" tIns="0" rIns="0" bIns="0" rtlCol="0" anchor="ctr"/>
          <a:lstStyle/>
          <a:p>
            <a:pPr marL="0" indent="0">
              <a:buNone/>
            </a:pPr>
            <a:r>
              <a:rPr lang="es-CO" sz="850" i="1" noProof="0" dirty="0">
                <a:solidFill>
                  <a:srgbClr val="55636E"/>
                </a:solidFill>
                <a:latin typeface="Calibri" pitchFamily="34" charset="0"/>
                <a:ea typeface="Calibri" pitchFamily="34" charset="-122"/>
                <a:cs typeface="Calibri" pitchFamily="34" charset="-120"/>
              </a:rPr>
              <a:t>Seis de siete conjuntos superan el 85% del yield de diseño. Terranova (1.286, 97,2%) lidera y Los Abedules (935, 78,7%) queda último, aunque mejora frente a la 1.ª quincena (886). La 2.ª quincena generó 6,2% menos que la 1.ª, con caídas de 13% en Prado Verde y 10% en Terra by Kaia.</a:t>
            </a:r>
            <a:endParaRPr lang="es-CO" sz="8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10312"/>
            <a:ext cx="5897880" cy="374904"/>
          </a:xfrm>
          <a:prstGeom prst="rect">
            <a:avLst/>
          </a:prstGeom>
          <a:noFill/>
          <a:ln/>
        </p:spPr>
        <p:txBody>
          <a:bodyPr wrap="square" lIns="0" tIns="0" rIns="0" bIns="0" rtlCol="0" anchor="ctr"/>
          <a:lstStyle/>
          <a:p>
            <a:pPr marL="0" indent="0">
              <a:buNone/>
            </a:pPr>
            <a:r>
              <a:rPr lang="es-CO" sz="1900" b="1" noProof="0" dirty="0">
                <a:solidFill>
                  <a:srgbClr val="12263A"/>
                </a:solidFill>
                <a:latin typeface="Cambria" pitchFamily="34" charset="0"/>
                <a:ea typeface="Cambria" pitchFamily="34" charset="-122"/>
                <a:cs typeface="Cambria" pitchFamily="34" charset="-120"/>
              </a:rPr>
              <a:t>Ranking de Desempeño por Vivienda</a:t>
            </a:r>
            <a:endParaRPr lang="es-CO" sz="1900" noProof="0" dirty="0"/>
          </a:p>
        </p:txBody>
      </p:sp>
      <p:sp>
        <p:nvSpPr>
          <p:cNvPr id="3" name="Text 1"/>
          <p:cNvSpPr/>
          <p:nvPr/>
        </p:nvSpPr>
        <p:spPr>
          <a:xfrm>
            <a:off x="411480" y="557784"/>
            <a:ext cx="7882128" cy="237744"/>
          </a:xfrm>
          <a:prstGeom prst="rect">
            <a:avLst/>
          </a:prstGeom>
          <a:noFill/>
          <a:ln/>
        </p:spPr>
        <p:txBody>
          <a:bodyPr wrap="square" lIns="0" tIns="0" rIns="0" bIns="0" rtlCol="0" anchor="ctr"/>
          <a:lstStyle/>
          <a:p>
            <a:pPr marL="0" indent="0">
              <a:buNone/>
            </a:pPr>
            <a:r>
              <a:rPr lang="es-CO" sz="900" noProof="0" dirty="0">
                <a:solidFill>
                  <a:srgbClr val="55636E"/>
                </a:solidFill>
                <a:latin typeface="Calibri" pitchFamily="34" charset="0"/>
                <a:ea typeface="Calibri" pitchFamily="34" charset="-122"/>
                <a:cs typeface="Calibri" pitchFamily="34" charset="-120"/>
              </a:rPr>
              <a:t>% de desempeño del sistema fotovoltaico (Yield real / Yield de diseño) — 39 viviendas · 01 - 30 Sep 2026</a:t>
            </a:r>
            <a:endParaRPr lang="es-CO" sz="900" noProof="0" dirty="0"/>
          </a:p>
        </p:txBody>
      </p:sp>
      <p:sp>
        <p:nvSpPr>
          <p:cNvPr id="4" name="Shape 2"/>
          <p:cNvSpPr/>
          <p:nvPr/>
        </p:nvSpPr>
        <p:spPr>
          <a:xfrm>
            <a:off x="5038344"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5" name="Shape 3"/>
          <p:cNvSpPr/>
          <p:nvPr/>
        </p:nvSpPr>
        <p:spPr>
          <a:xfrm>
            <a:off x="5038344" y="192024"/>
            <a:ext cx="41148" cy="585216"/>
          </a:xfrm>
          <a:prstGeom prst="rect">
            <a:avLst/>
          </a:prstGeom>
          <a:solidFill>
            <a:srgbClr val="1F6F78"/>
          </a:solidFill>
          <a:ln w="12700">
            <a:solidFill>
              <a:srgbClr val="1F6F78"/>
            </a:solidFill>
            <a:prstDash val="solid"/>
          </a:ln>
        </p:spPr>
        <p:txBody>
          <a:bodyPr/>
          <a:lstStyle/>
          <a:p>
            <a:endParaRPr lang="es-CO" noProof="0" dirty="0"/>
          </a:p>
        </p:txBody>
      </p:sp>
      <p:sp>
        <p:nvSpPr>
          <p:cNvPr id="6" name="Text 4"/>
          <p:cNvSpPr/>
          <p:nvPr/>
        </p:nvSpPr>
        <p:spPr>
          <a:xfrm>
            <a:off x="5138928"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Desempeño promedio</a:t>
            </a:r>
            <a:endParaRPr lang="es-CO" sz="600" noProof="0" dirty="0"/>
          </a:p>
        </p:txBody>
      </p:sp>
      <p:sp>
        <p:nvSpPr>
          <p:cNvPr id="7" name="Text 5"/>
          <p:cNvSpPr/>
          <p:nvPr/>
        </p:nvSpPr>
        <p:spPr>
          <a:xfrm>
            <a:off x="5138928"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87,9%</a:t>
            </a:r>
            <a:endParaRPr lang="es-CO" sz="825" noProof="0" dirty="0"/>
          </a:p>
        </p:txBody>
      </p:sp>
      <p:sp>
        <p:nvSpPr>
          <p:cNvPr id="8" name="Shape 6"/>
          <p:cNvSpPr/>
          <p:nvPr/>
        </p:nvSpPr>
        <p:spPr>
          <a:xfrm>
            <a:off x="6400800"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9" name="Shape 7"/>
          <p:cNvSpPr/>
          <p:nvPr/>
        </p:nvSpPr>
        <p:spPr>
          <a:xfrm>
            <a:off x="6400800" y="192024"/>
            <a:ext cx="41148" cy="585216"/>
          </a:xfrm>
          <a:prstGeom prst="rect">
            <a:avLst/>
          </a:prstGeom>
          <a:solidFill>
            <a:srgbClr val="2E8B57"/>
          </a:solidFill>
          <a:ln w="12700">
            <a:solidFill>
              <a:srgbClr val="2E8B57"/>
            </a:solidFill>
            <a:prstDash val="solid"/>
          </a:ln>
        </p:spPr>
        <p:txBody>
          <a:bodyPr/>
          <a:lstStyle/>
          <a:p>
            <a:endParaRPr lang="es-CO" noProof="0" dirty="0"/>
          </a:p>
        </p:txBody>
      </p:sp>
      <p:sp>
        <p:nvSpPr>
          <p:cNvPr id="10" name="Text 8"/>
          <p:cNvSpPr/>
          <p:nvPr/>
        </p:nvSpPr>
        <p:spPr>
          <a:xfrm>
            <a:off x="6501384"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Mejor — Casa 24</a:t>
            </a:r>
            <a:endParaRPr lang="es-CO" sz="600" noProof="0" dirty="0"/>
          </a:p>
        </p:txBody>
      </p:sp>
      <p:sp>
        <p:nvSpPr>
          <p:cNvPr id="11" name="Text 9"/>
          <p:cNvSpPr/>
          <p:nvPr/>
        </p:nvSpPr>
        <p:spPr>
          <a:xfrm>
            <a:off x="6501384"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104,1%</a:t>
            </a:r>
            <a:endParaRPr lang="es-CO" sz="825" noProof="0" dirty="0"/>
          </a:p>
        </p:txBody>
      </p:sp>
      <p:sp>
        <p:nvSpPr>
          <p:cNvPr id="12" name="Shape 10"/>
          <p:cNvSpPr/>
          <p:nvPr/>
        </p:nvSpPr>
        <p:spPr>
          <a:xfrm>
            <a:off x="7754112"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13" name="Shape 11"/>
          <p:cNvSpPr/>
          <p:nvPr/>
        </p:nvSpPr>
        <p:spPr>
          <a:xfrm>
            <a:off x="7754112" y="192024"/>
            <a:ext cx="41148" cy="585216"/>
          </a:xfrm>
          <a:prstGeom prst="rect">
            <a:avLst/>
          </a:prstGeom>
          <a:solidFill>
            <a:srgbClr val="E63946"/>
          </a:solidFill>
          <a:ln w="12700">
            <a:solidFill>
              <a:srgbClr val="E63946"/>
            </a:solidFill>
            <a:prstDash val="solid"/>
          </a:ln>
        </p:spPr>
        <p:txBody>
          <a:bodyPr/>
          <a:lstStyle/>
          <a:p>
            <a:endParaRPr lang="es-CO" noProof="0" dirty="0"/>
          </a:p>
        </p:txBody>
      </p:sp>
      <p:sp>
        <p:nvSpPr>
          <p:cNvPr id="14" name="Text 12"/>
          <p:cNvSpPr/>
          <p:nvPr/>
        </p:nvSpPr>
        <p:spPr>
          <a:xfrm>
            <a:off x="7854696"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Menor — Casa 104</a:t>
            </a:r>
            <a:endParaRPr lang="es-CO" sz="600" noProof="0" dirty="0"/>
          </a:p>
        </p:txBody>
      </p:sp>
      <p:sp>
        <p:nvSpPr>
          <p:cNvPr id="15" name="Text 13"/>
          <p:cNvSpPr/>
          <p:nvPr/>
        </p:nvSpPr>
        <p:spPr>
          <a:xfrm>
            <a:off x="7854696"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67,4%</a:t>
            </a:r>
            <a:endParaRPr lang="es-CO" sz="825" noProof="0" dirty="0"/>
          </a:p>
        </p:txBody>
      </p:sp>
      <p:sp>
        <p:nvSpPr>
          <p:cNvPr id="16" name="Shape 14"/>
          <p:cNvSpPr/>
          <p:nvPr/>
        </p:nvSpPr>
        <p:spPr>
          <a:xfrm>
            <a:off x="411480" y="877824"/>
            <a:ext cx="91440" cy="91440"/>
          </a:xfrm>
          <a:prstGeom prst="rect">
            <a:avLst/>
          </a:prstGeom>
          <a:solidFill>
            <a:srgbClr val="2E8B57"/>
          </a:solidFill>
          <a:ln w="12700">
            <a:solidFill>
              <a:srgbClr val="2E8B57"/>
            </a:solidFill>
            <a:prstDash val="solid"/>
          </a:ln>
        </p:spPr>
        <p:txBody>
          <a:bodyPr/>
          <a:lstStyle/>
          <a:p>
            <a:endParaRPr lang="es-CO" noProof="0" dirty="0"/>
          </a:p>
        </p:txBody>
      </p:sp>
      <p:sp>
        <p:nvSpPr>
          <p:cNvPr id="17" name="Text 15"/>
          <p:cNvSpPr/>
          <p:nvPr/>
        </p:nvSpPr>
        <p:spPr>
          <a:xfrm>
            <a:off x="548640"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 80% — Desempeño alto</a:t>
            </a:r>
            <a:endParaRPr lang="es-CO" sz="675" noProof="0" dirty="0"/>
          </a:p>
        </p:txBody>
      </p:sp>
      <p:sp>
        <p:nvSpPr>
          <p:cNvPr id="18" name="Shape 16"/>
          <p:cNvSpPr/>
          <p:nvPr/>
        </p:nvSpPr>
        <p:spPr>
          <a:xfrm>
            <a:off x="2157984" y="877824"/>
            <a:ext cx="91440" cy="91440"/>
          </a:xfrm>
          <a:prstGeom prst="rect">
            <a:avLst/>
          </a:prstGeom>
          <a:solidFill>
            <a:srgbClr val="F4B400"/>
          </a:solidFill>
          <a:ln w="12700">
            <a:solidFill>
              <a:srgbClr val="F4B400"/>
            </a:solidFill>
            <a:prstDash val="solid"/>
          </a:ln>
        </p:spPr>
        <p:txBody>
          <a:bodyPr/>
          <a:lstStyle/>
          <a:p>
            <a:endParaRPr lang="es-CO" noProof="0" dirty="0"/>
          </a:p>
        </p:txBody>
      </p:sp>
      <p:sp>
        <p:nvSpPr>
          <p:cNvPr id="19" name="Text 17"/>
          <p:cNvSpPr/>
          <p:nvPr/>
        </p:nvSpPr>
        <p:spPr>
          <a:xfrm>
            <a:off x="2295144"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60–79% — Desempeño medio</a:t>
            </a:r>
            <a:endParaRPr lang="es-CO" sz="675" noProof="0" dirty="0"/>
          </a:p>
        </p:txBody>
      </p:sp>
      <p:sp>
        <p:nvSpPr>
          <p:cNvPr id="20" name="Shape 18"/>
          <p:cNvSpPr/>
          <p:nvPr/>
        </p:nvSpPr>
        <p:spPr>
          <a:xfrm>
            <a:off x="3913632" y="877824"/>
            <a:ext cx="91440" cy="91440"/>
          </a:xfrm>
          <a:prstGeom prst="rect">
            <a:avLst/>
          </a:prstGeom>
          <a:solidFill>
            <a:srgbClr val="E63946"/>
          </a:solidFill>
          <a:ln w="12700">
            <a:solidFill>
              <a:srgbClr val="E63946"/>
            </a:solidFill>
            <a:prstDash val="solid"/>
          </a:ln>
        </p:spPr>
        <p:txBody>
          <a:bodyPr/>
          <a:lstStyle/>
          <a:p>
            <a:endParaRPr lang="es-CO" noProof="0" dirty="0"/>
          </a:p>
        </p:txBody>
      </p:sp>
      <p:sp>
        <p:nvSpPr>
          <p:cNvPr id="21" name="Text 19"/>
          <p:cNvSpPr/>
          <p:nvPr/>
        </p:nvSpPr>
        <p:spPr>
          <a:xfrm>
            <a:off x="4050792"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&lt; 60% — Desempeño bajo</a:t>
            </a:r>
            <a:endParaRPr lang="es-CO" sz="675" noProof="0" dirty="0"/>
          </a:p>
        </p:txBody>
      </p:sp>
      <p:sp>
        <p:nvSpPr>
          <p:cNvPr id="22" name="Text 20"/>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5</a:t>
            </a:r>
            <a:endParaRPr lang="es-CO" sz="800" noProof="0" dirty="0"/>
          </a:p>
        </p:txBody>
      </p:sp>
      <p:graphicFrame>
        <p:nvGraphicFramePr>
          <p:cNvPr id="23" name="Chart 0"/>
          <p:cNvGraphicFramePr/>
          <p:nvPr/>
        </p:nvGraphicFramePr>
        <p:xfrm>
          <a:off x="237744" y="1097280"/>
          <a:ext cx="8641080" cy="3675888"/>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p:nvPr/>
        </p:nvSpPr>
        <p:spPr>
          <a:xfrm>
            <a:off x="237744" y="4773168"/>
            <a:ext cx="8641080" cy="219456"/>
          </a:xfrm>
          <a:prstGeom prst="rect">
            <a:avLst/>
          </a:prstGeom>
          <a:noFill/>
          <a:ln/>
        </p:spPr>
        <p:txBody>
          <a:bodyPr wrap="square" lIns="0" tIns="0" rIns="0" bIns="0" rtlCol="0" anchor="ctr"/>
          <a:lstStyle/>
          <a:p>
            <a:pPr marL="0" indent="0">
              <a:buNone/>
            </a:pPr>
            <a:r>
              <a:rPr lang="es-CO" sz="700" i="1" noProof="0" dirty="0">
                <a:solidFill>
                  <a:srgbClr val="55636E"/>
                </a:solidFill>
                <a:latin typeface="Calibri" pitchFamily="34" charset="0"/>
                <a:ea typeface="Calibri" pitchFamily="34" charset="-122"/>
                <a:cs typeface="Calibri" pitchFamily="34" charset="-120"/>
              </a:rPr>
              <a:t>🧳  Ausencia del hogar: el consumo cae a menos de la mitad y la generación cae con él (recorte, no falla) — Casa 104 (24-30 sep, confirmada), Casa 18 (28-30), Casa 74 (4-5 y 24-25), Casa 76 (14-15) y Casa 287 (1-2).</a:t>
            </a:r>
            <a:endParaRPr lang="es-CO" sz="7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700" b="1" noProof="0" dirty="0">
                <a:solidFill>
                  <a:srgbClr val="FFFFFF"/>
                </a:solidFill>
                <a:latin typeface="Calibri" pitchFamily="34" charset="0"/>
                <a:ea typeface="Calibri" pitchFamily="34" charset="-122"/>
                <a:cs typeface="Calibri" pitchFamily="34" charset="-120"/>
              </a:rPr>
              <a:t>COBERTURA SOLAR VS. CONSUMO - 01 A 30 SEP 2026</a:t>
            </a:r>
            <a:endParaRPr lang="es-CO" sz="17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COBERTURA SOLAR VS CONSUMO</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6</a:t>
            </a:r>
            <a:endParaRPr lang="es-CO" sz="800" noProof="0" dirty="0"/>
          </a:p>
        </p:txBody>
      </p:sp>
      <p:graphicFrame>
        <p:nvGraphicFramePr>
          <p:cNvPr id="8" name="Chart 0"/>
          <p:cNvGraphicFramePr/>
          <p:nvPr>
            <p:extLst>
              <p:ext uri="{D42A27DB-BD31-4B8C-83A1-F6EECF244321}">
                <p14:modId xmlns:p14="http://schemas.microsoft.com/office/powerpoint/2010/main" val="2386675563"/>
              </p:ext>
            </p:extLst>
          </p:nvPr>
        </p:nvGraphicFramePr>
        <p:xfrm>
          <a:off x="320040" y="1188720"/>
          <a:ext cx="52120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5669280" y="1143000"/>
            <a:ext cx="3108960" cy="274320"/>
          </a:xfrm>
          <a:prstGeom prst="rect">
            <a:avLst/>
          </a:prstGeom>
          <a:noFill/>
          <a:ln/>
        </p:spPr>
        <p:txBody>
          <a:bodyPr wrap="square" lIns="0" tIns="0" rIns="0" bIns="0" rtlCol="0" anchor="ctr"/>
          <a:lstStyle/>
          <a:p>
            <a:pPr marL="0" indent="0">
              <a:buNone/>
            </a:pPr>
            <a:r>
              <a:rPr lang="es-CO" sz="1000" b="1" kern="0" spc="100" noProof="0" dirty="0">
                <a:solidFill>
                  <a:srgbClr val="7F8C8D"/>
                </a:solidFill>
                <a:latin typeface="Calibri" pitchFamily="34" charset="0"/>
                <a:ea typeface="Calibri" pitchFamily="34" charset="-122"/>
                <a:cs typeface="Calibri" pitchFamily="34" charset="-120"/>
              </a:rPr>
              <a:t>COBERTURA SOLAR %</a:t>
            </a:r>
            <a:endParaRPr lang="es-CO" sz="1000" noProof="0" dirty="0"/>
          </a:p>
        </p:txBody>
      </p:sp>
      <p:sp>
        <p:nvSpPr>
          <p:cNvPr id="10" name="Shape 7"/>
          <p:cNvSpPr/>
          <p:nvPr/>
        </p:nvSpPr>
        <p:spPr>
          <a:xfrm>
            <a:off x="5669280" y="1371600"/>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11" name="Text 8"/>
          <p:cNvSpPr/>
          <p:nvPr/>
        </p:nvSpPr>
        <p:spPr>
          <a:xfrm>
            <a:off x="5788152" y="1380744"/>
            <a:ext cx="1005840" cy="347472"/>
          </a:xfrm>
          <a:prstGeom prst="rect">
            <a:avLst/>
          </a:prstGeom>
          <a:noFill/>
          <a:ln/>
        </p:spPr>
        <p:txBody>
          <a:bodyPr wrap="square" lIns="0" tIns="0" rIns="0" bIns="0" rtlCol="0" anchor="ctr"/>
          <a:lstStyle/>
          <a:p>
            <a:pPr marL="0" indent="0">
              <a:buNone/>
            </a:pPr>
            <a:r>
              <a:rPr lang="es-CO" sz="1250" b="1" noProof="0" dirty="0">
                <a:solidFill>
                  <a:srgbClr val="CA6F1E"/>
                </a:solidFill>
                <a:latin typeface="Calibri" pitchFamily="34" charset="0"/>
                <a:ea typeface="Calibri" pitchFamily="34" charset="-122"/>
                <a:cs typeface="Calibri" pitchFamily="34" charset="-120"/>
              </a:rPr>
              <a:t>67,4%</a:t>
            </a:r>
            <a:endParaRPr lang="es-CO" sz="1250" noProof="0" dirty="0"/>
          </a:p>
        </p:txBody>
      </p:sp>
      <p:sp>
        <p:nvSpPr>
          <p:cNvPr id="12" name="Text 9"/>
          <p:cNvSpPr/>
          <p:nvPr/>
        </p:nvSpPr>
        <p:spPr>
          <a:xfrm>
            <a:off x="6812280" y="1380744"/>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Reservas de Pance</a:t>
            </a:r>
            <a:endParaRPr lang="es-CO" sz="850" noProof="0" dirty="0"/>
          </a:p>
        </p:txBody>
      </p:sp>
      <p:sp>
        <p:nvSpPr>
          <p:cNvPr id="13" name="Shape 10"/>
          <p:cNvSpPr/>
          <p:nvPr/>
        </p:nvSpPr>
        <p:spPr>
          <a:xfrm>
            <a:off x="5669280" y="1801368"/>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14" name="Text 11"/>
          <p:cNvSpPr/>
          <p:nvPr/>
        </p:nvSpPr>
        <p:spPr>
          <a:xfrm>
            <a:off x="5788152" y="1810512"/>
            <a:ext cx="1005840" cy="347472"/>
          </a:xfrm>
          <a:prstGeom prst="rect">
            <a:avLst/>
          </a:prstGeom>
          <a:noFill/>
          <a:ln/>
        </p:spPr>
        <p:txBody>
          <a:bodyPr wrap="square" lIns="0" tIns="0" rIns="0" bIns="0" rtlCol="0" anchor="ctr"/>
          <a:lstStyle/>
          <a:p>
            <a:pPr marL="0" indent="0">
              <a:buNone/>
            </a:pPr>
            <a:r>
              <a:rPr lang="es-CO" sz="1250" b="1" noProof="0" dirty="0">
                <a:solidFill>
                  <a:srgbClr val="1E8449"/>
                </a:solidFill>
                <a:latin typeface="Calibri" pitchFamily="34" charset="0"/>
                <a:ea typeface="Calibri" pitchFamily="34" charset="-122"/>
                <a:cs typeface="Calibri" pitchFamily="34" charset="-120"/>
              </a:rPr>
              <a:t>70,3%</a:t>
            </a:r>
            <a:endParaRPr lang="es-CO" sz="1250" noProof="0" dirty="0"/>
          </a:p>
        </p:txBody>
      </p:sp>
      <p:sp>
        <p:nvSpPr>
          <p:cNvPr id="15" name="Text 12"/>
          <p:cNvSpPr/>
          <p:nvPr/>
        </p:nvSpPr>
        <p:spPr>
          <a:xfrm>
            <a:off x="6812280" y="1810512"/>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Prado Verde</a:t>
            </a:r>
            <a:endParaRPr lang="es-CO" sz="850" noProof="0" dirty="0"/>
          </a:p>
        </p:txBody>
      </p:sp>
      <p:sp>
        <p:nvSpPr>
          <p:cNvPr id="16" name="Shape 13"/>
          <p:cNvSpPr/>
          <p:nvPr/>
        </p:nvSpPr>
        <p:spPr>
          <a:xfrm>
            <a:off x="5669280" y="2231136"/>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17" name="Text 14"/>
          <p:cNvSpPr/>
          <p:nvPr/>
        </p:nvSpPr>
        <p:spPr>
          <a:xfrm>
            <a:off x="5788152" y="2240280"/>
            <a:ext cx="1005840" cy="347472"/>
          </a:xfrm>
          <a:prstGeom prst="rect">
            <a:avLst/>
          </a:prstGeom>
          <a:noFill/>
          <a:ln/>
        </p:spPr>
        <p:txBody>
          <a:bodyPr wrap="square" lIns="0" tIns="0" rIns="0" bIns="0" rtlCol="0" anchor="ctr"/>
          <a:lstStyle/>
          <a:p>
            <a:pPr marL="0" indent="0">
              <a:buNone/>
            </a:pPr>
            <a:r>
              <a:rPr lang="es-CO" sz="1250" b="1" noProof="0" dirty="0">
                <a:solidFill>
                  <a:srgbClr val="CA6F1E"/>
                </a:solidFill>
                <a:latin typeface="Calibri" pitchFamily="34" charset="0"/>
                <a:ea typeface="Calibri" pitchFamily="34" charset="-122"/>
                <a:cs typeface="Calibri" pitchFamily="34" charset="-120"/>
              </a:rPr>
              <a:t>65,6%</a:t>
            </a:r>
            <a:endParaRPr lang="es-CO" sz="1250" noProof="0" dirty="0"/>
          </a:p>
        </p:txBody>
      </p:sp>
      <p:sp>
        <p:nvSpPr>
          <p:cNvPr id="18" name="Text 15"/>
          <p:cNvSpPr/>
          <p:nvPr/>
        </p:nvSpPr>
        <p:spPr>
          <a:xfrm>
            <a:off x="6812280" y="2240280"/>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Terra by Kaia</a:t>
            </a:r>
            <a:endParaRPr lang="es-CO" sz="850" noProof="0" dirty="0"/>
          </a:p>
        </p:txBody>
      </p:sp>
      <p:sp>
        <p:nvSpPr>
          <p:cNvPr id="19" name="Shape 16"/>
          <p:cNvSpPr/>
          <p:nvPr/>
        </p:nvSpPr>
        <p:spPr>
          <a:xfrm>
            <a:off x="5669280" y="2660904"/>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20" name="Text 17"/>
          <p:cNvSpPr/>
          <p:nvPr/>
        </p:nvSpPr>
        <p:spPr>
          <a:xfrm>
            <a:off x="5788152" y="2670048"/>
            <a:ext cx="1005840" cy="347472"/>
          </a:xfrm>
          <a:prstGeom prst="rect">
            <a:avLst/>
          </a:prstGeom>
          <a:noFill/>
          <a:ln/>
        </p:spPr>
        <p:txBody>
          <a:bodyPr wrap="square" lIns="0" tIns="0" rIns="0" bIns="0" rtlCol="0" anchor="ctr"/>
          <a:lstStyle/>
          <a:p>
            <a:pPr marL="0" indent="0">
              <a:buNone/>
            </a:pPr>
            <a:r>
              <a:rPr lang="es-CO" sz="1250" b="1" noProof="0" dirty="0">
                <a:solidFill>
                  <a:srgbClr val="C0392B"/>
                </a:solidFill>
                <a:latin typeface="Calibri" pitchFamily="34" charset="0"/>
                <a:ea typeface="Calibri" pitchFamily="34" charset="-122"/>
                <a:cs typeface="Calibri" pitchFamily="34" charset="-120"/>
              </a:rPr>
              <a:t>50,2%</a:t>
            </a:r>
            <a:endParaRPr lang="es-CO" sz="1250" noProof="0" dirty="0"/>
          </a:p>
        </p:txBody>
      </p:sp>
      <p:sp>
        <p:nvSpPr>
          <p:cNvPr id="21" name="Text 18"/>
          <p:cNvSpPr/>
          <p:nvPr/>
        </p:nvSpPr>
        <p:spPr>
          <a:xfrm>
            <a:off x="6812280" y="2670048"/>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Terranova</a:t>
            </a:r>
            <a:endParaRPr lang="es-CO" sz="850" noProof="0" dirty="0"/>
          </a:p>
        </p:txBody>
      </p:sp>
      <p:sp>
        <p:nvSpPr>
          <p:cNvPr id="22" name="Shape 19"/>
          <p:cNvSpPr/>
          <p:nvPr/>
        </p:nvSpPr>
        <p:spPr>
          <a:xfrm>
            <a:off x="5669280" y="3090672"/>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23" name="Text 20"/>
          <p:cNvSpPr/>
          <p:nvPr/>
        </p:nvSpPr>
        <p:spPr>
          <a:xfrm>
            <a:off x="5788152" y="3099816"/>
            <a:ext cx="1005840" cy="347472"/>
          </a:xfrm>
          <a:prstGeom prst="rect">
            <a:avLst/>
          </a:prstGeom>
          <a:noFill/>
          <a:ln/>
        </p:spPr>
        <p:txBody>
          <a:bodyPr wrap="square" lIns="0" tIns="0" rIns="0" bIns="0" rtlCol="0" anchor="ctr"/>
          <a:lstStyle/>
          <a:p>
            <a:pPr marL="0" indent="0">
              <a:buNone/>
            </a:pPr>
            <a:r>
              <a:rPr lang="es-CO" sz="1250" b="1" noProof="0" dirty="0">
                <a:solidFill>
                  <a:srgbClr val="CA6F1E"/>
                </a:solidFill>
                <a:latin typeface="Calibri" pitchFamily="34" charset="0"/>
                <a:ea typeface="Calibri" pitchFamily="34" charset="-122"/>
                <a:cs typeface="Calibri" pitchFamily="34" charset="-120"/>
              </a:rPr>
              <a:t>69,9%</a:t>
            </a:r>
            <a:endParaRPr lang="es-CO" sz="1250" noProof="0" dirty="0"/>
          </a:p>
        </p:txBody>
      </p:sp>
      <p:sp>
        <p:nvSpPr>
          <p:cNvPr id="24" name="Text 21"/>
          <p:cNvSpPr/>
          <p:nvPr/>
        </p:nvSpPr>
        <p:spPr>
          <a:xfrm>
            <a:off x="6812280" y="3099816"/>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Los Abedules</a:t>
            </a:r>
            <a:endParaRPr lang="es-CO" sz="850" noProof="0" dirty="0"/>
          </a:p>
        </p:txBody>
      </p:sp>
      <p:sp>
        <p:nvSpPr>
          <p:cNvPr id="25" name="Shape 22"/>
          <p:cNvSpPr/>
          <p:nvPr/>
        </p:nvSpPr>
        <p:spPr>
          <a:xfrm>
            <a:off x="5669280" y="3520440"/>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26" name="Text 23"/>
          <p:cNvSpPr/>
          <p:nvPr/>
        </p:nvSpPr>
        <p:spPr>
          <a:xfrm>
            <a:off x="5788152" y="3529584"/>
            <a:ext cx="1005840" cy="347472"/>
          </a:xfrm>
          <a:prstGeom prst="rect">
            <a:avLst/>
          </a:prstGeom>
          <a:noFill/>
          <a:ln/>
        </p:spPr>
        <p:txBody>
          <a:bodyPr wrap="square" lIns="0" tIns="0" rIns="0" bIns="0" rtlCol="0" anchor="ctr"/>
          <a:lstStyle/>
          <a:p>
            <a:pPr marL="0" indent="0">
              <a:buNone/>
            </a:pPr>
            <a:r>
              <a:rPr lang="es-CO" sz="1250" b="1" noProof="0" dirty="0">
                <a:solidFill>
                  <a:srgbClr val="C0392B"/>
                </a:solidFill>
                <a:latin typeface="Calibri" pitchFamily="34" charset="0"/>
                <a:ea typeface="Calibri" pitchFamily="34" charset="-122"/>
                <a:cs typeface="Calibri" pitchFamily="34" charset="-120"/>
              </a:rPr>
              <a:t>56,5%</a:t>
            </a:r>
            <a:endParaRPr lang="es-CO" sz="1250" noProof="0" dirty="0"/>
          </a:p>
        </p:txBody>
      </p:sp>
      <p:sp>
        <p:nvSpPr>
          <p:cNvPr id="27" name="Text 24"/>
          <p:cNvSpPr/>
          <p:nvPr/>
        </p:nvSpPr>
        <p:spPr>
          <a:xfrm>
            <a:off x="6812280" y="3529584"/>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Portón Rivera</a:t>
            </a:r>
            <a:endParaRPr lang="es-CO" sz="850" noProof="0" dirty="0"/>
          </a:p>
        </p:txBody>
      </p:sp>
      <p:sp>
        <p:nvSpPr>
          <p:cNvPr id="28" name="Shape 25"/>
          <p:cNvSpPr/>
          <p:nvPr/>
        </p:nvSpPr>
        <p:spPr>
          <a:xfrm>
            <a:off x="5669280" y="3950208"/>
            <a:ext cx="3108960" cy="365760"/>
          </a:xfrm>
          <a:prstGeom prst="rect">
            <a:avLst/>
          </a:prstGeom>
          <a:solidFill>
            <a:srgbClr val="F7F9FC"/>
          </a:solidFill>
          <a:ln w="9525">
            <a:solidFill>
              <a:srgbClr val="E3E7EA"/>
            </a:solidFill>
            <a:prstDash val="solid"/>
          </a:ln>
        </p:spPr>
        <p:txBody>
          <a:bodyPr/>
          <a:lstStyle/>
          <a:p>
            <a:endParaRPr lang="es-CO" noProof="0" dirty="0"/>
          </a:p>
        </p:txBody>
      </p:sp>
      <p:sp>
        <p:nvSpPr>
          <p:cNvPr id="29" name="Text 26"/>
          <p:cNvSpPr/>
          <p:nvPr/>
        </p:nvSpPr>
        <p:spPr>
          <a:xfrm>
            <a:off x="5788152" y="3959352"/>
            <a:ext cx="1005840" cy="347472"/>
          </a:xfrm>
          <a:prstGeom prst="rect">
            <a:avLst/>
          </a:prstGeom>
          <a:noFill/>
          <a:ln/>
        </p:spPr>
        <p:txBody>
          <a:bodyPr wrap="square" lIns="0" tIns="0" rIns="0" bIns="0" rtlCol="0" anchor="ctr"/>
          <a:lstStyle/>
          <a:p>
            <a:pPr marL="0" indent="0">
              <a:buNone/>
            </a:pPr>
            <a:r>
              <a:rPr lang="es-CO" sz="1250" b="1" noProof="0" dirty="0">
                <a:solidFill>
                  <a:srgbClr val="CA6F1E"/>
                </a:solidFill>
                <a:latin typeface="Calibri" pitchFamily="34" charset="0"/>
                <a:ea typeface="Calibri" pitchFamily="34" charset="-122"/>
                <a:cs typeface="Calibri" pitchFamily="34" charset="-120"/>
              </a:rPr>
              <a:t>61,6%</a:t>
            </a:r>
            <a:endParaRPr lang="es-CO" sz="1250" noProof="0" dirty="0"/>
          </a:p>
        </p:txBody>
      </p:sp>
      <p:sp>
        <p:nvSpPr>
          <p:cNvPr id="30" name="Text 27"/>
          <p:cNvSpPr/>
          <p:nvPr/>
        </p:nvSpPr>
        <p:spPr>
          <a:xfrm>
            <a:off x="6812280" y="3959352"/>
            <a:ext cx="1874520" cy="347472"/>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Llanos Pance</a:t>
            </a:r>
            <a:endParaRPr lang="es-CO" sz="850" noProof="0" dirty="0"/>
          </a:p>
        </p:txBody>
      </p:sp>
      <p:sp>
        <p:nvSpPr>
          <p:cNvPr id="31" name="Text 28"/>
          <p:cNvSpPr/>
          <p:nvPr/>
        </p:nvSpPr>
        <p:spPr>
          <a:xfrm>
            <a:off x="365760" y="4407408"/>
            <a:ext cx="5212080" cy="411480"/>
          </a:xfrm>
          <a:prstGeom prst="rect">
            <a:avLst/>
          </a:prstGeom>
          <a:noFill/>
          <a:ln/>
        </p:spPr>
        <p:txBody>
          <a:bodyPr wrap="square" lIns="0" tIns="0" rIns="0" bIns="0" rtlCol="0" anchor="ctr"/>
          <a:lstStyle/>
          <a:p>
            <a:pPr marL="0" indent="0">
              <a:buNone/>
            </a:pPr>
            <a:r>
              <a:rPr lang="es-CO" sz="820" i="1" noProof="0" dirty="0">
                <a:solidFill>
                  <a:srgbClr val="55636E"/>
                </a:solidFill>
                <a:latin typeface="Calibri" pitchFamily="34" charset="0"/>
                <a:ea typeface="Calibri" pitchFamily="34" charset="-122"/>
                <a:cs typeface="Calibri" pitchFamily="34" charset="-120"/>
              </a:rPr>
              <a:t>Cobertura media del portafolio Sunny: 63,1% (promedio por conjunto) · 66,4% como razón de totales. Solo Prado Verde Primavera (70,3%) alcanza la meta del 70%; Terranova (50,2%) y Portón de la Rivera (56,5%) arrastran el promedio.</a:t>
            </a:r>
            <a:endParaRPr lang="es-CO" sz="82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10312"/>
            <a:ext cx="5897880" cy="374904"/>
          </a:xfrm>
          <a:prstGeom prst="rect">
            <a:avLst/>
          </a:prstGeom>
          <a:noFill/>
          <a:ln/>
        </p:spPr>
        <p:txBody>
          <a:bodyPr wrap="square" lIns="0" tIns="0" rIns="0" bIns="0" rtlCol="0" anchor="ctr"/>
          <a:lstStyle/>
          <a:p>
            <a:pPr marL="0" indent="0">
              <a:buNone/>
            </a:pPr>
            <a:r>
              <a:rPr lang="es-CO" sz="1900" b="1" noProof="0" dirty="0">
                <a:solidFill>
                  <a:srgbClr val="12263A"/>
                </a:solidFill>
                <a:latin typeface="Cambria" pitchFamily="34" charset="0"/>
                <a:ea typeface="Cambria" pitchFamily="34" charset="-122"/>
                <a:cs typeface="Cambria" pitchFamily="34" charset="-120"/>
              </a:rPr>
              <a:t>Aprovechamiento de Batería (SOC)</a:t>
            </a:r>
            <a:endParaRPr lang="es-CO" sz="1900" noProof="0" dirty="0"/>
          </a:p>
        </p:txBody>
      </p:sp>
      <p:sp>
        <p:nvSpPr>
          <p:cNvPr id="3" name="Text 1"/>
          <p:cNvSpPr/>
          <p:nvPr/>
        </p:nvSpPr>
        <p:spPr>
          <a:xfrm>
            <a:off x="411480" y="557784"/>
            <a:ext cx="7882128" cy="237744"/>
          </a:xfrm>
          <a:prstGeom prst="rect">
            <a:avLst/>
          </a:prstGeom>
          <a:noFill/>
          <a:ln/>
        </p:spPr>
        <p:txBody>
          <a:bodyPr wrap="square" lIns="0" tIns="0" rIns="0" bIns="0" rtlCol="0" anchor="ctr"/>
          <a:lstStyle/>
          <a:p>
            <a:pPr marL="0" indent="0">
              <a:buNone/>
            </a:pPr>
            <a:r>
              <a:rPr lang="es-CO" sz="900" noProof="0" dirty="0">
                <a:solidFill>
                  <a:srgbClr val="55636E"/>
                </a:solidFill>
                <a:latin typeface="Calibri" pitchFamily="34" charset="0"/>
                <a:ea typeface="Calibri" pitchFamily="34" charset="-122"/>
                <a:cs typeface="Calibri" pitchFamily="34" charset="-120"/>
              </a:rPr>
              <a:t>SOC promedio horario por vivienda — 39 viviendas con BESS reportando · 01 - 30 Sep 2026</a:t>
            </a:r>
            <a:endParaRPr lang="es-CO" sz="900" noProof="0" dirty="0"/>
          </a:p>
        </p:txBody>
      </p:sp>
      <p:sp>
        <p:nvSpPr>
          <p:cNvPr id="4" name="Shape 2"/>
          <p:cNvSpPr/>
          <p:nvPr/>
        </p:nvSpPr>
        <p:spPr>
          <a:xfrm>
            <a:off x="5038344"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5" name="Shape 3"/>
          <p:cNvSpPr/>
          <p:nvPr/>
        </p:nvSpPr>
        <p:spPr>
          <a:xfrm>
            <a:off x="5038344" y="192024"/>
            <a:ext cx="41148" cy="585216"/>
          </a:xfrm>
          <a:prstGeom prst="rect">
            <a:avLst/>
          </a:prstGeom>
          <a:solidFill>
            <a:srgbClr val="1F6F78"/>
          </a:solidFill>
          <a:ln w="12700">
            <a:solidFill>
              <a:srgbClr val="1F6F78"/>
            </a:solidFill>
            <a:prstDash val="solid"/>
          </a:ln>
        </p:spPr>
        <p:txBody>
          <a:bodyPr/>
          <a:lstStyle/>
          <a:p>
            <a:endParaRPr lang="es-CO" noProof="0" dirty="0"/>
          </a:p>
        </p:txBody>
      </p:sp>
      <p:sp>
        <p:nvSpPr>
          <p:cNvPr id="6" name="Text 4"/>
          <p:cNvSpPr/>
          <p:nvPr/>
        </p:nvSpPr>
        <p:spPr>
          <a:xfrm>
            <a:off x="5138928"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SOC promedio general</a:t>
            </a:r>
            <a:endParaRPr lang="es-CO" sz="600" noProof="0" dirty="0"/>
          </a:p>
        </p:txBody>
      </p:sp>
      <p:sp>
        <p:nvSpPr>
          <p:cNvPr id="7" name="Text 5"/>
          <p:cNvSpPr/>
          <p:nvPr/>
        </p:nvSpPr>
        <p:spPr>
          <a:xfrm>
            <a:off x="5138928"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52,6%</a:t>
            </a:r>
            <a:endParaRPr lang="es-CO" sz="825" noProof="0" dirty="0"/>
          </a:p>
        </p:txBody>
      </p:sp>
      <p:sp>
        <p:nvSpPr>
          <p:cNvPr id="8" name="Shape 6"/>
          <p:cNvSpPr/>
          <p:nvPr/>
        </p:nvSpPr>
        <p:spPr>
          <a:xfrm>
            <a:off x="6400800"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9" name="Shape 7"/>
          <p:cNvSpPr/>
          <p:nvPr/>
        </p:nvSpPr>
        <p:spPr>
          <a:xfrm>
            <a:off x="6400800" y="192024"/>
            <a:ext cx="41148" cy="585216"/>
          </a:xfrm>
          <a:prstGeom prst="rect">
            <a:avLst/>
          </a:prstGeom>
          <a:solidFill>
            <a:srgbClr val="2E8B57"/>
          </a:solidFill>
          <a:ln w="12700">
            <a:solidFill>
              <a:srgbClr val="2E8B57"/>
            </a:solidFill>
            <a:prstDash val="solid"/>
          </a:ln>
        </p:spPr>
        <p:txBody>
          <a:bodyPr/>
          <a:lstStyle/>
          <a:p>
            <a:endParaRPr lang="es-CO" noProof="0" dirty="0"/>
          </a:p>
        </p:txBody>
      </p:sp>
      <p:sp>
        <p:nvSpPr>
          <p:cNvPr id="10" name="Text 8"/>
          <p:cNvSpPr/>
          <p:nvPr/>
        </p:nvSpPr>
        <p:spPr>
          <a:xfrm>
            <a:off x="6501384"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Mayor uso — Casa 24</a:t>
            </a:r>
            <a:endParaRPr lang="es-CO" sz="600" noProof="0" dirty="0"/>
          </a:p>
        </p:txBody>
      </p:sp>
      <p:sp>
        <p:nvSpPr>
          <p:cNvPr id="11" name="Text 9"/>
          <p:cNvSpPr/>
          <p:nvPr/>
        </p:nvSpPr>
        <p:spPr>
          <a:xfrm>
            <a:off x="6501384"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37,2% SOC prom.</a:t>
            </a:r>
            <a:endParaRPr lang="es-CO" sz="825" noProof="0" dirty="0"/>
          </a:p>
        </p:txBody>
      </p:sp>
      <p:sp>
        <p:nvSpPr>
          <p:cNvPr id="12" name="Shape 10"/>
          <p:cNvSpPr/>
          <p:nvPr/>
        </p:nvSpPr>
        <p:spPr>
          <a:xfrm>
            <a:off x="7754112"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13" name="Shape 11"/>
          <p:cNvSpPr/>
          <p:nvPr/>
        </p:nvSpPr>
        <p:spPr>
          <a:xfrm>
            <a:off x="7754112" y="192024"/>
            <a:ext cx="41148" cy="585216"/>
          </a:xfrm>
          <a:prstGeom prst="rect">
            <a:avLst/>
          </a:prstGeom>
          <a:solidFill>
            <a:srgbClr val="E63946"/>
          </a:solidFill>
          <a:ln w="12700">
            <a:solidFill>
              <a:srgbClr val="E63946"/>
            </a:solidFill>
            <a:prstDash val="solid"/>
          </a:ln>
        </p:spPr>
        <p:txBody>
          <a:bodyPr/>
          <a:lstStyle/>
          <a:p>
            <a:endParaRPr lang="es-CO" noProof="0" dirty="0"/>
          </a:p>
        </p:txBody>
      </p:sp>
      <p:sp>
        <p:nvSpPr>
          <p:cNvPr id="14" name="Text 12"/>
          <p:cNvSpPr/>
          <p:nvPr/>
        </p:nvSpPr>
        <p:spPr>
          <a:xfrm>
            <a:off x="7854696"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Menor uso — Casa 55p</a:t>
            </a:r>
            <a:endParaRPr lang="es-CO" sz="600" noProof="0" dirty="0"/>
          </a:p>
        </p:txBody>
      </p:sp>
      <p:sp>
        <p:nvSpPr>
          <p:cNvPr id="15" name="Text 13"/>
          <p:cNvSpPr/>
          <p:nvPr/>
        </p:nvSpPr>
        <p:spPr>
          <a:xfrm>
            <a:off x="7854696"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72,8% SOC prom.</a:t>
            </a:r>
            <a:endParaRPr lang="es-CO" sz="825" noProof="0" dirty="0"/>
          </a:p>
        </p:txBody>
      </p:sp>
      <p:sp>
        <p:nvSpPr>
          <p:cNvPr id="16" name="Shape 14"/>
          <p:cNvSpPr/>
          <p:nvPr/>
        </p:nvSpPr>
        <p:spPr>
          <a:xfrm>
            <a:off x="411480" y="877824"/>
            <a:ext cx="91440" cy="91440"/>
          </a:xfrm>
          <a:prstGeom prst="rect">
            <a:avLst/>
          </a:prstGeom>
          <a:solidFill>
            <a:srgbClr val="2E8B57"/>
          </a:solidFill>
          <a:ln w="12700">
            <a:solidFill>
              <a:srgbClr val="2E8B57"/>
            </a:solidFill>
            <a:prstDash val="solid"/>
          </a:ln>
        </p:spPr>
        <p:txBody>
          <a:bodyPr/>
          <a:lstStyle/>
          <a:p>
            <a:endParaRPr lang="es-CO" noProof="0" dirty="0"/>
          </a:p>
        </p:txBody>
      </p:sp>
      <p:sp>
        <p:nvSpPr>
          <p:cNvPr id="17" name="Text 15"/>
          <p:cNvSpPr/>
          <p:nvPr/>
        </p:nvSpPr>
        <p:spPr>
          <a:xfrm>
            <a:off x="548640"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&lt; 48% — Alto aprovechamiento</a:t>
            </a:r>
            <a:endParaRPr lang="es-CO" sz="675" noProof="0" dirty="0"/>
          </a:p>
        </p:txBody>
      </p:sp>
      <p:sp>
        <p:nvSpPr>
          <p:cNvPr id="18" name="Shape 16"/>
          <p:cNvSpPr/>
          <p:nvPr/>
        </p:nvSpPr>
        <p:spPr>
          <a:xfrm>
            <a:off x="2157984" y="877824"/>
            <a:ext cx="91440" cy="91440"/>
          </a:xfrm>
          <a:prstGeom prst="rect">
            <a:avLst/>
          </a:prstGeom>
          <a:solidFill>
            <a:srgbClr val="F4B400"/>
          </a:solidFill>
          <a:ln w="12700">
            <a:solidFill>
              <a:srgbClr val="F4B400"/>
            </a:solidFill>
            <a:prstDash val="solid"/>
          </a:ln>
        </p:spPr>
        <p:txBody>
          <a:bodyPr/>
          <a:lstStyle/>
          <a:p>
            <a:endParaRPr lang="es-CO" noProof="0" dirty="0"/>
          </a:p>
        </p:txBody>
      </p:sp>
      <p:sp>
        <p:nvSpPr>
          <p:cNvPr id="19" name="Text 17"/>
          <p:cNvSpPr/>
          <p:nvPr/>
        </p:nvSpPr>
        <p:spPr>
          <a:xfrm>
            <a:off x="2295144"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48–59% — Uso moderado</a:t>
            </a:r>
            <a:endParaRPr lang="es-CO" sz="675" noProof="0" dirty="0"/>
          </a:p>
        </p:txBody>
      </p:sp>
      <p:sp>
        <p:nvSpPr>
          <p:cNvPr id="20" name="Shape 18"/>
          <p:cNvSpPr/>
          <p:nvPr/>
        </p:nvSpPr>
        <p:spPr>
          <a:xfrm>
            <a:off x="3913632" y="877824"/>
            <a:ext cx="91440" cy="91440"/>
          </a:xfrm>
          <a:prstGeom prst="rect">
            <a:avLst/>
          </a:prstGeom>
          <a:solidFill>
            <a:srgbClr val="E63946"/>
          </a:solidFill>
          <a:ln w="12700">
            <a:solidFill>
              <a:srgbClr val="E63946"/>
            </a:solidFill>
            <a:prstDash val="solid"/>
          </a:ln>
        </p:spPr>
        <p:txBody>
          <a:bodyPr/>
          <a:lstStyle/>
          <a:p>
            <a:endParaRPr lang="es-CO" noProof="0" dirty="0"/>
          </a:p>
        </p:txBody>
      </p:sp>
      <p:sp>
        <p:nvSpPr>
          <p:cNvPr id="21" name="Text 19"/>
          <p:cNvSpPr/>
          <p:nvPr/>
        </p:nvSpPr>
        <p:spPr>
          <a:xfrm>
            <a:off x="4050792"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 60% — Batería subutilizada</a:t>
            </a:r>
            <a:endParaRPr lang="es-CO" sz="675" noProof="0" dirty="0"/>
          </a:p>
        </p:txBody>
      </p:sp>
      <p:sp>
        <p:nvSpPr>
          <p:cNvPr id="22" name="Text 20"/>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8</a:t>
            </a:r>
            <a:endParaRPr lang="es-CO" sz="800" noProof="0" dirty="0"/>
          </a:p>
        </p:txBody>
      </p:sp>
      <p:graphicFrame>
        <p:nvGraphicFramePr>
          <p:cNvPr id="23" name="Chart 0"/>
          <p:cNvGraphicFramePr/>
          <p:nvPr/>
        </p:nvGraphicFramePr>
        <p:xfrm>
          <a:off x="237744" y="1097280"/>
          <a:ext cx="5138928" cy="3877056"/>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p:nvPr/>
        </p:nvSpPr>
        <p:spPr>
          <a:xfrm>
            <a:off x="5586984" y="1060704"/>
            <a:ext cx="3291840" cy="210312"/>
          </a:xfrm>
          <a:prstGeom prst="rect">
            <a:avLst/>
          </a:prstGeom>
          <a:noFill/>
          <a:ln/>
        </p:spPr>
        <p:txBody>
          <a:bodyPr wrap="square" lIns="0" tIns="0" rIns="0" bIns="0" rtlCol="0" anchor="ctr"/>
          <a:lstStyle/>
          <a:p>
            <a:pPr marL="0" indent="0">
              <a:buNone/>
            </a:pPr>
            <a:r>
              <a:rPr lang="es-CO" sz="860" b="1" noProof="0" dirty="0">
                <a:solidFill>
                  <a:srgbClr val="12263A"/>
                </a:solidFill>
                <a:latin typeface="Calibri" pitchFamily="34" charset="0"/>
                <a:ea typeface="Calibri" pitchFamily="34" charset="-122"/>
                <a:cs typeface="Calibri" pitchFamily="34" charset="-120"/>
              </a:rPr>
              <a:t>Curva de SOC horario: mayor uso vs. menor uso</a:t>
            </a:r>
            <a:endParaRPr lang="es-CO" sz="860" noProof="0" dirty="0"/>
          </a:p>
        </p:txBody>
      </p:sp>
      <p:graphicFrame>
        <p:nvGraphicFramePr>
          <p:cNvPr id="25" name="Chart 1"/>
          <p:cNvGraphicFramePr/>
          <p:nvPr>
            <p:extLst>
              <p:ext uri="{D42A27DB-BD31-4B8C-83A1-F6EECF244321}">
                <p14:modId xmlns:p14="http://schemas.microsoft.com/office/powerpoint/2010/main" val="3732271421"/>
              </p:ext>
            </p:extLst>
          </p:nvPr>
        </p:nvGraphicFramePr>
        <p:xfrm>
          <a:off x="5486400" y="1307592"/>
          <a:ext cx="342900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26" name="Shape 22"/>
          <p:cNvSpPr/>
          <p:nvPr/>
        </p:nvSpPr>
        <p:spPr>
          <a:xfrm>
            <a:off x="5486400" y="3154680"/>
            <a:ext cx="3429000" cy="1627632"/>
          </a:xfrm>
          <a:prstGeom prst="rect">
            <a:avLst/>
          </a:prstGeom>
          <a:solidFill>
            <a:srgbClr val="1A1A2E"/>
          </a:solidFill>
          <a:ln w="12700">
            <a:solidFill>
              <a:srgbClr val="1A1A2E"/>
            </a:solidFill>
            <a:prstDash val="solid"/>
          </a:ln>
        </p:spPr>
        <p:txBody>
          <a:bodyPr/>
          <a:lstStyle/>
          <a:p>
            <a:endParaRPr lang="es-CO" noProof="0" dirty="0"/>
          </a:p>
        </p:txBody>
      </p:sp>
      <p:sp>
        <p:nvSpPr>
          <p:cNvPr id="27" name="Text 23"/>
          <p:cNvSpPr/>
          <p:nvPr/>
        </p:nvSpPr>
        <p:spPr>
          <a:xfrm>
            <a:off x="5687568" y="3273552"/>
            <a:ext cx="3017520" cy="192024"/>
          </a:xfrm>
          <a:prstGeom prst="rect">
            <a:avLst/>
          </a:prstGeom>
          <a:noFill/>
          <a:ln/>
        </p:spPr>
        <p:txBody>
          <a:bodyPr wrap="square" lIns="0" tIns="0" rIns="0" bIns="0" rtlCol="0" anchor="ctr"/>
          <a:lstStyle/>
          <a:p>
            <a:pPr marL="0" indent="0">
              <a:buNone/>
            </a:pPr>
            <a:r>
              <a:rPr lang="es-CO" sz="750" b="1" kern="0" spc="100" noProof="0" dirty="0">
                <a:solidFill>
                  <a:srgbClr val="F4B400"/>
                </a:solidFill>
                <a:latin typeface="Calibri" pitchFamily="34" charset="0"/>
                <a:ea typeface="Calibri" pitchFamily="34" charset="-122"/>
                <a:cs typeface="Calibri" pitchFamily="34" charset="-120"/>
              </a:rPr>
              <a:t>LECTURA DEL SOC</a:t>
            </a:r>
            <a:endParaRPr lang="es-CO" sz="750" noProof="0" dirty="0"/>
          </a:p>
        </p:txBody>
      </p:sp>
      <p:sp>
        <p:nvSpPr>
          <p:cNvPr id="28" name="Text 24"/>
          <p:cNvSpPr/>
          <p:nvPr/>
        </p:nvSpPr>
        <p:spPr>
          <a:xfrm>
            <a:off x="5687568" y="3493008"/>
            <a:ext cx="3017520" cy="1207008"/>
          </a:xfrm>
          <a:prstGeom prst="rect">
            <a:avLst/>
          </a:prstGeom>
          <a:noFill/>
          <a:ln/>
        </p:spPr>
        <p:txBody>
          <a:bodyPr wrap="square" lIns="0" tIns="0" rIns="0" bIns="0" rtlCol="0" anchor="ctr"/>
          <a:lstStyle/>
          <a:p>
            <a:pPr marL="342900" indent="-342900">
              <a:spcAft>
                <a:spcPts val="500"/>
              </a:spcAft>
              <a:buSzPct val="100000"/>
              <a:buChar char="•"/>
            </a:pPr>
            <a:r>
              <a:rPr lang="es-CO" sz="720" noProof="0" dirty="0">
                <a:solidFill>
                  <a:srgbClr val="FFFFFF"/>
                </a:solidFill>
                <a:latin typeface="Calibri" pitchFamily="34" charset="0"/>
                <a:ea typeface="Calibri" pitchFamily="34" charset="-122"/>
                <a:cs typeface="Calibri" pitchFamily="34" charset="-120"/>
              </a:rPr>
              <a:t>12 viviendas (&lt; 48% SOC prom.) ciclan a fondo cada noche: Casa 24 (37,2%), Casa 18Ap (40,9%) y Casa 56 (43,8%) encabezan el aprovechamiento del BESS.</a:t>
            </a:r>
            <a:endParaRPr lang="es-CO" sz="720" noProof="0" dirty="0"/>
          </a:p>
          <a:p>
            <a:pPr marL="342900" indent="-342900">
              <a:spcAft>
                <a:spcPts val="500"/>
              </a:spcAft>
              <a:buSzPct val="100000"/>
              <a:buChar char="•"/>
            </a:pPr>
            <a:r>
              <a:rPr lang="es-CO" sz="720" noProof="0" dirty="0">
                <a:solidFill>
                  <a:srgbClr val="FFFFFF"/>
                </a:solidFill>
                <a:latin typeface="Calibri" pitchFamily="34" charset="0"/>
                <a:ea typeface="Calibri" pitchFamily="34" charset="-122"/>
                <a:cs typeface="Calibri" pitchFamily="34" charset="-120"/>
              </a:rPr>
              <a:t>8 viviendas (&gt;= 60%) mantienen la batería alta; Casa 55p (72,8%) y Casa 18PR (66,8%) son las de menor uso.</a:t>
            </a:r>
            <a:endParaRPr lang="es-CO" sz="720" noProof="0" dirty="0"/>
          </a:p>
          <a:p>
            <a:pPr marL="342900" indent="-342900">
              <a:spcAft>
                <a:spcPts val="500"/>
              </a:spcAft>
              <a:buSzPct val="100000"/>
              <a:buChar char="•"/>
            </a:pPr>
            <a:r>
              <a:rPr lang="es-CO" sz="720" noProof="0" dirty="0">
                <a:solidFill>
                  <a:srgbClr val="FFFFFF"/>
                </a:solidFill>
                <a:latin typeface="Calibri" pitchFamily="34" charset="0"/>
                <a:ea typeface="Calibri" pitchFamily="34" charset="-122"/>
                <a:cs typeface="Calibri" pitchFamily="34" charset="-120"/>
              </a:rPr>
              <a:t>El SOC medio del portafolio Sunny es 52,6%, frente a 53,5% en la 1.ª quincena.</a:t>
            </a:r>
            <a:endParaRPr lang="es-CO" sz="72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IMPORTACION DE RED - HORARIO DIURNO VS. NOCTURNO</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PERFIL HORARIO DE CONSUMO DE RED</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9</a:t>
            </a:r>
            <a:endParaRPr lang="es-CO" sz="800" noProof="0" dirty="0"/>
          </a:p>
        </p:txBody>
      </p:sp>
      <p:graphicFrame>
        <p:nvGraphicFramePr>
          <p:cNvPr id="8" name="Chart 0"/>
          <p:cNvGraphicFramePr/>
          <p:nvPr>
            <p:extLst>
              <p:ext uri="{D42A27DB-BD31-4B8C-83A1-F6EECF244321}">
                <p14:modId xmlns:p14="http://schemas.microsoft.com/office/powerpoint/2010/main" val="256325911"/>
              </p:ext>
            </p:extLst>
          </p:nvPr>
        </p:nvGraphicFramePr>
        <p:xfrm>
          <a:off x="274320" y="1234440"/>
          <a:ext cx="329184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extLst>
              <p:ext uri="{D42A27DB-BD31-4B8C-83A1-F6EECF244321}">
                <p14:modId xmlns:p14="http://schemas.microsoft.com/office/powerpoint/2010/main" val="2536523400"/>
              </p:ext>
            </p:extLst>
          </p:nvPr>
        </p:nvGraphicFramePr>
        <p:xfrm>
          <a:off x="3749040" y="1188720"/>
          <a:ext cx="301752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6995160" y="1188720"/>
            <a:ext cx="1783080" cy="3154680"/>
          </a:xfrm>
          <a:prstGeom prst="rect">
            <a:avLst/>
          </a:prstGeom>
          <a:solidFill>
            <a:srgbClr val="F7F9FC"/>
          </a:solidFill>
          <a:ln w="9525">
            <a:solidFill>
              <a:srgbClr val="E3E7EA"/>
            </a:solidFill>
            <a:prstDash val="solid"/>
          </a:ln>
        </p:spPr>
        <p:txBody>
          <a:bodyPr/>
          <a:lstStyle/>
          <a:p>
            <a:endParaRPr lang="es-CO" noProof="0" dirty="0"/>
          </a:p>
        </p:txBody>
      </p:sp>
      <p:sp>
        <p:nvSpPr>
          <p:cNvPr id="11" name="Text 7"/>
          <p:cNvSpPr/>
          <p:nvPr/>
        </p:nvSpPr>
        <p:spPr>
          <a:xfrm>
            <a:off x="7150608" y="1325880"/>
            <a:ext cx="146304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LECTURA</a:t>
            </a:r>
            <a:endParaRPr lang="es-CO" sz="900" noProof="0" dirty="0"/>
          </a:p>
        </p:txBody>
      </p:sp>
      <p:sp>
        <p:nvSpPr>
          <p:cNvPr id="12" name="Text 8"/>
          <p:cNvSpPr/>
          <p:nvPr/>
        </p:nvSpPr>
        <p:spPr>
          <a:xfrm>
            <a:off x="7150608" y="1600200"/>
            <a:ext cx="1463040" cy="2651760"/>
          </a:xfrm>
          <a:prstGeom prst="rect">
            <a:avLst/>
          </a:prstGeom>
          <a:noFill/>
          <a:ln/>
        </p:spPr>
        <p:txBody>
          <a:bodyPr wrap="square" lIns="0" tIns="0" rIns="0" bIns="0" rtlCol="0" anchor="ctr"/>
          <a:lstStyle/>
          <a:p>
            <a:pPr marL="342900" indent="-342900">
              <a:spcAft>
                <a:spcPts val="500"/>
              </a:spcAft>
              <a:buSzPct val="100000"/>
              <a:buChar char="•"/>
            </a:pPr>
            <a:r>
              <a:rPr lang="es-CO" sz="720" noProof="0" dirty="0">
                <a:solidFill>
                  <a:srgbClr val="1A1A2E"/>
                </a:solidFill>
                <a:latin typeface="Calibri" pitchFamily="34" charset="0"/>
                <a:ea typeface="Calibri" pitchFamily="34" charset="-122"/>
                <a:cs typeface="Calibri" pitchFamily="34" charset="-120"/>
              </a:rPr>
              <a:t>El 82% de la energía comprada a la red se consume de noche: 7.485 kWh de 9.099 kWh.</a:t>
            </a:r>
            <a:endParaRPr lang="es-CO" sz="720" noProof="0" dirty="0"/>
          </a:p>
          <a:p>
            <a:pPr marL="342900" indent="-342900">
              <a:spcAft>
                <a:spcPts val="500"/>
              </a:spcAft>
              <a:buSzPct val="100000"/>
              <a:buChar char="•"/>
            </a:pPr>
            <a:r>
              <a:rPr lang="es-CO" sz="720" noProof="0" dirty="0">
                <a:solidFill>
                  <a:srgbClr val="1A1A2E"/>
                </a:solidFill>
                <a:latin typeface="Calibri" pitchFamily="34" charset="0"/>
                <a:ea typeface="Calibri" pitchFamily="34" charset="-122"/>
                <a:cs typeface="Calibri" pitchFamily="34" charset="-120"/>
              </a:rPr>
              <a:t>Casa 78T (840 kWh) y Casa 24 (637 kWh) concentran el 20% del consumo nocturno del portafolio.</a:t>
            </a:r>
            <a:endParaRPr lang="es-CO" sz="720" noProof="0" dirty="0"/>
          </a:p>
          <a:p>
            <a:pPr marL="342900" indent="-342900">
              <a:spcAft>
                <a:spcPts val="500"/>
              </a:spcAft>
              <a:buSzPct val="100000"/>
              <a:buChar char="•"/>
            </a:pPr>
            <a:r>
              <a:rPr lang="es-CO" sz="720" noProof="0" dirty="0">
                <a:solidFill>
                  <a:srgbClr val="1A1A2E"/>
                </a:solidFill>
                <a:latin typeface="Calibri" pitchFamily="34" charset="0"/>
                <a:ea typeface="Calibri" pitchFamily="34" charset="-122"/>
                <a:cs typeface="Calibri" pitchFamily="34" charset="-120"/>
              </a:rPr>
              <a:t>Consumo nocturno alto = la batería no alcanza a cubrir la noche tras agotar su carga diaria.</a:t>
            </a:r>
            <a:endParaRPr lang="es-CO" sz="720" noProof="0" dirty="0"/>
          </a:p>
          <a:p>
            <a:pPr marL="342900" indent="-342900">
              <a:spcAft>
                <a:spcPts val="500"/>
              </a:spcAft>
              <a:buSzPct val="100000"/>
              <a:buChar char="•"/>
            </a:pPr>
            <a:r>
              <a:rPr lang="es-CO" sz="720" noProof="0" dirty="0">
                <a:solidFill>
                  <a:srgbClr val="1A1A2E"/>
                </a:solidFill>
                <a:latin typeface="Calibri" pitchFamily="34" charset="0"/>
                <a:ea typeface="Calibri" pitchFamily="34" charset="-122"/>
                <a:cs typeface="Calibri" pitchFamily="34" charset="-120"/>
              </a:rPr>
              <a:t>Casa 55p (28 kWh) y Casa 99 (30 kWh) prácticamente no dependen de la red de noche.</a:t>
            </a:r>
            <a:endParaRPr lang="es-CO" sz="720" noProof="0" dirty="0"/>
          </a:p>
        </p:txBody>
      </p:sp>
      <p:sp>
        <p:nvSpPr>
          <p:cNvPr id="13" name="Text 9"/>
          <p:cNvSpPr/>
          <p:nvPr/>
        </p:nvSpPr>
        <p:spPr>
          <a:xfrm>
            <a:off x="365760" y="4434840"/>
            <a:ext cx="8412480" cy="320040"/>
          </a:xfrm>
          <a:prstGeom prst="rect">
            <a:avLst/>
          </a:prstGeom>
          <a:noFill/>
          <a:ln/>
        </p:spPr>
        <p:txBody>
          <a:bodyPr wrap="square" lIns="0" tIns="0" rIns="0" bIns="0" rtlCol="0" anchor="ctr"/>
          <a:lstStyle/>
          <a:p>
            <a:pPr marL="0" indent="0">
              <a:buNone/>
            </a:pPr>
            <a:r>
              <a:rPr lang="es-CO" sz="850" i="1" noProof="0" dirty="0">
                <a:solidFill>
                  <a:srgbClr val="55636E"/>
                </a:solidFill>
                <a:latin typeface="Calibri" pitchFamily="34" charset="0"/>
                <a:ea typeface="Calibri" pitchFamily="34" charset="-122"/>
                <a:cs typeface="Calibri" pitchFamily="34" charset="-120"/>
              </a:rPr>
              <a:t>El consumo diurno (1.614 kWh) señala picos de demanda o despacho deficiente: Casa 24 (108 kWh), Casa 78T (97 kWh) y Casa 10 (90 kWh) lideran esa franja.</a:t>
            </a:r>
            <a:endParaRPr lang="es-CO" sz="85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C394535-3454-611D-9E59-927FF2AC5C80}"/>
              </a:ext>
            </a:extLst>
          </p:cNvPr>
          <p:cNvPicPr>
            <a:picLocks noChangeAspect="1"/>
          </p:cNvPicPr>
          <p:nvPr/>
        </p:nvPicPr>
        <p:blipFill>
          <a:blip r:embed="rId2"/>
          <a:stretch>
            <a:fillRect/>
          </a:stretch>
        </p:blipFill>
        <p:spPr>
          <a:xfrm>
            <a:off x="287211" y="169065"/>
            <a:ext cx="8569578" cy="4805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210312"/>
            <a:ext cx="5897880" cy="374904"/>
          </a:xfrm>
          <a:prstGeom prst="rect">
            <a:avLst/>
          </a:prstGeom>
          <a:noFill/>
          <a:ln/>
        </p:spPr>
        <p:txBody>
          <a:bodyPr wrap="square" lIns="0" tIns="0" rIns="0" bIns="0" rtlCol="0" anchor="ctr"/>
          <a:lstStyle/>
          <a:p>
            <a:pPr marL="0" indent="0">
              <a:buNone/>
            </a:pPr>
            <a:r>
              <a:rPr lang="es-CO" sz="1600" b="1" noProof="0" dirty="0">
                <a:solidFill>
                  <a:srgbClr val="12263A"/>
                </a:solidFill>
                <a:latin typeface="Cambria" pitchFamily="34" charset="0"/>
                <a:ea typeface="Cambria" pitchFamily="34" charset="-122"/>
                <a:cs typeface="Cambria" pitchFamily="34" charset="-120"/>
              </a:rPr>
              <a:t>Ranking de Exportación de Energía Activa</a:t>
            </a:r>
            <a:endParaRPr lang="es-CO" sz="1600" noProof="0" dirty="0"/>
          </a:p>
        </p:txBody>
      </p:sp>
      <p:sp>
        <p:nvSpPr>
          <p:cNvPr id="3" name="Text 1"/>
          <p:cNvSpPr/>
          <p:nvPr/>
        </p:nvSpPr>
        <p:spPr>
          <a:xfrm>
            <a:off x="411480" y="557784"/>
            <a:ext cx="7882128" cy="237744"/>
          </a:xfrm>
          <a:prstGeom prst="rect">
            <a:avLst/>
          </a:prstGeom>
          <a:noFill/>
          <a:ln/>
        </p:spPr>
        <p:txBody>
          <a:bodyPr wrap="square" lIns="0" tIns="0" rIns="0" bIns="0" rtlCol="0" anchor="ctr"/>
          <a:lstStyle/>
          <a:p>
            <a:pPr marL="0" indent="0">
              <a:buNone/>
            </a:pPr>
            <a:r>
              <a:rPr lang="es-CO" sz="900" noProof="0" dirty="0">
                <a:solidFill>
                  <a:srgbClr val="55636E"/>
                </a:solidFill>
                <a:latin typeface="Calibri" pitchFamily="34" charset="0"/>
                <a:ea typeface="Calibri" pitchFamily="34" charset="-122"/>
                <a:cs typeface="Calibri" pitchFamily="34" charset="-120"/>
              </a:rPr>
              <a:t>Energía activa exportada a la red por vivienda (kWh) — 39 viviendas · 01 - 30 Sep 2026</a:t>
            </a:r>
            <a:endParaRPr lang="es-CO" sz="900" noProof="0" dirty="0"/>
          </a:p>
        </p:txBody>
      </p:sp>
      <p:sp>
        <p:nvSpPr>
          <p:cNvPr id="4" name="Shape 2"/>
          <p:cNvSpPr/>
          <p:nvPr/>
        </p:nvSpPr>
        <p:spPr>
          <a:xfrm>
            <a:off x="5038344"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5" name="Shape 3"/>
          <p:cNvSpPr/>
          <p:nvPr/>
        </p:nvSpPr>
        <p:spPr>
          <a:xfrm>
            <a:off x="5038344" y="192024"/>
            <a:ext cx="41148" cy="585216"/>
          </a:xfrm>
          <a:prstGeom prst="rect">
            <a:avLst/>
          </a:prstGeom>
          <a:solidFill>
            <a:srgbClr val="1F6F78"/>
          </a:solidFill>
          <a:ln w="12700">
            <a:solidFill>
              <a:srgbClr val="1F6F78"/>
            </a:solidFill>
            <a:prstDash val="solid"/>
          </a:ln>
        </p:spPr>
        <p:txBody>
          <a:bodyPr/>
          <a:lstStyle/>
          <a:p>
            <a:endParaRPr lang="es-CO" noProof="0" dirty="0"/>
          </a:p>
        </p:txBody>
      </p:sp>
      <p:sp>
        <p:nvSpPr>
          <p:cNvPr id="6" name="Text 4"/>
          <p:cNvSpPr/>
          <p:nvPr/>
        </p:nvSpPr>
        <p:spPr>
          <a:xfrm>
            <a:off x="5138928"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Total exportado</a:t>
            </a:r>
            <a:endParaRPr lang="es-CO" sz="600" noProof="0" dirty="0"/>
          </a:p>
        </p:txBody>
      </p:sp>
      <p:sp>
        <p:nvSpPr>
          <p:cNvPr id="7" name="Text 5"/>
          <p:cNvSpPr/>
          <p:nvPr/>
        </p:nvSpPr>
        <p:spPr>
          <a:xfrm>
            <a:off x="5138928"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34,2 kWh</a:t>
            </a:r>
            <a:endParaRPr lang="es-CO" sz="825" noProof="0" dirty="0"/>
          </a:p>
        </p:txBody>
      </p:sp>
      <p:sp>
        <p:nvSpPr>
          <p:cNvPr id="8" name="Shape 6"/>
          <p:cNvSpPr/>
          <p:nvPr/>
        </p:nvSpPr>
        <p:spPr>
          <a:xfrm>
            <a:off x="6400800"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9" name="Shape 7"/>
          <p:cNvSpPr/>
          <p:nvPr/>
        </p:nvSpPr>
        <p:spPr>
          <a:xfrm>
            <a:off x="6400800" y="192024"/>
            <a:ext cx="41148" cy="585216"/>
          </a:xfrm>
          <a:prstGeom prst="rect">
            <a:avLst/>
          </a:prstGeom>
          <a:solidFill>
            <a:srgbClr val="2E8B57"/>
          </a:solidFill>
          <a:ln w="12700">
            <a:solidFill>
              <a:srgbClr val="2E8B57"/>
            </a:solidFill>
            <a:prstDash val="solid"/>
          </a:ln>
        </p:spPr>
        <p:txBody>
          <a:bodyPr/>
          <a:lstStyle/>
          <a:p>
            <a:endParaRPr lang="es-CO" noProof="0" dirty="0"/>
          </a:p>
        </p:txBody>
      </p:sp>
      <p:sp>
        <p:nvSpPr>
          <p:cNvPr id="10" name="Text 8"/>
          <p:cNvSpPr/>
          <p:nvPr/>
        </p:nvSpPr>
        <p:spPr>
          <a:xfrm>
            <a:off x="6501384"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Mayor — Casa 29</a:t>
            </a:r>
            <a:endParaRPr lang="es-CO" sz="600" noProof="0" dirty="0"/>
          </a:p>
        </p:txBody>
      </p:sp>
      <p:sp>
        <p:nvSpPr>
          <p:cNvPr id="11" name="Text 9"/>
          <p:cNvSpPr/>
          <p:nvPr/>
        </p:nvSpPr>
        <p:spPr>
          <a:xfrm>
            <a:off x="6501384"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9,2 kWh</a:t>
            </a:r>
            <a:endParaRPr lang="es-CO" sz="825" noProof="0" dirty="0"/>
          </a:p>
        </p:txBody>
      </p:sp>
      <p:sp>
        <p:nvSpPr>
          <p:cNvPr id="12" name="Shape 10"/>
          <p:cNvSpPr/>
          <p:nvPr/>
        </p:nvSpPr>
        <p:spPr>
          <a:xfrm>
            <a:off x="7754112" y="192024"/>
            <a:ext cx="1271016" cy="585216"/>
          </a:xfrm>
          <a:prstGeom prst="rect">
            <a:avLst/>
          </a:prstGeom>
          <a:solidFill>
            <a:srgbClr val="FFFFFF"/>
          </a:solidFill>
          <a:ln w="9525">
            <a:solidFill>
              <a:srgbClr val="E3E7EA"/>
            </a:solidFill>
            <a:prstDash val="solid"/>
          </a:ln>
        </p:spPr>
        <p:txBody>
          <a:bodyPr/>
          <a:lstStyle/>
          <a:p>
            <a:endParaRPr lang="es-CO" noProof="0" dirty="0"/>
          </a:p>
        </p:txBody>
      </p:sp>
      <p:sp>
        <p:nvSpPr>
          <p:cNvPr id="13" name="Shape 11"/>
          <p:cNvSpPr/>
          <p:nvPr/>
        </p:nvSpPr>
        <p:spPr>
          <a:xfrm>
            <a:off x="7754112" y="192024"/>
            <a:ext cx="41148" cy="585216"/>
          </a:xfrm>
          <a:prstGeom prst="rect">
            <a:avLst/>
          </a:prstGeom>
          <a:solidFill>
            <a:srgbClr val="E63946"/>
          </a:solidFill>
          <a:ln w="12700">
            <a:solidFill>
              <a:srgbClr val="E63946"/>
            </a:solidFill>
            <a:prstDash val="solid"/>
          </a:ln>
        </p:spPr>
        <p:txBody>
          <a:bodyPr/>
          <a:lstStyle/>
          <a:p>
            <a:endParaRPr lang="es-CO" noProof="0" dirty="0"/>
          </a:p>
        </p:txBody>
      </p:sp>
      <p:sp>
        <p:nvSpPr>
          <p:cNvPr id="14" name="Text 12"/>
          <p:cNvSpPr/>
          <p:nvPr/>
        </p:nvSpPr>
        <p:spPr>
          <a:xfrm>
            <a:off x="7854696" y="237744"/>
            <a:ext cx="1115568" cy="274320"/>
          </a:xfrm>
          <a:prstGeom prst="rect">
            <a:avLst/>
          </a:prstGeom>
          <a:noFill/>
          <a:ln/>
        </p:spPr>
        <p:txBody>
          <a:bodyPr wrap="square" lIns="0" tIns="0" rIns="0" bIns="0" rtlCol="0" anchor="ctr"/>
          <a:lstStyle/>
          <a:p>
            <a:pPr marL="0" indent="0">
              <a:buNone/>
            </a:pPr>
            <a:r>
              <a:rPr lang="es-CO" sz="600" noProof="0" dirty="0">
                <a:solidFill>
                  <a:srgbClr val="55636E"/>
                </a:solidFill>
                <a:latin typeface="Calibri" pitchFamily="34" charset="0"/>
                <a:ea typeface="Calibri" pitchFamily="34" charset="-122"/>
                <a:cs typeface="Calibri" pitchFamily="34" charset="-120"/>
              </a:rPr>
              <a:t>Top 5 = % del total</a:t>
            </a:r>
            <a:endParaRPr lang="es-CO" sz="600" noProof="0" dirty="0"/>
          </a:p>
        </p:txBody>
      </p:sp>
      <p:sp>
        <p:nvSpPr>
          <p:cNvPr id="15" name="Text 13"/>
          <p:cNvSpPr/>
          <p:nvPr/>
        </p:nvSpPr>
        <p:spPr>
          <a:xfrm>
            <a:off x="7854696" y="493776"/>
            <a:ext cx="1115568" cy="237744"/>
          </a:xfrm>
          <a:prstGeom prst="rect">
            <a:avLst/>
          </a:prstGeom>
          <a:noFill/>
          <a:ln/>
        </p:spPr>
        <p:txBody>
          <a:bodyPr wrap="square" lIns="0" tIns="0" rIns="0" bIns="0" rtlCol="0" anchor="ctr"/>
          <a:lstStyle/>
          <a:p>
            <a:pPr marL="0" indent="0">
              <a:buNone/>
            </a:pPr>
            <a:r>
              <a:rPr lang="es-CO" sz="825" b="1" noProof="0" dirty="0">
                <a:solidFill>
                  <a:srgbClr val="12263A"/>
                </a:solidFill>
                <a:latin typeface="Calibri" pitchFamily="34" charset="0"/>
                <a:ea typeface="Calibri" pitchFamily="34" charset="-122"/>
                <a:cs typeface="Calibri" pitchFamily="34" charset="-120"/>
              </a:rPr>
              <a:t>54%</a:t>
            </a:r>
            <a:endParaRPr lang="es-CO" sz="825" noProof="0" dirty="0"/>
          </a:p>
        </p:txBody>
      </p:sp>
      <p:sp>
        <p:nvSpPr>
          <p:cNvPr id="16" name="Shape 14"/>
          <p:cNvSpPr/>
          <p:nvPr/>
        </p:nvSpPr>
        <p:spPr>
          <a:xfrm>
            <a:off x="411480" y="877824"/>
            <a:ext cx="91440" cy="91440"/>
          </a:xfrm>
          <a:prstGeom prst="rect">
            <a:avLst/>
          </a:prstGeom>
          <a:solidFill>
            <a:srgbClr val="F4B400"/>
          </a:solidFill>
          <a:ln w="12700">
            <a:solidFill>
              <a:srgbClr val="F4B400"/>
            </a:solidFill>
            <a:prstDash val="solid"/>
          </a:ln>
        </p:spPr>
        <p:txBody>
          <a:bodyPr/>
          <a:lstStyle/>
          <a:p>
            <a:endParaRPr lang="es-CO" noProof="0" dirty="0"/>
          </a:p>
        </p:txBody>
      </p:sp>
      <p:sp>
        <p:nvSpPr>
          <p:cNvPr id="17" name="Text 15"/>
          <p:cNvSpPr/>
          <p:nvPr/>
        </p:nvSpPr>
        <p:spPr>
          <a:xfrm>
            <a:off x="548640" y="841248"/>
            <a:ext cx="1783080" cy="192024"/>
          </a:xfrm>
          <a:prstGeom prst="rect">
            <a:avLst/>
          </a:prstGeom>
          <a:noFill/>
          <a:ln/>
        </p:spPr>
        <p:txBody>
          <a:bodyPr wrap="square" lIns="0" tIns="0" rIns="0" bIns="0" rtlCol="0" anchor="ctr"/>
          <a:lstStyle/>
          <a:p>
            <a:pPr marL="0" indent="0">
              <a:buNone/>
            </a:pPr>
            <a:r>
              <a:rPr lang="es-CO" sz="675" noProof="0" dirty="0">
                <a:solidFill>
                  <a:srgbClr val="55636E"/>
                </a:solidFill>
                <a:latin typeface="Calibri" pitchFamily="34" charset="0"/>
                <a:ea typeface="Calibri" pitchFamily="34" charset="-122"/>
                <a:cs typeface="Calibri" pitchFamily="34" charset="-120"/>
              </a:rPr>
              <a:t>Exportación</a:t>
            </a:r>
            <a:endParaRPr lang="es-CO" sz="675" noProof="0" dirty="0"/>
          </a:p>
        </p:txBody>
      </p:sp>
      <p:sp>
        <p:nvSpPr>
          <p:cNvPr id="22" name="Text 20"/>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11</a:t>
            </a:r>
            <a:endParaRPr lang="es-CO" sz="800" noProof="0" dirty="0"/>
          </a:p>
        </p:txBody>
      </p:sp>
      <p:graphicFrame>
        <p:nvGraphicFramePr>
          <p:cNvPr id="23" name="Chart 0"/>
          <p:cNvGraphicFramePr/>
          <p:nvPr/>
        </p:nvGraphicFramePr>
        <p:xfrm>
          <a:off x="237744" y="1097280"/>
          <a:ext cx="8641080" cy="387705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DEMANDA POR CONJUNTO VS. CONSUMO DE DISEÑO</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DEMANDA Y CONSUMO</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12</a:t>
            </a:r>
            <a:endParaRPr lang="es-CO" sz="800" noProof="0" dirty="0"/>
          </a:p>
        </p:txBody>
      </p:sp>
      <p:graphicFrame>
        <p:nvGraphicFramePr>
          <p:cNvPr id="8" name="Chart 0"/>
          <p:cNvGraphicFramePr/>
          <p:nvPr/>
        </p:nvGraphicFramePr>
        <p:xfrm>
          <a:off x="320040" y="1234440"/>
          <a:ext cx="56692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172200" y="1234440"/>
            <a:ext cx="2606040" cy="2971800"/>
          </a:xfrm>
          <a:prstGeom prst="rect">
            <a:avLst/>
          </a:prstGeom>
          <a:solidFill>
            <a:srgbClr val="F7F9FC"/>
          </a:solidFill>
          <a:ln w="9525">
            <a:solidFill>
              <a:srgbClr val="E3E7EA"/>
            </a:solidFill>
            <a:prstDash val="solid"/>
          </a:ln>
        </p:spPr>
        <p:txBody>
          <a:bodyPr/>
          <a:lstStyle/>
          <a:p>
            <a:endParaRPr lang="es-CO" noProof="0" dirty="0"/>
          </a:p>
        </p:txBody>
      </p:sp>
      <p:sp>
        <p:nvSpPr>
          <p:cNvPr id="10" name="Text 7"/>
          <p:cNvSpPr/>
          <p:nvPr/>
        </p:nvSpPr>
        <p:spPr>
          <a:xfrm>
            <a:off x="6355080" y="1371600"/>
            <a:ext cx="224028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LECTURA RAPIDA</a:t>
            </a:r>
            <a:endParaRPr lang="es-CO" sz="900" noProof="0" dirty="0"/>
          </a:p>
        </p:txBody>
      </p:sp>
      <p:sp>
        <p:nvSpPr>
          <p:cNvPr id="11" name="Text 8"/>
          <p:cNvSpPr/>
          <p:nvPr/>
        </p:nvSpPr>
        <p:spPr>
          <a:xfrm>
            <a:off x="6355080" y="1691640"/>
            <a:ext cx="2240280" cy="2377440"/>
          </a:xfrm>
          <a:prstGeom prst="rect">
            <a:avLst/>
          </a:prstGeom>
          <a:noFill/>
          <a:ln/>
        </p:spPr>
        <p:txBody>
          <a:bodyPr wrap="square" lIns="0" tIns="0" rIns="0" bIns="0" rtlCol="0" anchor="ctr"/>
          <a:lstStyle/>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El portafolio Sunny consume 27.075 kWh frente a 23.666 kWh de diseño equivalente a 30 días: +14,4%.</a:t>
            </a:r>
            <a:endParaRPr lang="es-CO" sz="820" noProof="0" dirty="0"/>
          </a:p>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Terranova (+65,6%) y Portón de la Rivera (+30,1%) son los mayores desvíos; ambos con una sola vivienda.</a:t>
            </a:r>
            <a:endParaRPr lang="es-CO" sz="820" noProof="0" dirty="0"/>
          </a:p>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Los Abedules (-24,0%) es el único conjunto por debajo del diseño.</a:t>
            </a:r>
            <a:endParaRPr lang="es-CO" sz="820" noProof="0" dirty="0"/>
          </a:p>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Mejora frente a la 1.ª quincena (+16,1%), pero la línea base sigue sin representar el consumo real.</a:t>
            </a:r>
            <a:endParaRPr lang="es-CO" sz="820" noProof="0" dirty="0"/>
          </a:p>
        </p:txBody>
      </p:sp>
      <p:sp>
        <p:nvSpPr>
          <p:cNvPr id="12" name="Text 9"/>
          <p:cNvSpPr/>
          <p:nvPr/>
        </p:nvSpPr>
        <p:spPr>
          <a:xfrm>
            <a:off x="365760" y="4389120"/>
            <a:ext cx="8412480" cy="274320"/>
          </a:xfrm>
          <a:prstGeom prst="rect">
            <a:avLst/>
          </a:prstGeom>
          <a:noFill/>
          <a:ln/>
        </p:spPr>
        <p:txBody>
          <a:bodyPr wrap="square" lIns="0" tIns="0" rIns="0" bIns="0" rtlCol="0" anchor="ctr"/>
          <a:lstStyle/>
          <a:p>
            <a:pPr marL="0" indent="0">
              <a:buNone/>
            </a:pPr>
            <a:r>
              <a:rPr lang="es-CO" sz="900" i="1" noProof="0" dirty="0">
                <a:solidFill>
                  <a:srgbClr val="55636E"/>
                </a:solidFill>
                <a:latin typeface="Calibri" pitchFamily="34" charset="0"/>
                <a:ea typeface="Calibri" pitchFamily="34" charset="-122"/>
                <a:cs typeface="Calibri" pitchFamily="34" charset="-120"/>
              </a:rPr>
              <a:t>Diseño equivalente a 30 días: 23.666 kWh (línea base semanal x 30/7)  ·  Consumo real: 27.075 kWh  ·  Variación: +14,4%  ·  38 de 39 viviendas con línea base</a:t>
            </a:r>
            <a:endParaRPr lang="es-CO" sz="9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EVOLUCION SEMANAL DE LA DEMANDA VS. DISEÑO</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SEGUIMIENTO SEMANAL</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13</a:t>
            </a:r>
            <a:endParaRPr lang="es-CO" sz="800" noProof="0" dirty="0"/>
          </a:p>
        </p:txBody>
      </p:sp>
      <p:graphicFrame>
        <p:nvGraphicFramePr>
          <p:cNvPr id="8" name="Chart 0"/>
          <p:cNvGraphicFramePr/>
          <p:nvPr/>
        </p:nvGraphicFramePr>
        <p:xfrm>
          <a:off x="320040" y="1234440"/>
          <a:ext cx="53035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806440" y="1234440"/>
            <a:ext cx="2971800" cy="2971800"/>
          </a:xfrm>
          <a:prstGeom prst="rect">
            <a:avLst/>
          </a:prstGeom>
          <a:solidFill>
            <a:srgbClr val="F7F9FC"/>
          </a:solidFill>
          <a:ln w="9525">
            <a:solidFill>
              <a:srgbClr val="E3E7EA"/>
            </a:solidFill>
            <a:prstDash val="solid"/>
          </a:ln>
        </p:spPr>
        <p:txBody>
          <a:bodyPr/>
          <a:lstStyle/>
          <a:p>
            <a:endParaRPr lang="es-CO" noProof="0" dirty="0"/>
          </a:p>
        </p:txBody>
      </p:sp>
      <p:sp>
        <p:nvSpPr>
          <p:cNvPr id="10" name="Text 7"/>
          <p:cNvSpPr/>
          <p:nvPr/>
        </p:nvSpPr>
        <p:spPr>
          <a:xfrm>
            <a:off x="5989320" y="1371600"/>
            <a:ext cx="260604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VARIACION VS. DISEÑO</a:t>
            </a:r>
            <a:endParaRPr lang="es-CO" sz="900" noProof="0" dirty="0"/>
          </a:p>
        </p:txBody>
      </p:sp>
      <p:sp>
        <p:nvSpPr>
          <p:cNvPr id="11" name="Shape 8"/>
          <p:cNvSpPr/>
          <p:nvPr/>
        </p:nvSpPr>
        <p:spPr>
          <a:xfrm>
            <a:off x="5989320" y="1691640"/>
            <a:ext cx="2606040" cy="384048"/>
          </a:xfrm>
          <a:prstGeom prst="rect">
            <a:avLst/>
          </a:prstGeom>
          <a:solidFill>
            <a:srgbClr val="FFFFFF"/>
          </a:solidFill>
          <a:ln w="9525">
            <a:solidFill>
              <a:srgbClr val="E3E7EA"/>
            </a:solidFill>
            <a:prstDash val="solid"/>
          </a:ln>
        </p:spPr>
        <p:txBody>
          <a:bodyPr/>
          <a:lstStyle/>
          <a:p>
            <a:endParaRPr lang="es-CO" noProof="0" dirty="0"/>
          </a:p>
        </p:txBody>
      </p:sp>
      <p:sp>
        <p:nvSpPr>
          <p:cNvPr id="12" name="Text 9"/>
          <p:cNvSpPr/>
          <p:nvPr/>
        </p:nvSpPr>
        <p:spPr>
          <a:xfrm>
            <a:off x="6126480" y="1691640"/>
            <a:ext cx="1280160" cy="384048"/>
          </a:xfrm>
          <a:prstGeom prst="rect">
            <a:avLst/>
          </a:prstGeom>
          <a:noFill/>
          <a:ln/>
        </p:spPr>
        <p:txBody>
          <a:bodyPr wrap="square" lIns="0" tIns="0" rIns="0" bIns="0" rtlCol="0" anchor="ctr"/>
          <a:lstStyle/>
          <a:p>
            <a:pPr marL="0" indent="0">
              <a:buNone/>
            </a:pPr>
            <a:r>
              <a:rPr lang="es-CO" sz="1000" noProof="0" dirty="0">
                <a:solidFill>
                  <a:srgbClr val="1A1A2E"/>
                </a:solidFill>
                <a:latin typeface="Calibri" pitchFamily="34" charset="0"/>
                <a:ea typeface="Calibri" pitchFamily="34" charset="-122"/>
                <a:cs typeface="Calibri" pitchFamily="34" charset="-120"/>
              </a:rPr>
              <a:t>Semana 1</a:t>
            </a:r>
            <a:endParaRPr lang="es-CO" sz="1000" noProof="0" dirty="0"/>
          </a:p>
        </p:txBody>
      </p:sp>
      <p:sp>
        <p:nvSpPr>
          <p:cNvPr id="13" name="Text 10"/>
          <p:cNvSpPr/>
          <p:nvPr/>
        </p:nvSpPr>
        <p:spPr>
          <a:xfrm>
            <a:off x="7223760" y="1691640"/>
            <a:ext cx="1234440" cy="384048"/>
          </a:xfrm>
          <a:prstGeom prst="rect">
            <a:avLst/>
          </a:prstGeom>
          <a:noFill/>
          <a:ln/>
        </p:spPr>
        <p:txBody>
          <a:bodyPr wrap="square" lIns="0" tIns="0" rIns="0" bIns="0" rtlCol="0" anchor="ctr"/>
          <a:lstStyle/>
          <a:p>
            <a:pPr marL="0" indent="0" algn="r">
              <a:buNone/>
            </a:pPr>
            <a:r>
              <a:rPr lang="es-CO" sz="1500" b="1" noProof="0" dirty="0">
                <a:solidFill>
                  <a:srgbClr val="1E8449"/>
                </a:solidFill>
                <a:latin typeface="Calibri" pitchFamily="34" charset="0"/>
                <a:ea typeface="Calibri" pitchFamily="34" charset="-122"/>
                <a:cs typeface="Calibri" pitchFamily="34" charset="-120"/>
              </a:rPr>
              <a:t>+6,8%</a:t>
            </a:r>
            <a:endParaRPr lang="es-CO" sz="1500" noProof="0" dirty="0"/>
          </a:p>
        </p:txBody>
      </p:sp>
      <p:sp>
        <p:nvSpPr>
          <p:cNvPr id="14" name="Shape 11"/>
          <p:cNvSpPr/>
          <p:nvPr/>
        </p:nvSpPr>
        <p:spPr>
          <a:xfrm>
            <a:off x="5989320" y="2130552"/>
            <a:ext cx="2606040" cy="384048"/>
          </a:xfrm>
          <a:prstGeom prst="rect">
            <a:avLst/>
          </a:prstGeom>
          <a:solidFill>
            <a:srgbClr val="FFFFFF"/>
          </a:solidFill>
          <a:ln w="9525">
            <a:solidFill>
              <a:srgbClr val="E3E7EA"/>
            </a:solidFill>
            <a:prstDash val="solid"/>
          </a:ln>
        </p:spPr>
        <p:txBody>
          <a:bodyPr/>
          <a:lstStyle/>
          <a:p>
            <a:endParaRPr lang="es-CO" noProof="0" dirty="0"/>
          </a:p>
        </p:txBody>
      </p:sp>
      <p:sp>
        <p:nvSpPr>
          <p:cNvPr id="22" name="Shape 11"/>
          <p:cNvSpPr/>
          <p:nvPr/>
        </p:nvSpPr>
        <p:spPr>
          <a:xfrm>
            <a:off x="5989320" y="3008376"/>
            <a:ext cx="2606040" cy="384048"/>
          </a:xfrm>
          <a:prstGeom prst="rect">
            <a:avLst/>
          </a:prstGeom>
          <a:solidFill>
            <a:srgbClr val="FFFFFF"/>
          </a:solidFill>
          <a:ln w="9525">
            <a:solidFill>
              <a:srgbClr val="E3E7EA"/>
            </a:solidFill>
            <a:prstDash val="solid"/>
          </a:ln>
        </p:spPr>
        <p:txBody>
          <a:bodyPr/>
          <a:lstStyle/>
          <a:p>
            <a:endParaRPr lang="es-CO" noProof="0" dirty="0"/>
          </a:p>
        </p:txBody>
      </p:sp>
      <p:sp>
        <p:nvSpPr>
          <p:cNvPr id="19" name="Shape 11"/>
          <p:cNvSpPr/>
          <p:nvPr/>
        </p:nvSpPr>
        <p:spPr>
          <a:xfrm>
            <a:off x="5989320" y="2569464"/>
            <a:ext cx="2606040" cy="384048"/>
          </a:xfrm>
          <a:prstGeom prst="rect">
            <a:avLst/>
          </a:prstGeom>
          <a:solidFill>
            <a:srgbClr val="FFFFFF"/>
          </a:solidFill>
          <a:ln w="9525">
            <a:solidFill>
              <a:srgbClr val="E3E7EA"/>
            </a:solidFill>
            <a:prstDash val="solid"/>
          </a:ln>
        </p:spPr>
        <p:txBody>
          <a:bodyPr/>
          <a:lstStyle/>
          <a:p>
            <a:endParaRPr lang="es-CO" noProof="0" dirty="0"/>
          </a:p>
        </p:txBody>
      </p:sp>
      <p:sp>
        <p:nvSpPr>
          <p:cNvPr id="15" name="Text 12"/>
          <p:cNvSpPr/>
          <p:nvPr/>
        </p:nvSpPr>
        <p:spPr>
          <a:xfrm>
            <a:off x="6126480" y="2130552"/>
            <a:ext cx="1280160" cy="384048"/>
          </a:xfrm>
          <a:prstGeom prst="rect">
            <a:avLst/>
          </a:prstGeom>
          <a:noFill/>
          <a:ln/>
        </p:spPr>
        <p:txBody>
          <a:bodyPr wrap="square" lIns="0" tIns="0" rIns="0" bIns="0" rtlCol="0" anchor="ctr"/>
          <a:lstStyle/>
          <a:p>
            <a:pPr marL="0" indent="0">
              <a:buNone/>
            </a:pPr>
            <a:r>
              <a:rPr lang="es-CO" sz="1000" noProof="0" dirty="0">
                <a:solidFill>
                  <a:srgbClr val="1A1A2E"/>
                </a:solidFill>
                <a:latin typeface="Calibri" pitchFamily="34" charset="0"/>
                <a:ea typeface="Calibri" pitchFamily="34" charset="-122"/>
                <a:cs typeface="Calibri" pitchFamily="34" charset="-120"/>
              </a:rPr>
              <a:t>Semana 2</a:t>
            </a:r>
            <a:endParaRPr lang="es-CO" sz="1000" noProof="0" dirty="0"/>
          </a:p>
        </p:txBody>
      </p:sp>
      <p:sp>
        <p:nvSpPr>
          <p:cNvPr id="23" name="Text 12"/>
          <p:cNvSpPr/>
          <p:nvPr/>
        </p:nvSpPr>
        <p:spPr>
          <a:xfrm>
            <a:off x="6126480" y="3008376"/>
            <a:ext cx="1280160" cy="384048"/>
          </a:xfrm>
          <a:prstGeom prst="rect">
            <a:avLst/>
          </a:prstGeom>
          <a:noFill/>
          <a:ln/>
        </p:spPr>
        <p:txBody>
          <a:bodyPr wrap="square" lIns="0" tIns="0" rIns="0" bIns="0" rtlCol="0" anchor="ctr"/>
          <a:lstStyle/>
          <a:p>
            <a:pPr marL="0" indent="0">
              <a:buNone/>
            </a:pPr>
            <a:r>
              <a:rPr lang="es-CO" sz="1000" noProof="0" dirty="0">
                <a:solidFill>
                  <a:srgbClr val="1A1A2E"/>
                </a:solidFill>
                <a:latin typeface="Calibri" pitchFamily="34" charset="0"/>
                <a:ea typeface="Calibri" pitchFamily="34" charset="-122"/>
                <a:cs typeface="Calibri" pitchFamily="34" charset="-120"/>
              </a:rPr>
              <a:t>Semana 4</a:t>
            </a:r>
            <a:endParaRPr lang="es-CO" sz="1000" noProof="0" dirty="0"/>
          </a:p>
        </p:txBody>
      </p:sp>
      <p:sp>
        <p:nvSpPr>
          <p:cNvPr id="20" name="Text 12"/>
          <p:cNvSpPr/>
          <p:nvPr/>
        </p:nvSpPr>
        <p:spPr>
          <a:xfrm>
            <a:off x="6126480" y="2569464"/>
            <a:ext cx="1280160" cy="384048"/>
          </a:xfrm>
          <a:prstGeom prst="rect">
            <a:avLst/>
          </a:prstGeom>
          <a:noFill/>
          <a:ln/>
        </p:spPr>
        <p:txBody>
          <a:bodyPr wrap="square" lIns="0" tIns="0" rIns="0" bIns="0" rtlCol="0" anchor="ctr"/>
          <a:lstStyle/>
          <a:p>
            <a:pPr marL="0" indent="0">
              <a:buNone/>
            </a:pPr>
            <a:r>
              <a:rPr lang="es-CO" sz="1000" noProof="0" dirty="0">
                <a:solidFill>
                  <a:srgbClr val="1A1A2E"/>
                </a:solidFill>
                <a:latin typeface="Calibri" pitchFamily="34" charset="0"/>
                <a:ea typeface="Calibri" pitchFamily="34" charset="-122"/>
                <a:cs typeface="Calibri" pitchFamily="34" charset="-120"/>
              </a:rPr>
              <a:t>Semana 3</a:t>
            </a:r>
            <a:endParaRPr lang="es-CO" sz="1000" noProof="0" dirty="0"/>
          </a:p>
        </p:txBody>
      </p:sp>
      <p:sp>
        <p:nvSpPr>
          <p:cNvPr id="16" name="Text 13"/>
          <p:cNvSpPr/>
          <p:nvPr/>
        </p:nvSpPr>
        <p:spPr>
          <a:xfrm>
            <a:off x="7223760" y="2130552"/>
            <a:ext cx="1234440" cy="384048"/>
          </a:xfrm>
          <a:prstGeom prst="rect">
            <a:avLst/>
          </a:prstGeom>
          <a:noFill/>
          <a:ln/>
        </p:spPr>
        <p:txBody>
          <a:bodyPr wrap="square" lIns="0" tIns="0" rIns="0" bIns="0" rtlCol="0" anchor="ctr"/>
          <a:lstStyle/>
          <a:p>
            <a:pPr marL="0" indent="0" algn="r">
              <a:buNone/>
            </a:pPr>
            <a:r>
              <a:rPr lang="es-CO" sz="1500" b="1" noProof="0" dirty="0">
                <a:solidFill>
                  <a:srgbClr val="CA6F1E"/>
                </a:solidFill>
                <a:latin typeface="Calibri" pitchFamily="34" charset="0"/>
                <a:ea typeface="Calibri" pitchFamily="34" charset="-122"/>
                <a:cs typeface="Calibri" pitchFamily="34" charset="-120"/>
              </a:rPr>
              <a:t>+19,2%</a:t>
            </a:r>
            <a:endParaRPr lang="es-CO" sz="1500" noProof="0" dirty="0"/>
          </a:p>
        </p:txBody>
      </p:sp>
      <p:sp>
        <p:nvSpPr>
          <p:cNvPr id="24" name="Text 13"/>
          <p:cNvSpPr/>
          <p:nvPr/>
        </p:nvSpPr>
        <p:spPr>
          <a:xfrm>
            <a:off x="7223760" y="3008376"/>
            <a:ext cx="1234440" cy="384048"/>
          </a:xfrm>
          <a:prstGeom prst="rect">
            <a:avLst/>
          </a:prstGeom>
          <a:noFill/>
          <a:ln/>
        </p:spPr>
        <p:txBody>
          <a:bodyPr wrap="square" lIns="0" tIns="0" rIns="0" bIns="0" rtlCol="0" anchor="ctr"/>
          <a:lstStyle/>
          <a:p>
            <a:pPr marL="0" indent="0" algn="r">
              <a:buNone/>
            </a:pPr>
            <a:r>
              <a:rPr lang="es-CO" sz="1500" b="1" noProof="0" dirty="0">
                <a:solidFill>
                  <a:srgbClr val="1E8449"/>
                </a:solidFill>
                <a:latin typeface="Calibri" pitchFamily="34" charset="0"/>
                <a:ea typeface="Calibri" pitchFamily="34" charset="-122"/>
                <a:cs typeface="Calibri" pitchFamily="34" charset="-120"/>
              </a:rPr>
              <a:t>-0,9%</a:t>
            </a:r>
            <a:endParaRPr lang="es-CO" sz="1500" noProof="0" dirty="0"/>
          </a:p>
        </p:txBody>
      </p:sp>
      <p:sp>
        <p:nvSpPr>
          <p:cNvPr id="21" name="Text 13"/>
          <p:cNvSpPr/>
          <p:nvPr/>
        </p:nvSpPr>
        <p:spPr>
          <a:xfrm>
            <a:off x="7223760" y="2569464"/>
            <a:ext cx="1234440" cy="384048"/>
          </a:xfrm>
          <a:prstGeom prst="rect">
            <a:avLst/>
          </a:prstGeom>
          <a:noFill/>
          <a:ln/>
        </p:spPr>
        <p:txBody>
          <a:bodyPr wrap="square" lIns="0" tIns="0" rIns="0" bIns="0" rtlCol="0" anchor="ctr"/>
          <a:lstStyle/>
          <a:p>
            <a:pPr marL="0" indent="0" algn="r">
              <a:buNone/>
            </a:pPr>
            <a:r>
              <a:rPr lang="es-CO" sz="1500" b="1" noProof="0" dirty="0">
                <a:solidFill>
                  <a:srgbClr val="CA6F1E"/>
                </a:solidFill>
                <a:latin typeface="Calibri" pitchFamily="34" charset="0"/>
                <a:ea typeface="Calibri" pitchFamily="34" charset="-122"/>
                <a:cs typeface="Calibri" pitchFamily="34" charset="-120"/>
              </a:rPr>
              <a:t>+21,8%</a:t>
            </a:r>
            <a:endParaRPr lang="es-CO" sz="1500" noProof="0" dirty="0"/>
          </a:p>
        </p:txBody>
      </p:sp>
      <p:sp>
        <p:nvSpPr>
          <p:cNvPr id="17" name="Text 14"/>
          <p:cNvSpPr/>
          <p:nvPr/>
        </p:nvSpPr>
        <p:spPr>
          <a:xfrm>
            <a:off x="5989320" y="3520440"/>
            <a:ext cx="2606040" cy="640080"/>
          </a:xfrm>
          <a:prstGeom prst="rect">
            <a:avLst/>
          </a:prstGeom>
          <a:noFill/>
          <a:ln/>
        </p:spPr>
        <p:txBody>
          <a:bodyPr wrap="square" lIns="0" tIns="0" rIns="0" bIns="0" rtlCol="0" anchor="ctr"/>
          <a:lstStyle/>
          <a:p>
            <a:pPr marL="342900" indent="-342900">
              <a:spcAft>
                <a:spcPts val="500"/>
              </a:spcAft>
              <a:buSzPct val="100000"/>
              <a:buChar char="•"/>
            </a:pPr>
            <a:r>
              <a:rPr lang="es-CO" sz="800" noProof="0" dirty="0">
                <a:solidFill>
                  <a:srgbClr val="1A1A2E"/>
                </a:solidFill>
                <a:latin typeface="Calibri" pitchFamily="34" charset="0"/>
                <a:ea typeface="Calibri" pitchFamily="34" charset="-122"/>
                <a:cs typeface="Calibri" pitchFamily="34" charset="-120"/>
              </a:rPr>
              <a:t>Semana 2 recalculada: 6.584 kWh, no 7.534 kWh del archivo de seguimiento.</a:t>
            </a:r>
            <a:endParaRPr lang="es-CO" sz="800" noProof="0" dirty="0"/>
          </a:p>
          <a:p>
            <a:pPr marL="342900" indent="-342900">
              <a:spcAft>
                <a:spcPts val="500"/>
              </a:spcAft>
              <a:buSzPct val="100000"/>
              <a:buChar char="•"/>
            </a:pPr>
            <a:r>
              <a:rPr lang="es-CO" sz="800" noProof="0" dirty="0">
                <a:solidFill>
                  <a:srgbClr val="1A1A2E"/>
                </a:solidFill>
                <a:latin typeface="Calibri" pitchFamily="34" charset="0"/>
                <a:ea typeface="Calibri" pitchFamily="34" charset="-122"/>
                <a:cs typeface="Calibri" pitchFamily="34" charset="-120"/>
              </a:rPr>
              <a:t>La demanda sigue alta en la semana 3 y vuelve al diseño en la semana 4.</a:t>
            </a:r>
            <a:endParaRPr lang="es-CO" sz="800" noProof="0" dirty="0"/>
          </a:p>
        </p:txBody>
      </p:sp>
      <p:sp>
        <p:nvSpPr>
          <p:cNvPr id="18" name="Text 15"/>
          <p:cNvSpPr/>
          <p:nvPr/>
        </p:nvSpPr>
        <p:spPr>
          <a:xfrm>
            <a:off x="365760" y="4343400"/>
            <a:ext cx="8412480" cy="365760"/>
          </a:xfrm>
          <a:prstGeom prst="rect">
            <a:avLst/>
          </a:prstGeom>
          <a:noFill/>
          <a:ln/>
        </p:spPr>
        <p:txBody>
          <a:bodyPr wrap="square" lIns="0" tIns="0" rIns="0" bIns="0" rtlCol="0" anchor="ctr"/>
          <a:lstStyle/>
          <a:p>
            <a:pPr marL="0" indent="0">
              <a:buNone/>
            </a:pPr>
            <a:r>
              <a:rPr lang="es-CO" sz="850" i="1" noProof="0" dirty="0">
                <a:solidFill>
                  <a:srgbClr val="55636E"/>
                </a:solidFill>
                <a:latin typeface="Calibri" pitchFamily="34" charset="0"/>
                <a:ea typeface="Calibri" pitchFamily="34" charset="-122"/>
                <a:cs typeface="Calibri" pitchFamily="34" charset="-120"/>
              </a:rPr>
              <a:t>Semanas calculadas con los cierres diarios del medidor solar de las 38 viviendas con línea base. Los días 29 y 30 (1.638 kWh) no completan semana y no se grafican. Portón Rivera no tiene datos del 19 al 26 sep.</a:t>
            </a:r>
            <a:endParaRPr lang="es-CO" sz="85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TOP 10 - MAYOR VARIACION DE DEMANDA (2.ª VS. 1.ª QUINCENA)</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ALERTAS DE DEMANDA</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14</a:t>
            </a:r>
            <a:endParaRPr lang="es-CO" sz="800" noProof="0" dirty="0"/>
          </a:p>
        </p:txBody>
      </p:sp>
      <p:graphicFrame>
        <p:nvGraphicFramePr>
          <p:cNvPr id="8" name="Chart 0"/>
          <p:cNvGraphicFramePr/>
          <p:nvPr/>
        </p:nvGraphicFramePr>
        <p:xfrm>
          <a:off x="320040" y="1280160"/>
          <a:ext cx="850392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65760" y="4279392"/>
            <a:ext cx="91440" cy="91440"/>
          </a:xfrm>
          <a:prstGeom prst="rect">
            <a:avLst/>
          </a:prstGeom>
          <a:solidFill>
            <a:srgbClr val="1E8449"/>
          </a:solidFill>
          <a:ln w="12700">
            <a:solidFill>
              <a:srgbClr val="1E8449"/>
            </a:solidFill>
            <a:prstDash val="solid"/>
          </a:ln>
        </p:spPr>
        <p:txBody>
          <a:bodyPr/>
          <a:lstStyle/>
          <a:p>
            <a:endParaRPr lang="es-CO" noProof="0" dirty="0"/>
          </a:p>
        </p:txBody>
      </p:sp>
      <p:sp>
        <p:nvSpPr>
          <p:cNvPr id="10" name="Text 7"/>
          <p:cNvSpPr/>
          <p:nvPr/>
        </p:nvSpPr>
        <p:spPr>
          <a:xfrm>
            <a:off x="512064" y="4233672"/>
            <a:ext cx="1828800" cy="201168"/>
          </a:xfrm>
          <a:prstGeom prst="rect">
            <a:avLst/>
          </a:prstGeom>
          <a:noFill/>
          <a:ln/>
        </p:spPr>
        <p:txBody>
          <a:bodyPr wrap="square" lIns="0" tIns="0" rIns="0" bIns="0" rtlCol="0" anchor="ctr"/>
          <a:lstStyle/>
          <a:p>
            <a:pPr marL="0" indent="0">
              <a:buNone/>
            </a:pPr>
            <a:r>
              <a:rPr lang="es-CO" sz="800" noProof="0" dirty="0">
                <a:solidFill>
                  <a:srgbClr val="55636E"/>
                </a:solidFill>
                <a:latin typeface="Calibri" pitchFamily="34" charset="0"/>
                <a:ea typeface="Calibri" pitchFamily="34" charset="-122"/>
                <a:cs typeface="Calibri" pitchFamily="34" charset="-120"/>
              </a:rPr>
              <a:t>Verde ≤15%</a:t>
            </a:r>
            <a:endParaRPr lang="es-CO" sz="800" noProof="0" dirty="0"/>
          </a:p>
        </p:txBody>
      </p:sp>
      <p:sp>
        <p:nvSpPr>
          <p:cNvPr id="11" name="Shape 8"/>
          <p:cNvSpPr/>
          <p:nvPr/>
        </p:nvSpPr>
        <p:spPr>
          <a:xfrm>
            <a:off x="2331720" y="4279392"/>
            <a:ext cx="91440" cy="91440"/>
          </a:xfrm>
          <a:prstGeom prst="rect">
            <a:avLst/>
          </a:prstGeom>
          <a:solidFill>
            <a:srgbClr val="CA6F1E"/>
          </a:solidFill>
          <a:ln w="12700">
            <a:solidFill>
              <a:srgbClr val="CA6F1E"/>
            </a:solidFill>
            <a:prstDash val="solid"/>
          </a:ln>
        </p:spPr>
        <p:txBody>
          <a:bodyPr/>
          <a:lstStyle/>
          <a:p>
            <a:endParaRPr lang="es-CO" noProof="0" dirty="0"/>
          </a:p>
        </p:txBody>
      </p:sp>
      <p:sp>
        <p:nvSpPr>
          <p:cNvPr id="12" name="Text 9"/>
          <p:cNvSpPr/>
          <p:nvPr/>
        </p:nvSpPr>
        <p:spPr>
          <a:xfrm>
            <a:off x="2478024" y="4233672"/>
            <a:ext cx="1828800" cy="201168"/>
          </a:xfrm>
          <a:prstGeom prst="rect">
            <a:avLst/>
          </a:prstGeom>
          <a:noFill/>
          <a:ln/>
        </p:spPr>
        <p:txBody>
          <a:bodyPr wrap="square" lIns="0" tIns="0" rIns="0" bIns="0" rtlCol="0" anchor="ctr"/>
          <a:lstStyle/>
          <a:p>
            <a:pPr marL="0" indent="0">
              <a:buNone/>
            </a:pPr>
            <a:r>
              <a:rPr lang="es-CO" sz="800" noProof="0" dirty="0">
                <a:solidFill>
                  <a:srgbClr val="55636E"/>
                </a:solidFill>
                <a:latin typeface="Calibri" pitchFamily="34" charset="0"/>
                <a:ea typeface="Calibri" pitchFamily="34" charset="-122"/>
                <a:cs typeface="Calibri" pitchFamily="34" charset="-120"/>
              </a:rPr>
              <a:t>Naranja 15-30%</a:t>
            </a:r>
            <a:endParaRPr lang="es-CO" sz="800" noProof="0" dirty="0"/>
          </a:p>
        </p:txBody>
      </p:sp>
      <p:sp>
        <p:nvSpPr>
          <p:cNvPr id="13" name="Shape 10"/>
          <p:cNvSpPr/>
          <p:nvPr/>
        </p:nvSpPr>
        <p:spPr>
          <a:xfrm>
            <a:off x="4343400" y="4279392"/>
            <a:ext cx="91440" cy="91440"/>
          </a:xfrm>
          <a:prstGeom prst="rect">
            <a:avLst/>
          </a:prstGeom>
          <a:solidFill>
            <a:srgbClr val="E63946"/>
          </a:solidFill>
          <a:ln w="12700">
            <a:solidFill>
              <a:srgbClr val="E63946"/>
            </a:solidFill>
            <a:prstDash val="solid"/>
          </a:ln>
        </p:spPr>
        <p:txBody>
          <a:bodyPr/>
          <a:lstStyle/>
          <a:p>
            <a:endParaRPr lang="es-CO" noProof="0" dirty="0"/>
          </a:p>
        </p:txBody>
      </p:sp>
      <p:sp>
        <p:nvSpPr>
          <p:cNvPr id="14" name="Text 11"/>
          <p:cNvSpPr/>
          <p:nvPr/>
        </p:nvSpPr>
        <p:spPr>
          <a:xfrm>
            <a:off x="4489704" y="4233672"/>
            <a:ext cx="1828800" cy="201168"/>
          </a:xfrm>
          <a:prstGeom prst="rect">
            <a:avLst/>
          </a:prstGeom>
          <a:noFill/>
          <a:ln/>
        </p:spPr>
        <p:txBody>
          <a:bodyPr wrap="square" lIns="0" tIns="0" rIns="0" bIns="0" rtlCol="0" anchor="ctr"/>
          <a:lstStyle/>
          <a:p>
            <a:pPr marL="0" indent="0">
              <a:buNone/>
            </a:pPr>
            <a:r>
              <a:rPr lang="es-CO" sz="800" noProof="0" dirty="0">
                <a:solidFill>
                  <a:srgbClr val="55636E"/>
                </a:solidFill>
                <a:latin typeface="Calibri" pitchFamily="34" charset="0"/>
                <a:ea typeface="Calibri" pitchFamily="34" charset="-122"/>
                <a:cs typeface="Calibri" pitchFamily="34" charset="-120"/>
              </a:rPr>
              <a:t>Rojo &gt;30%</a:t>
            </a:r>
            <a:endParaRPr lang="es-CO" sz="800" noProof="0" dirty="0"/>
          </a:p>
        </p:txBody>
      </p:sp>
      <p:sp>
        <p:nvSpPr>
          <p:cNvPr id="15" name="Text 12"/>
          <p:cNvSpPr/>
          <p:nvPr/>
        </p:nvSpPr>
        <p:spPr>
          <a:xfrm>
            <a:off x="365760" y="4498848"/>
            <a:ext cx="8412480" cy="365760"/>
          </a:xfrm>
          <a:prstGeom prst="rect">
            <a:avLst/>
          </a:prstGeom>
          <a:noFill/>
          <a:ln/>
        </p:spPr>
        <p:txBody>
          <a:bodyPr wrap="square" lIns="0" tIns="0" rIns="0" bIns="0" rtlCol="0" anchor="ctr"/>
          <a:lstStyle/>
          <a:p>
            <a:pPr marL="0" indent="0">
              <a:buNone/>
            </a:pPr>
            <a:r>
              <a:rPr lang="es-CO" sz="800" i="1" noProof="0" dirty="0">
                <a:solidFill>
                  <a:srgbClr val="55636E"/>
                </a:solidFill>
                <a:latin typeface="Calibri" pitchFamily="34" charset="0"/>
                <a:ea typeface="Calibri" pitchFamily="34" charset="-122"/>
                <a:cs typeface="Calibri" pitchFamily="34" charset="-120"/>
              </a:rPr>
              <a:t>Casa 287 (+97%) casi duplica su consumo diario tras ausentarse el 1-2 sep; Casa 35 (+40%) mantiene la tendencia al alza. 🧳 Casa 104 (-37%): la familia no está en la vivienda desde el 24 sep (confirmado); su generación cae con el consumo. Casa 18PR tiene 8 días sin datos.</a:t>
            </a:r>
            <a:endParaRPr lang="es-CO" sz="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RANKING COMPLETO - DESEMPEÑO Y COBERTURA POR VIVIENDA (1/2)</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RANKING DE DESEMPEÑO</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15</a:t>
            </a:r>
            <a:endParaRPr lang="es-CO" sz="800" noProof="0" dirty="0"/>
          </a:p>
        </p:txBody>
      </p:sp>
      <p:graphicFrame>
        <p:nvGraphicFramePr>
          <p:cNvPr id="16" name="Table 0"/>
          <p:cNvGraphicFramePr>
            <a:graphicFrameLocks noGrp="1"/>
          </p:cNvGraphicFramePr>
          <p:nvPr>
            <p:extLst>
              <p:ext uri="{D42A27DB-BD31-4B8C-83A1-F6EECF244321}">
                <p14:modId xmlns:p14="http://schemas.microsoft.com/office/powerpoint/2010/main" val="3285852623"/>
              </p:ext>
            </p:extLst>
          </p:nvPr>
        </p:nvGraphicFramePr>
        <p:xfrm>
          <a:off x="502920" y="1115568"/>
          <a:ext cx="8138160" cy="3264408"/>
        </p:xfrm>
        <a:graphic>
          <a:graphicData uri="http://schemas.openxmlformats.org/drawingml/2006/table">
            <a:tbl>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77724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tblGrid>
              <a:tr h="155448">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Casa</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Conjunto</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kWp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Gen (kWh)</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Dem (kWh)</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Cobertura</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Yield real</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Desemp.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SOC</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24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Terra by Kaia</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1.079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1.821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59,2%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1.377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104,1%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720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963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74,8%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1.226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103,2%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15p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332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73,8%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1.360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102,8%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874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996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87,8%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1.191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100,3%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30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407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591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68,9%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1.191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100,3%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35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346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824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42,0%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1.179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99,2%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93p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509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757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67,2%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1.303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98,5%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397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643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61,7%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1.161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97,7%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57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396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527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75,3%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1.158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97,5%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78T</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Terranova</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944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1.881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50,2%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1.286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97,2%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56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395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736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1.154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97,1%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392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486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80,8%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1.149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96,7%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2"/>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23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605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1.266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47,8%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1.125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94,7%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18Ap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366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589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62,1%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1.251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4"/>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73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Llanos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326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61,6%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1.113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93,6%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23p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302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428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70,7%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1.236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93,4%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6"/>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77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379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625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60,6%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1.105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93,1%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102p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295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464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63,5%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1.203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90,9%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8"/>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435p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346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76,3%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1.179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89,1%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63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302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398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75,9%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1.029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86,6%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RANKING COMPLETO - DESEMPEÑO Y COBERTURA POR VIVIENDA (2/2)</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RANKING DE DESEMPEÑO</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16</a:t>
            </a:r>
            <a:endParaRPr lang="es-CO" sz="800" noProof="0" dirty="0"/>
          </a:p>
        </p:txBody>
      </p:sp>
      <p:graphicFrame>
        <p:nvGraphicFramePr>
          <p:cNvPr id="17" name="Table 0"/>
          <p:cNvGraphicFramePr>
            <a:graphicFrameLocks noGrp="1"/>
          </p:cNvGraphicFramePr>
          <p:nvPr>
            <p:extLst>
              <p:ext uri="{D42A27DB-BD31-4B8C-83A1-F6EECF244321}">
                <p14:modId xmlns:p14="http://schemas.microsoft.com/office/powerpoint/2010/main" val="809530968"/>
              </p:ext>
            </p:extLst>
          </p:nvPr>
        </p:nvGraphicFramePr>
        <p:xfrm>
          <a:off x="502920" y="1115568"/>
          <a:ext cx="8138160" cy="3108960"/>
        </p:xfrm>
        <a:graphic>
          <a:graphicData uri="http://schemas.openxmlformats.org/drawingml/2006/table">
            <a:tbl>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77724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tblGrid>
              <a:tr h="155448">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Casa</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Conjunto</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kWp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Gen (kWh)</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Dem (kWh)</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Cobertura</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Yield real</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Desemp.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SOC</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18PR</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Portón Rivera</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256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56,5%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1.021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85,9%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48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298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459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64,9%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1.017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85,6%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29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524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84,9%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1.013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85,3%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70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442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715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61,8%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1.005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84,6%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382p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381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600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63,5%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1.111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84,0%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573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851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67,3%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977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82,3%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99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429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81,0%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975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82,1%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42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330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487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67,6%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960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80,8%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10p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312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425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73,5%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1.066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80,6%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108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325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402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80,9%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949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79,9%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287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Terra by Kaia</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256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371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69,0%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1.050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79,4%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Los Abedules</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1.006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1.440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69,9%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935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78,7%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2"/>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74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405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757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922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77,6%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76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539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643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83,8%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918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77,3%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4"/>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155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Terra by Kaia</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579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724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79,9%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986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74,5%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111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636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834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76,3%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868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73,1%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6"/>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446p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318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434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73,2%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927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70,1%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55p</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Prado Verde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350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395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88,6%</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892</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67,4%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73%</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8"/>
                  </a:ext>
                </a:extLst>
              </a:tr>
              <a:tr h="15544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Casa 104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750" noProof="0" dirty="0">
                          <a:solidFill>
                            <a:srgbClr val="333333"/>
                          </a:solidFill>
                          <a:latin typeface="Calibri" pitchFamily="34" charset="0"/>
                          <a:ea typeface="Calibri" pitchFamily="34" charset="-122"/>
                          <a:cs typeface="Calibri" pitchFamily="34" charset="-120"/>
                        </a:rPr>
                        <a:t>Reservas de Pance</a:t>
                      </a:r>
                      <a:endParaRPr lang="es-CO" sz="75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275</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437</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62,8%</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800</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CA6F1E"/>
                          </a:solidFill>
                          <a:latin typeface="Calibri" pitchFamily="34" charset="0"/>
                          <a:ea typeface="Calibri" pitchFamily="34" charset="-122"/>
                          <a:cs typeface="Calibri" pitchFamily="34" charset="-120"/>
                        </a:rPr>
                        <a:t>67,4%</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61%</a:t>
                      </a:r>
                      <a:endParaRPr lang="es-CO" sz="800" noProof="0" dirty="0">
                        <a:latin typeface="Calibri" charset="0"/>
                        <a:ea typeface="Calibri" charset="0"/>
                        <a:cs typeface="Calibri" charset="0"/>
                      </a:endParaRPr>
                    </a:p>
                  </a:txBody>
                  <a:tcPr marL="36576" marR="36576" marT="9144" marB="9144"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INTERRUPCIONES DE RED - RESUMEN</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PERIODO: 01 - 30 SEP 2026 · 201 EVENTOS DE RED EN 39 VIVIENDAS · 22 FECHAS</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17</a:t>
            </a:r>
            <a:endParaRPr lang="es-CO" sz="800" noProof="0" dirty="0"/>
          </a:p>
        </p:txBody>
      </p:sp>
      <p:graphicFrame>
        <p:nvGraphicFramePr>
          <p:cNvPr id="8" name="Chart 0"/>
          <p:cNvGraphicFramePr/>
          <p:nvPr>
            <p:extLst>
              <p:ext uri="{D42A27DB-BD31-4B8C-83A1-F6EECF244321}">
                <p14:modId xmlns:p14="http://schemas.microsoft.com/office/powerpoint/2010/main" val="4070859789"/>
              </p:ext>
            </p:extLst>
          </p:nvPr>
        </p:nvGraphicFramePr>
        <p:xfrm>
          <a:off x="228600" y="1234440"/>
          <a:ext cx="393192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3803103812"/>
              </p:ext>
            </p:extLst>
          </p:nvPr>
        </p:nvGraphicFramePr>
        <p:xfrm>
          <a:off x="4434840" y="1280160"/>
          <a:ext cx="4526280" cy="1609344"/>
        </p:xfrm>
        <a:graphic>
          <a:graphicData uri="http://schemas.openxmlformats.org/drawingml/2006/table">
            <a:tbl>
              <a:tblPr/>
              <a:tblGrid>
                <a:gridCol w="16002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01168">
                <a:tc>
                  <a:txBody>
                    <a:bodyPr/>
                    <a:lstStyle/>
                    <a:p>
                      <a:pPr marL="0" indent="0" algn="l">
                        <a:buNone/>
                      </a:pPr>
                      <a:r>
                        <a:rPr lang="es-CO" sz="850" b="1" noProof="0" dirty="0">
                          <a:solidFill>
                            <a:srgbClr val="FFFFFF"/>
                          </a:solidFill>
                          <a:latin typeface="Calibri" pitchFamily="34" charset="0"/>
                          <a:ea typeface="Calibri" pitchFamily="34" charset="-122"/>
                          <a:cs typeface="Calibri" pitchFamily="34" charset="-120"/>
                        </a:rPr>
                        <a:t>Conjunto</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Casas</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Min. red</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Efectividad</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Estado</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Prado Verde Primavera</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10</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1.703</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98,8%</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NORMAL</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E8449"/>
                    </a:solidFill>
                  </a:tcPr>
                </a:tc>
                <a:extLst>
                  <a:ext uri="{0D108BD9-81ED-4DB2-BD59-A6C34878D82A}">
                    <a16:rowId xmlns:a16="http://schemas.microsoft.com/office/drawing/2014/main" val="10001"/>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Reservas de Pance</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22</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4.223</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98,3%</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NORMAL</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E8449"/>
                    </a:solidFill>
                  </a:tcPr>
                </a:tc>
                <a:extLst>
                  <a:ext uri="{0D108BD9-81ED-4DB2-BD59-A6C34878D82A}">
                    <a16:rowId xmlns:a16="http://schemas.microsoft.com/office/drawing/2014/main" val="10002"/>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Terra by Kaia</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71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94,4%</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NORMAL</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E8449"/>
                    </a:solidFill>
                  </a:tcPr>
                </a:tc>
                <a:extLst>
                  <a:ext uri="{0D108BD9-81ED-4DB2-BD59-A6C34878D82A}">
                    <a16:rowId xmlns:a16="http://schemas.microsoft.com/office/drawing/2014/main" val="10003"/>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Llanos de Pance</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66</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93,8%</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NORMAL</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E8449"/>
                    </a:solidFill>
                  </a:tcPr>
                </a:tc>
                <a:extLst>
                  <a:ext uri="{0D108BD9-81ED-4DB2-BD59-A6C34878D82A}">
                    <a16:rowId xmlns:a16="http://schemas.microsoft.com/office/drawing/2014/main" val="10004"/>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Portón de la Rivera</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14</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51,1%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REVISAR</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A6F1E"/>
                    </a:solidFill>
                  </a:tcPr>
                </a:tc>
                <a:extLst>
                  <a:ext uri="{0D108BD9-81ED-4DB2-BD59-A6C34878D82A}">
                    <a16:rowId xmlns:a16="http://schemas.microsoft.com/office/drawing/2014/main" val="10005"/>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Los Abedules</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396</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37,8%</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CRÍTICO</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0392B"/>
                    </a:solidFill>
                  </a:tcPr>
                </a:tc>
                <a:extLst>
                  <a:ext uri="{0D108BD9-81ED-4DB2-BD59-A6C34878D82A}">
                    <a16:rowId xmlns:a16="http://schemas.microsoft.com/office/drawing/2014/main" val="10006"/>
                  </a:ext>
                </a:extLst>
              </a:tr>
              <a:tr h="201168">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Terranova</a:t>
                      </a:r>
                      <a:endParaRPr lang="es-CO" sz="8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0,0%</a:t>
                      </a:r>
                      <a:endParaRPr lang="es-CO" sz="85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700" b="1" noProof="0" dirty="0">
                          <a:solidFill>
                            <a:srgbClr val="FFFFFF"/>
                          </a:solidFill>
                          <a:latin typeface="Calibri" pitchFamily="34" charset="0"/>
                          <a:ea typeface="Calibri" pitchFamily="34" charset="-122"/>
                          <a:cs typeface="Calibri" pitchFamily="34" charset="-120"/>
                        </a:rPr>
                        <a:t>VALIDAR</a:t>
                      </a:r>
                      <a:endParaRPr lang="es-CO" sz="700" noProof="0" dirty="0">
                        <a:latin typeface="Calibri" charset="0"/>
                        <a:ea typeface="Calibri" charset="0"/>
                        <a:cs typeface="Calibri" charset="0"/>
                      </a:endParaRPr>
                    </a:p>
                  </a:txBody>
                  <a:tcPr anchor="ctr" marT="9144" marB="9144">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0392B"/>
                    </a:solidFill>
                  </a:tcPr>
                </a:tc>
                <a:extLst>
                  <a:ext uri="{0D108BD9-81ED-4DB2-BD59-A6C34878D82A}">
                    <a16:rowId xmlns:a16="http://schemas.microsoft.com/office/drawing/2014/main" val="10006"/>
                  </a:ext>
                </a:extLst>
              </a:tr>
            </a:tbl>
          </a:graphicData>
        </a:graphic>
      </p:graphicFrame>
      <p:sp>
        <p:nvSpPr>
          <p:cNvPr id="10" name="Shape 6"/>
          <p:cNvSpPr/>
          <p:nvPr/>
        </p:nvSpPr>
        <p:spPr>
          <a:xfrm>
            <a:off x="4434840" y="3364992"/>
            <a:ext cx="2103120" cy="960120"/>
          </a:xfrm>
          <a:prstGeom prst="rect">
            <a:avLst/>
          </a:prstGeom>
          <a:solidFill>
            <a:srgbClr val="F7F9FC"/>
          </a:solidFill>
          <a:ln w="9525">
            <a:solidFill>
              <a:srgbClr val="E3E7EA"/>
            </a:solidFill>
            <a:prstDash val="solid"/>
          </a:ln>
        </p:spPr>
        <p:txBody>
          <a:bodyPr/>
          <a:lstStyle/>
          <a:p>
            <a:endParaRPr lang="es-CO" noProof="0" dirty="0"/>
          </a:p>
        </p:txBody>
      </p:sp>
      <p:sp>
        <p:nvSpPr>
          <p:cNvPr id="11" name="Text 7"/>
          <p:cNvSpPr/>
          <p:nvPr/>
        </p:nvSpPr>
        <p:spPr>
          <a:xfrm>
            <a:off x="4572000" y="3483864"/>
            <a:ext cx="1828800" cy="411480"/>
          </a:xfrm>
          <a:prstGeom prst="rect">
            <a:avLst/>
          </a:prstGeom>
          <a:noFill/>
          <a:ln/>
        </p:spPr>
        <p:txBody>
          <a:bodyPr wrap="square" lIns="0" tIns="0" rIns="0" bIns="0" rtlCol="0" anchor="ctr"/>
          <a:lstStyle/>
          <a:p>
            <a:pPr marL="0" indent="0">
              <a:buNone/>
            </a:pPr>
            <a:r>
              <a:rPr lang="es-CO" sz="2000" b="1" noProof="0" dirty="0">
                <a:solidFill>
                  <a:srgbClr val="1B3A6B"/>
                </a:solidFill>
                <a:latin typeface="Calibri" pitchFamily="34" charset="0"/>
                <a:ea typeface="Calibri" pitchFamily="34" charset="-122"/>
                <a:cs typeface="Calibri" pitchFamily="34" charset="-120"/>
              </a:rPr>
              <a:t>107h 55m</a:t>
            </a:r>
            <a:endParaRPr lang="es-CO" sz="2000" noProof="0" dirty="0"/>
          </a:p>
        </p:txBody>
      </p:sp>
      <p:sp>
        <p:nvSpPr>
          <p:cNvPr id="12" name="Text 8"/>
          <p:cNvSpPr/>
          <p:nvPr/>
        </p:nvSpPr>
        <p:spPr>
          <a:xfrm>
            <a:off x="4572000" y="3895344"/>
            <a:ext cx="1828800" cy="32004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Tiempo acumulado de salida de red</a:t>
            </a:r>
            <a:endParaRPr lang="es-CO" sz="800" noProof="0" dirty="0"/>
          </a:p>
        </p:txBody>
      </p:sp>
      <p:sp>
        <p:nvSpPr>
          <p:cNvPr id="13" name="Shape 9"/>
          <p:cNvSpPr/>
          <p:nvPr/>
        </p:nvSpPr>
        <p:spPr>
          <a:xfrm>
            <a:off x="6675120" y="3364992"/>
            <a:ext cx="2286000" cy="960120"/>
          </a:xfrm>
          <a:prstGeom prst="rect">
            <a:avLst/>
          </a:prstGeom>
          <a:solidFill>
            <a:srgbClr val="F7F9FC"/>
          </a:solidFill>
          <a:ln w="9525">
            <a:solidFill>
              <a:srgbClr val="E3E7EA"/>
            </a:solidFill>
            <a:prstDash val="solid"/>
          </a:ln>
        </p:spPr>
        <p:txBody>
          <a:bodyPr/>
          <a:lstStyle/>
          <a:p>
            <a:endParaRPr lang="es-CO" noProof="0" dirty="0"/>
          </a:p>
        </p:txBody>
      </p:sp>
      <p:sp>
        <p:nvSpPr>
          <p:cNvPr id="14" name="Text 10"/>
          <p:cNvSpPr/>
          <p:nvPr/>
        </p:nvSpPr>
        <p:spPr>
          <a:xfrm>
            <a:off x="6812280" y="3483864"/>
            <a:ext cx="1828800" cy="411480"/>
          </a:xfrm>
          <a:prstGeom prst="rect">
            <a:avLst/>
          </a:prstGeom>
          <a:noFill/>
          <a:ln/>
        </p:spPr>
        <p:txBody>
          <a:bodyPr wrap="square" lIns="0" tIns="0" rIns="0" bIns="0" rtlCol="0" anchor="ctr"/>
          <a:lstStyle/>
          <a:p>
            <a:pPr marL="0" indent="0">
              <a:buNone/>
            </a:pPr>
            <a:r>
              <a:rPr lang="es-CO" sz="2000" b="1" noProof="0" dirty="0">
                <a:solidFill>
                  <a:srgbClr val="1F6F78"/>
                </a:solidFill>
                <a:latin typeface="Calibri" pitchFamily="34" charset="0"/>
                <a:ea typeface="Calibri" pitchFamily="34" charset="-122"/>
                <a:cs typeface="Calibri" pitchFamily="34" charset="-120"/>
              </a:rPr>
              <a:t>94,5%</a:t>
            </a:r>
            <a:endParaRPr lang="es-CO" sz="2000" noProof="0" dirty="0"/>
          </a:p>
        </p:txBody>
      </p:sp>
      <p:sp>
        <p:nvSpPr>
          <p:cNvPr id="15" name="Text 11"/>
          <p:cNvSpPr/>
          <p:nvPr/>
        </p:nvSpPr>
        <p:spPr>
          <a:xfrm>
            <a:off x="6812280" y="3895344"/>
            <a:ext cx="1828800" cy="32004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Efectividad de respaldo (39 casas)</a:t>
            </a:r>
            <a:endParaRPr lang="es-CO" sz="800" noProof="0" dirty="0"/>
          </a:p>
        </p:txBody>
      </p:sp>
      <p:sp>
        <p:nvSpPr>
          <p:cNvPr id="16" name="Text 12"/>
          <p:cNvSpPr/>
          <p:nvPr/>
        </p:nvSpPr>
        <p:spPr>
          <a:xfrm>
            <a:off x="365760" y="4434840"/>
            <a:ext cx="8412480" cy="320040"/>
          </a:xfrm>
          <a:prstGeom prst="rect">
            <a:avLst/>
          </a:prstGeom>
          <a:noFill/>
          <a:ln/>
        </p:spPr>
        <p:txBody>
          <a:bodyPr wrap="square" lIns="0" tIns="0" rIns="0" bIns="0" rtlCol="0" anchor="ctr"/>
          <a:lstStyle/>
          <a:p>
            <a:pPr marL="0" indent="0">
              <a:buNone/>
            </a:pPr>
            <a:r>
              <a:rPr lang="es-CO" sz="850" i="1" noProof="0" dirty="0">
                <a:solidFill>
                  <a:srgbClr val="55636E"/>
                </a:solidFill>
                <a:latin typeface="Calibri" pitchFamily="34" charset="0"/>
                <a:ea typeface="Calibri" pitchFamily="34" charset="-122"/>
                <a:cs typeface="Calibri" pitchFamily="34" charset="-120"/>
              </a:rPr>
              <a:t>La exposición sube de 4,2 h a 107,9 h de salida de red acumulada, por los cortes de EMCALI del 22 y 29 sep en Reservas de Pance (2 h 55 min el 29 sep). Ahora se cuentan los parpadeos al volver la red: con este criterio la 1.ª quincena da 89,9%.</a:t>
            </a:r>
            <a:endParaRPr lang="es-CO" sz="85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 DE RESPALDO POR VIVIENDA (ANTE SALIDAS DE RED)</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RESPALDO ENERGETICO</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18</a:t>
            </a:r>
            <a:endParaRPr lang="es-CO" sz="800" noProof="0" dirty="0"/>
          </a:p>
        </p:txBody>
      </p:sp>
      <p:graphicFrame>
        <p:nvGraphicFramePr>
          <p:cNvPr id="8" name="Chart 0"/>
          <p:cNvGraphicFramePr/>
          <p:nvPr/>
        </p:nvGraphicFramePr>
        <p:xfrm>
          <a:off x="320040" y="1188720"/>
          <a:ext cx="53949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989320" y="1188720"/>
            <a:ext cx="2788920" cy="3200400"/>
          </a:xfrm>
          <a:prstGeom prst="rect">
            <a:avLst/>
          </a:prstGeom>
          <a:solidFill>
            <a:srgbClr val="F7F9FC"/>
          </a:solidFill>
          <a:ln w="9525">
            <a:solidFill>
              <a:srgbClr val="E3E7EA"/>
            </a:solidFill>
            <a:prstDash val="solid"/>
          </a:ln>
        </p:spPr>
        <p:txBody>
          <a:bodyPr/>
          <a:lstStyle/>
          <a:p>
            <a:endParaRPr lang="es-CO" noProof="0" dirty="0"/>
          </a:p>
        </p:txBody>
      </p:sp>
      <p:sp>
        <p:nvSpPr>
          <p:cNvPr id="10" name="Text 7"/>
          <p:cNvSpPr/>
          <p:nvPr/>
        </p:nvSpPr>
        <p:spPr>
          <a:xfrm>
            <a:off x="6172200" y="1325880"/>
            <a:ext cx="242316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META OPERATIVA</a:t>
            </a:r>
            <a:endParaRPr lang="es-CO" sz="900" noProof="0" dirty="0"/>
          </a:p>
        </p:txBody>
      </p:sp>
      <p:sp>
        <p:nvSpPr>
          <p:cNvPr id="11" name="Text 8"/>
          <p:cNvSpPr/>
          <p:nvPr/>
        </p:nvSpPr>
        <p:spPr>
          <a:xfrm>
            <a:off x="6172200" y="1581912"/>
            <a:ext cx="2423160" cy="685800"/>
          </a:xfrm>
          <a:prstGeom prst="rect">
            <a:avLst/>
          </a:prstGeom>
          <a:noFill/>
          <a:ln/>
        </p:spPr>
        <p:txBody>
          <a:bodyPr wrap="square" lIns="0" tIns="0" rIns="0" bIns="0" rtlCol="0" anchor="ctr"/>
          <a:lstStyle/>
          <a:p>
            <a:pPr marL="0" indent="0">
              <a:buNone/>
            </a:pPr>
            <a:r>
              <a:rPr lang="es-CO" sz="820" noProof="0" dirty="0">
                <a:solidFill>
                  <a:srgbClr val="1A1A2E"/>
                </a:solidFill>
                <a:latin typeface="Calibri" pitchFamily="34" charset="0"/>
                <a:ea typeface="Calibri" pitchFamily="34" charset="-122"/>
                <a:cs typeface="Calibri" pitchFamily="34" charset="-120"/>
              </a:rPr>
              <a:t>El objetivo del BESS es respaldo del 100% (cero interrupción del suministro solar) ante cada salida de red, según diseño de autonomía de Proyecto SUNNY.</a:t>
            </a:r>
            <a:endParaRPr lang="es-CO" sz="820" noProof="0" dirty="0"/>
          </a:p>
        </p:txBody>
      </p:sp>
      <p:sp>
        <p:nvSpPr>
          <p:cNvPr id="12" name="Text 9"/>
          <p:cNvSpPr/>
          <p:nvPr/>
        </p:nvSpPr>
        <p:spPr>
          <a:xfrm>
            <a:off x="6172200" y="2331720"/>
            <a:ext cx="242316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HALLAZGOS</a:t>
            </a:r>
            <a:endParaRPr lang="es-CO" sz="900" noProof="0" dirty="0"/>
          </a:p>
        </p:txBody>
      </p:sp>
      <p:sp>
        <p:nvSpPr>
          <p:cNvPr id="13" name="Text 10"/>
          <p:cNvSpPr/>
          <p:nvPr/>
        </p:nvSpPr>
        <p:spPr>
          <a:xfrm>
            <a:off x="6172200" y="2587752"/>
            <a:ext cx="2423160" cy="1691640"/>
          </a:xfrm>
          <a:prstGeom prst="rect">
            <a:avLst/>
          </a:prstGeom>
          <a:noFill/>
          <a:ln/>
        </p:spPr>
        <p:txBody>
          <a:bodyPr wrap="square" lIns="0" tIns="0" rIns="0" bIns="0" rtlCol="0" anchor="ctr"/>
          <a:lstStyle/>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31 de 39 viviendas respaldan ≥ 95%; solo Casa 2 y 155 llegan al 100% por los parpadeos al volver la red.</a:t>
            </a:r>
            <a:endParaRPr lang="es-CO" sz="820" noProof="0" dirty="0"/>
          </a:p>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Casa 12 (37,8%): entró con SOC 15% a los cortes de ~2 h del 20 y 22 sep.</a:t>
            </a:r>
            <a:endParaRPr lang="es-CO" sz="820" noProof="0" dirty="0"/>
          </a:p>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Casa 78T (0%): sus microcortes (5-26 s) duran menos que la transferencia (~70 s).</a:t>
            </a:r>
            <a:endParaRPr lang="es-CO" sz="820" noProof="0" dirty="0"/>
          </a:p>
          <a:p>
            <a:pPr marL="342900" indent="-342900">
              <a:spcAft>
                <a:spcPts val="600"/>
              </a:spcAft>
              <a:buSzPct val="100000"/>
              <a:buChar char="•"/>
            </a:pPr>
            <a:r>
              <a:rPr lang="es-CO" sz="820" noProof="0" dirty="0">
                <a:solidFill>
                  <a:srgbClr val="1A1A2E"/>
                </a:solidFill>
                <a:latin typeface="Calibri" pitchFamily="34" charset="0"/>
                <a:ea typeface="Calibri" pitchFamily="34" charset="-122"/>
                <a:cs typeface="Calibri" pitchFamily="34" charset="-120"/>
              </a:rPr>
              <a:t>El corte de 2 h 55 min del 29 sep se respaldó ≥ 93,7% en las 22 casas de Reservas.</a:t>
            </a:r>
            <a:endParaRPr lang="es-CO" sz="820" noProof="0" dirty="0"/>
          </a:p>
        </p:txBody>
      </p:sp>
      <p:sp>
        <p:nvSpPr>
          <p:cNvPr id="14" name="Text 11"/>
          <p:cNvSpPr/>
          <p:nvPr/>
        </p:nvSpPr>
        <p:spPr>
          <a:xfrm>
            <a:off x="365760" y="4453128"/>
            <a:ext cx="8412480" cy="274320"/>
          </a:xfrm>
          <a:prstGeom prst="rect">
            <a:avLst/>
          </a:prstGeom>
          <a:noFill/>
          <a:ln/>
        </p:spPr>
        <p:txBody>
          <a:bodyPr wrap="square" lIns="0" tIns="0" rIns="0" bIns="0" rtlCol="0" anchor="ctr"/>
          <a:lstStyle/>
          <a:p>
            <a:pPr marL="0" indent="0">
              <a:buNone/>
            </a:pPr>
            <a:r>
              <a:rPr lang="es-CO" sz="850" i="1" noProof="0" dirty="0">
                <a:solidFill>
                  <a:srgbClr val="55636E"/>
                </a:solidFill>
                <a:latin typeface="Calibri" pitchFamily="34" charset="0"/>
                <a:ea typeface="Calibri" pitchFamily="34" charset="-122"/>
                <a:cs typeface="Calibri" pitchFamily="34" charset="-120"/>
              </a:rPr>
              <a:t>Se grafican las 20 viviendas con menor respaldo; las otras 19 respaldan entre 98,6% y 100%. Casa 18PR (51,1%): el 22 sep la red cayó 3:45 y quedó 20:45 sin energía solar.</a:t>
            </a:r>
            <a:endParaRPr lang="es-CO" sz="85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ALARMAS Y FALLAS REGISTRADAS</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10 FALLAS ACUMULADAS DEL PROYECTO · SIN NOVEDADES NUEVAS EN EL MES</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19</a:t>
            </a:r>
            <a:endParaRPr lang="es-CO" sz="800" noProof="0" dirty="0"/>
          </a:p>
        </p:txBody>
      </p:sp>
      <p:graphicFrame>
        <p:nvGraphicFramePr>
          <p:cNvPr id="20" name="Table 0"/>
          <p:cNvGraphicFramePr>
            <a:graphicFrameLocks noGrp="1"/>
          </p:cNvGraphicFramePr>
          <p:nvPr>
            <p:extLst>
              <p:ext uri="{D42A27DB-BD31-4B8C-83A1-F6EECF244321}">
                <p14:modId xmlns:p14="http://schemas.microsoft.com/office/powerpoint/2010/main" val="2803622065"/>
              </p:ext>
            </p:extLst>
          </p:nvPr>
        </p:nvGraphicFramePr>
        <p:xfrm>
          <a:off x="365760" y="1170432"/>
          <a:ext cx="8412480" cy="2766060"/>
        </p:xfrm>
        <a:graphic>
          <a:graphicData uri="http://schemas.openxmlformats.org/drawingml/2006/table">
            <a:tbl>
              <a:tblPr/>
              <a:tblGrid>
                <a:gridCol w="1143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251460">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Casa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Falla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Fecha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Inversor</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Categoría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Estado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55</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F63 Fallo de 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23 Ago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48PC</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F63 Fallo de 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10 Ago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55</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F63 Fallo de 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 Ago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55</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F63 Fallo de 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25 Jul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55</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F63 Fallo de 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28 Jun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2</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F63 Fallo de 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6 Jul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Arco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23</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Fallo del relé de precarga de la batería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8 Jul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Livoltek</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Electrónico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30</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Recalentamiento de protección AC</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14 Jul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Livoltek</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Térmico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74</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Recalentamiento de protección AC</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13 Jun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Deye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Térmico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146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24</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Recalentamiento de bornera de conexión AC</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20 Jun 2026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Livoltek</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Térmico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1E8449"/>
                          </a:solidFill>
                          <a:latin typeface="Calibri" pitchFamily="34" charset="0"/>
                          <a:ea typeface="Calibri" pitchFamily="34" charset="-122"/>
                          <a:cs typeface="Calibri" pitchFamily="34" charset="-120"/>
                        </a:rPr>
                        <a:t>Resuelta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bl>
          </a:graphicData>
        </a:graphic>
      </p:graphicFrame>
      <p:sp>
        <p:nvSpPr>
          <p:cNvPr id="9" name="Text 6"/>
          <p:cNvSpPr/>
          <p:nvPr/>
        </p:nvSpPr>
        <p:spPr>
          <a:xfrm>
            <a:off x="365760" y="4315968"/>
            <a:ext cx="8412480" cy="320040"/>
          </a:xfrm>
          <a:prstGeom prst="rect">
            <a:avLst/>
          </a:prstGeom>
          <a:noFill/>
          <a:ln/>
        </p:spPr>
        <p:txBody>
          <a:bodyPr wrap="square" lIns="0" tIns="0" rIns="0" bIns="0" rtlCol="0" anchor="ctr"/>
          <a:lstStyle/>
          <a:p>
            <a:pPr marL="0" indent="0">
              <a:buNone/>
            </a:pPr>
            <a:r>
              <a:rPr lang="es-CO" sz="850" i="1" noProof="0" dirty="0">
                <a:solidFill>
                  <a:srgbClr val="1E8449"/>
                </a:solidFill>
                <a:latin typeface="Calibri" pitchFamily="34" charset="0"/>
                <a:ea typeface="Calibri" pitchFamily="34" charset="-122"/>
                <a:cs typeface="Calibri" pitchFamily="34" charset="-120"/>
              </a:rPr>
              <a:t>Sin fallas técnicas nuevas en septiembre: los inversores solo registran en Metrum eventos de pérdida de red (igf, 37 en el mes). Casa 55p opera con normalidad desde el 03 sep.</a:t>
            </a:r>
            <a:endParaRPr lang="es-CO" sz="85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FALLAS DE INVERSOR POR MARCA</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7 FALLAS PROPIAS DEL INVERSOR · SIN CASOS NUEVOS EN EL MES</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20</a:t>
            </a:r>
            <a:endParaRPr lang="es-CO" sz="800" noProof="0" dirty="0"/>
          </a:p>
        </p:txBody>
      </p:sp>
      <p:graphicFrame>
        <p:nvGraphicFramePr>
          <p:cNvPr id="8" name="Chart 0"/>
          <p:cNvGraphicFramePr/>
          <p:nvPr>
            <p:extLst>
              <p:ext uri="{D42A27DB-BD31-4B8C-83A1-F6EECF244321}">
                <p14:modId xmlns:p14="http://schemas.microsoft.com/office/powerpoint/2010/main" val="1706427801"/>
              </p:ext>
            </p:extLst>
          </p:nvPr>
        </p:nvGraphicFramePr>
        <p:xfrm>
          <a:off x="457200" y="1280160"/>
          <a:ext cx="42062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4937760" y="1280160"/>
            <a:ext cx="3840480" cy="3017520"/>
          </a:xfrm>
          <a:prstGeom prst="rect">
            <a:avLst/>
          </a:prstGeom>
          <a:solidFill>
            <a:srgbClr val="F7F9FC"/>
          </a:solidFill>
          <a:ln w="9525">
            <a:solidFill>
              <a:srgbClr val="E3E7EA"/>
            </a:solidFill>
            <a:prstDash val="solid"/>
          </a:ln>
        </p:spPr>
        <p:txBody>
          <a:bodyPr/>
          <a:lstStyle/>
          <a:p>
            <a:endParaRPr lang="es-CO" noProof="0" dirty="0"/>
          </a:p>
        </p:txBody>
      </p:sp>
      <p:sp>
        <p:nvSpPr>
          <p:cNvPr id="10" name="Text 7"/>
          <p:cNvSpPr/>
          <p:nvPr/>
        </p:nvSpPr>
        <p:spPr>
          <a:xfrm>
            <a:off x="5166360" y="1417320"/>
            <a:ext cx="338328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DISTRIBUCION POR CATEGORIA</a:t>
            </a:r>
            <a:endParaRPr lang="es-CO" sz="900" noProof="0" dirty="0"/>
          </a:p>
        </p:txBody>
      </p:sp>
      <p:graphicFrame>
        <p:nvGraphicFramePr>
          <p:cNvPr id="21" name="Table 0"/>
          <p:cNvGraphicFramePr>
            <a:graphicFrameLocks noGrp="1"/>
          </p:cNvGraphicFramePr>
          <p:nvPr>
            <p:extLst>
              <p:ext uri="{D42A27DB-BD31-4B8C-83A1-F6EECF244321}">
                <p14:modId xmlns:p14="http://schemas.microsoft.com/office/powerpoint/2010/main" val="1986333541"/>
              </p:ext>
            </p:extLst>
          </p:nvPr>
        </p:nvGraphicFramePr>
        <p:xfrm>
          <a:off x="5166360" y="1737360"/>
          <a:ext cx="3383280" cy="877824"/>
        </p:xfrm>
        <a:graphic>
          <a:graphicData uri="http://schemas.openxmlformats.org/drawingml/2006/table">
            <a:tbl>
              <a:tblPr/>
              <a:tblGrid>
                <a:gridCol w="8229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92608">
                <a:tc>
                  <a:txBody>
                    <a:bodyPr/>
                    <a:lstStyle/>
                    <a:p>
                      <a:pPr marL="0" indent="0" algn="ctr">
                        <a:buNone/>
                      </a:pPr>
                      <a:r>
                        <a:rPr lang="es-CO" sz="750" b="1" noProof="0" dirty="0">
                          <a:solidFill>
                            <a:srgbClr val="FFFFFF"/>
                          </a:solidFill>
                          <a:latin typeface="Calibri" pitchFamily="34" charset="0"/>
                          <a:ea typeface="Calibri" pitchFamily="34" charset="-122"/>
                          <a:cs typeface="Calibri" pitchFamily="34" charset="-120"/>
                        </a:rPr>
                        <a:t>Marca</a:t>
                      </a:r>
                      <a:endParaRPr lang="es-CO" sz="7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750" b="1" noProof="0" dirty="0">
                          <a:solidFill>
                            <a:srgbClr val="FFFFFF"/>
                          </a:solidFill>
                          <a:latin typeface="Calibri" pitchFamily="34" charset="0"/>
                          <a:ea typeface="Calibri" pitchFamily="34" charset="-122"/>
                          <a:cs typeface="Calibri" pitchFamily="34" charset="-120"/>
                        </a:rPr>
                        <a:t>Arco (F63)</a:t>
                      </a:r>
                      <a:endParaRPr lang="es-CO" sz="7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750" b="1" noProof="0" dirty="0">
                          <a:solidFill>
                            <a:srgbClr val="FFFFFF"/>
                          </a:solidFill>
                          <a:latin typeface="Calibri" pitchFamily="34" charset="0"/>
                          <a:ea typeface="Calibri" pitchFamily="34" charset="-122"/>
                          <a:cs typeface="Calibri" pitchFamily="34" charset="-120"/>
                        </a:rPr>
                        <a:t>Rele precarga</a:t>
                      </a:r>
                      <a:endParaRPr lang="es-CO" sz="7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750" b="1" noProof="0" dirty="0">
                          <a:solidFill>
                            <a:srgbClr val="FFFFFF"/>
                          </a:solidFill>
                          <a:latin typeface="Calibri" pitchFamily="34" charset="0"/>
                          <a:ea typeface="Calibri" pitchFamily="34" charset="-122"/>
                          <a:cs typeface="Calibri" pitchFamily="34" charset="-120"/>
                        </a:rPr>
                        <a:t>Total</a:t>
                      </a:r>
                      <a:endParaRPr lang="es-CO" sz="7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92608">
                <a:tc>
                  <a:txBody>
                    <a:bodyPr/>
                    <a:lstStyle/>
                    <a:p>
                      <a:pPr marL="0" indent="0" algn="l">
                        <a:buNone/>
                      </a:pPr>
                      <a:r>
                        <a:rPr lang="es-CO" sz="800" b="1" noProof="0" dirty="0">
                          <a:solidFill>
                            <a:srgbClr val="000000"/>
                          </a:solidFill>
                          <a:latin typeface="Calibri" pitchFamily="34" charset="0"/>
                          <a:ea typeface="Calibri" pitchFamily="34" charset="-122"/>
                          <a:cs typeface="Calibri" pitchFamily="34" charset="-120"/>
                        </a:rPr>
                        <a:t>Deye</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000000"/>
                          </a:solidFill>
                          <a:latin typeface="Calibri" pitchFamily="34" charset="0"/>
                          <a:ea typeface="Calibri" pitchFamily="34" charset="-122"/>
                          <a:cs typeface="Calibri" pitchFamily="34" charset="-120"/>
                        </a:rPr>
                        <a:t>6</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000000"/>
                          </a:solidFill>
                          <a:latin typeface="Calibri" pitchFamily="34" charset="0"/>
                          <a:ea typeface="Calibri" pitchFamily="34" charset="-122"/>
                          <a:cs typeface="Calibri" pitchFamily="34" charset="-120"/>
                        </a:rPr>
                        <a:t>0</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b="1" noProof="0" dirty="0">
                          <a:solidFill>
                            <a:srgbClr val="000000"/>
                          </a:solidFill>
                          <a:latin typeface="Calibri" pitchFamily="34" charset="0"/>
                          <a:ea typeface="Calibri" pitchFamily="34" charset="-122"/>
                          <a:cs typeface="Calibri" pitchFamily="34" charset="-120"/>
                        </a:rPr>
                        <a:t>6</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s-CO" sz="800" b="1" noProof="0" dirty="0">
                          <a:solidFill>
                            <a:srgbClr val="000000"/>
                          </a:solidFill>
                          <a:latin typeface="Calibri" pitchFamily="34" charset="0"/>
                          <a:ea typeface="Calibri" pitchFamily="34" charset="-122"/>
                          <a:cs typeface="Calibri" pitchFamily="34" charset="-120"/>
                        </a:rPr>
                        <a:t>Livoltek</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000000"/>
                          </a:solidFill>
                          <a:latin typeface="Calibri" pitchFamily="34" charset="0"/>
                          <a:ea typeface="Calibri" pitchFamily="34" charset="-122"/>
                          <a:cs typeface="Calibri" pitchFamily="34" charset="-120"/>
                        </a:rPr>
                        <a:t>0</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000000"/>
                          </a:solidFill>
                          <a:latin typeface="Calibri" pitchFamily="34" charset="0"/>
                          <a:ea typeface="Calibri" pitchFamily="34" charset="-122"/>
                          <a:cs typeface="Calibri" pitchFamily="34" charset="-120"/>
                        </a:rPr>
                        <a:t>1</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b="1" noProof="0" dirty="0">
                          <a:solidFill>
                            <a:srgbClr val="000000"/>
                          </a:solidFill>
                          <a:latin typeface="Calibri" pitchFamily="34" charset="0"/>
                          <a:ea typeface="Calibri" pitchFamily="34" charset="-122"/>
                          <a:cs typeface="Calibri" pitchFamily="34" charset="-120"/>
                        </a:rPr>
                        <a:t>1</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
        <p:nvSpPr>
          <p:cNvPr id="12" name="Text 8"/>
          <p:cNvSpPr/>
          <p:nvPr/>
        </p:nvSpPr>
        <p:spPr>
          <a:xfrm>
            <a:off x="5166360" y="3246120"/>
            <a:ext cx="3383280" cy="914400"/>
          </a:xfrm>
          <a:prstGeom prst="rect">
            <a:avLst/>
          </a:prstGeom>
          <a:noFill/>
          <a:ln/>
        </p:spPr>
        <p:txBody>
          <a:bodyPr wrap="square" lIns="0" tIns="0" rIns="0" bIns="0" rtlCol="0" anchor="ctr"/>
          <a:lstStyle/>
          <a:p>
            <a:pPr marL="0" indent="0">
              <a:buNone/>
            </a:pPr>
            <a:r>
              <a:rPr lang="es-CO" sz="850" noProof="0" dirty="0">
                <a:solidFill>
                  <a:srgbClr val="1A1A2E"/>
                </a:solidFill>
                <a:latin typeface="Calibri" pitchFamily="34" charset="0"/>
                <a:ea typeface="Calibri" pitchFamily="34" charset="-122"/>
                <a:cs typeface="Calibri" pitchFamily="34" charset="-120"/>
              </a:rPr>
              <a:t>Sin cambios frente al cierre de agosto. El cambio de inversor de Casa 55p (23 Ago) acumula 38 días sin recurrencia de arco al 30 sep.</a:t>
            </a:r>
            <a:endParaRPr lang="es-CO" sz="850" noProof="0" dirty="0"/>
          </a:p>
        </p:txBody>
      </p:sp>
      <p:sp>
        <p:nvSpPr>
          <p:cNvPr id="13" name="Text 9"/>
          <p:cNvSpPr/>
          <p:nvPr/>
        </p:nvSpPr>
        <p:spPr>
          <a:xfrm>
            <a:off x="365760" y="4434840"/>
            <a:ext cx="8412480" cy="365760"/>
          </a:xfrm>
          <a:prstGeom prst="rect">
            <a:avLst/>
          </a:prstGeom>
          <a:noFill/>
          <a:ln/>
        </p:spPr>
        <p:txBody>
          <a:bodyPr wrap="square" lIns="0" tIns="0" rIns="0" bIns="0" rtlCol="0" anchor="ctr"/>
          <a:lstStyle/>
          <a:p>
            <a:pPr marL="0" indent="0">
              <a:buNone/>
            </a:pPr>
            <a:r>
              <a:rPr lang="es-CO" sz="850" i="1" noProof="0" dirty="0">
                <a:solidFill>
                  <a:srgbClr val="55636E"/>
                </a:solidFill>
                <a:latin typeface="Calibri" pitchFamily="34" charset="0"/>
                <a:ea typeface="Calibri" pitchFamily="34" charset="-122"/>
                <a:cs typeface="Calibri" pitchFamily="34" charset="-120"/>
              </a:rPr>
              <a:t>Se excluyen del conteo las 3 fallas de recalentamiento de bornera/protección AC (Casa 74, 30 y 24): son fallas de conexión en el tablero AC, no del componente inversor.</a:t>
            </a:r>
            <a:endParaRPr lang="es-CO" sz="85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HALLAZGO CRITICO - ANOMALIA DE MEDICION DE GENERACION</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6 SISTEMAS CON GENERACION NETA NEGATIVA · CASA 48PC SE NORMALIZA</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21</a:t>
            </a:r>
            <a:endParaRPr lang="es-CO" sz="800" noProof="0" dirty="0"/>
          </a:p>
        </p:txBody>
      </p:sp>
      <p:graphicFrame>
        <p:nvGraphicFramePr>
          <p:cNvPr id="22" name="Table 0"/>
          <p:cNvGraphicFramePr>
            <a:graphicFrameLocks noGrp="1"/>
          </p:cNvGraphicFramePr>
          <p:nvPr>
            <p:extLst>
              <p:ext uri="{D42A27DB-BD31-4B8C-83A1-F6EECF244321}">
                <p14:modId xmlns:p14="http://schemas.microsoft.com/office/powerpoint/2010/main" val="801309889"/>
              </p:ext>
            </p:extLst>
          </p:nvPr>
        </p:nvGraphicFramePr>
        <p:xfrm>
          <a:off x="365760" y="1188720"/>
          <a:ext cx="5349240" cy="2206752"/>
        </p:xfrm>
        <a:graphic>
          <a:graphicData uri="http://schemas.openxmlformats.org/drawingml/2006/table">
            <a:tbl>
              <a:tblPr/>
              <a:tblGrid>
                <a:gridCol w="1051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65176">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Casa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Conjunto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Gen. neta (kWh)</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Import. red (kWh)</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Días de datos</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425p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 Primavera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b="1" noProof="0" dirty="0">
                          <a:solidFill>
                            <a:srgbClr val="C0392B"/>
                          </a:solidFill>
                          <a:latin typeface="Calibri" pitchFamily="34" charset="0"/>
                          <a:ea typeface="Calibri" pitchFamily="34" charset="-122"/>
                          <a:cs typeface="Calibri" pitchFamily="34" charset="-120"/>
                        </a:rPr>
                        <a:t>-58,6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607,0</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21</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86p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 Primavera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b="1" noProof="0" dirty="0">
                          <a:solidFill>
                            <a:srgbClr val="C0392B"/>
                          </a:solidFill>
                          <a:latin typeface="Calibri" pitchFamily="34" charset="0"/>
                          <a:ea typeface="Calibri" pitchFamily="34" charset="-122"/>
                          <a:cs typeface="Calibri" pitchFamily="34" charset="-120"/>
                        </a:rPr>
                        <a:t>-48,9</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463,3</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27</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extLst>
                  <a:ext uri="{0D108BD9-81ED-4DB2-BD59-A6C34878D82A}">
                    <a16:rowId xmlns:a16="http://schemas.microsoft.com/office/drawing/2014/main" val="10002"/>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412p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 Primavera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b="1" noProof="0" dirty="0">
                          <a:solidFill>
                            <a:srgbClr val="C0392B"/>
                          </a:solidFill>
                          <a:latin typeface="Calibri" pitchFamily="34" charset="0"/>
                          <a:ea typeface="Calibri" pitchFamily="34" charset="-122"/>
                          <a:cs typeface="Calibri" pitchFamily="34" charset="-120"/>
                        </a:rPr>
                        <a:t>-45,9</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387,8</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19</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415p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 Primavera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b="1" noProof="0" dirty="0">
                          <a:solidFill>
                            <a:srgbClr val="C0392B"/>
                          </a:solidFill>
                          <a:latin typeface="Calibri" pitchFamily="34" charset="0"/>
                          <a:ea typeface="Calibri" pitchFamily="34" charset="-122"/>
                          <a:cs typeface="Calibri" pitchFamily="34" charset="-120"/>
                        </a:rPr>
                        <a:t>-36,9</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352,9</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23</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extLst>
                  <a:ext uri="{0D108BD9-81ED-4DB2-BD59-A6C34878D82A}">
                    <a16:rowId xmlns:a16="http://schemas.microsoft.com/office/drawing/2014/main" val="10004"/>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60p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 Primavera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b="1" noProof="0" dirty="0">
                          <a:solidFill>
                            <a:srgbClr val="C0392B"/>
                          </a:solidFill>
                          <a:latin typeface="Calibri" pitchFamily="34" charset="0"/>
                          <a:ea typeface="Calibri" pitchFamily="34" charset="-122"/>
                          <a:cs typeface="Calibri" pitchFamily="34" charset="-120"/>
                        </a:rPr>
                        <a:t>-24,2</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341,7</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27</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121 CR</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Castellana Real</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b="1" noProof="0" dirty="0">
                          <a:solidFill>
                            <a:srgbClr val="C0392B"/>
                          </a:solidFill>
                          <a:latin typeface="Calibri" pitchFamily="34" charset="0"/>
                          <a:ea typeface="Calibri" pitchFamily="34" charset="-122"/>
                          <a:cs typeface="Calibri" pitchFamily="34" charset="-120"/>
                        </a:rPr>
                        <a:t>-5,5</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32,4</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30</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CE9E8"/>
                    </a:solidFill>
                  </a:tcPr>
                </a:tc>
                <a:extLst>
                  <a:ext uri="{0D108BD9-81ED-4DB2-BD59-A6C34878D82A}">
                    <a16:rowId xmlns:a16="http://schemas.microsoft.com/office/drawing/2014/main" val="10006"/>
                  </a:ext>
                </a:extLst>
              </a:tr>
              <a:tr h="265176">
                <a:tc>
                  <a:txBody>
                    <a:bodyPr/>
                    <a:lstStyle/>
                    <a:p>
                      <a:pPr marL="0" indent="0" algn="l">
                        <a:buNone/>
                      </a:pPr>
                      <a:r>
                        <a:rPr lang="es-CO" sz="850" b="1" noProof="0" dirty="0">
                          <a:solidFill>
                            <a:srgbClr val="333333"/>
                          </a:solidFill>
                          <a:latin typeface="Calibri" pitchFamily="34" charset="0"/>
                          <a:ea typeface="Calibri" pitchFamily="34" charset="-122"/>
                          <a:cs typeface="Calibri" pitchFamily="34" charset="-120"/>
                        </a:rPr>
                        <a:t>Casa 48PC</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Pance Campestre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b="1" noProof="0" dirty="0">
                          <a:solidFill>
                            <a:srgbClr val="1E8449"/>
                          </a:solidFill>
                          <a:latin typeface="Calibri" pitchFamily="34" charset="0"/>
                          <a:ea typeface="Calibri" pitchFamily="34" charset="-122"/>
                          <a:cs typeface="Calibri" pitchFamily="34" charset="-120"/>
                        </a:rPr>
                        <a:t>561,6</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291,8</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noProof="0" dirty="0">
                          <a:solidFill>
                            <a:srgbClr val="333333"/>
                          </a:solidFill>
                          <a:latin typeface="Calibri" pitchFamily="34" charset="0"/>
                          <a:ea typeface="Calibri" pitchFamily="34" charset="-122"/>
                          <a:cs typeface="Calibri" pitchFamily="34" charset="-120"/>
                        </a:rPr>
                        <a:t>30</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6"/>
          <p:cNvSpPr/>
          <p:nvPr/>
        </p:nvSpPr>
        <p:spPr>
          <a:xfrm>
            <a:off x="5943600" y="1188720"/>
            <a:ext cx="2834640" cy="3154680"/>
          </a:xfrm>
          <a:prstGeom prst="rect">
            <a:avLst/>
          </a:prstGeom>
          <a:solidFill>
            <a:srgbClr val="F7F9FC"/>
          </a:solidFill>
          <a:ln w="9525">
            <a:solidFill>
              <a:srgbClr val="E3E7EA"/>
            </a:solidFill>
            <a:prstDash val="solid"/>
          </a:ln>
        </p:spPr>
        <p:txBody>
          <a:bodyPr/>
          <a:lstStyle/>
          <a:p>
            <a:endParaRPr lang="es-CO" noProof="0" dirty="0"/>
          </a:p>
        </p:txBody>
      </p:sp>
      <p:sp>
        <p:nvSpPr>
          <p:cNvPr id="10" name="Text 7"/>
          <p:cNvSpPr/>
          <p:nvPr/>
        </p:nvSpPr>
        <p:spPr>
          <a:xfrm>
            <a:off x="6126480" y="1325880"/>
            <a:ext cx="246888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DIAGNOSTICO</a:t>
            </a:r>
            <a:endParaRPr lang="es-CO" sz="900" noProof="0" dirty="0"/>
          </a:p>
        </p:txBody>
      </p:sp>
      <p:sp>
        <p:nvSpPr>
          <p:cNvPr id="11" name="Text 8"/>
          <p:cNvSpPr/>
          <p:nvPr/>
        </p:nvSpPr>
        <p:spPr>
          <a:xfrm>
            <a:off x="6126480" y="1581912"/>
            <a:ext cx="2468880" cy="731520"/>
          </a:xfrm>
          <a:prstGeom prst="rect">
            <a:avLst/>
          </a:prstGeom>
          <a:noFill/>
          <a:ln/>
        </p:spPr>
        <p:txBody>
          <a:bodyPr wrap="square" lIns="0" tIns="0" rIns="0" bIns="0" rtlCol="0" anchor="ctr"/>
          <a:lstStyle/>
          <a:p>
            <a:pPr marL="0" indent="0">
              <a:buNone/>
            </a:pPr>
            <a:r>
              <a:rPr lang="es-CO" sz="820" noProof="0" dirty="0">
                <a:solidFill>
                  <a:srgbClr val="1A1A2E"/>
                </a:solidFill>
                <a:latin typeface="Calibri" pitchFamily="34" charset="0"/>
                <a:ea typeface="Calibri" pitchFamily="34" charset="-122"/>
                <a:cs typeface="Calibri" pitchFamily="34" charset="-120"/>
              </a:rPr>
              <a:t>En septiembre el medidor solar sigue por debajo de la importación de red en 6 sistemas, casi todos los días con datos. Sus inversores registran 0 a 14 kWh de energía AC en el mes.</a:t>
            </a:r>
            <a:endParaRPr lang="es-CO" sz="820" noProof="0" dirty="0"/>
          </a:p>
        </p:txBody>
      </p:sp>
      <p:sp>
        <p:nvSpPr>
          <p:cNvPr id="12" name="Text 9"/>
          <p:cNvSpPr/>
          <p:nvPr/>
        </p:nvSpPr>
        <p:spPr>
          <a:xfrm>
            <a:off x="6126480" y="2377440"/>
            <a:ext cx="246888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CAUSA RAIZ PROBABLE</a:t>
            </a:r>
            <a:endParaRPr lang="es-CO" sz="900" noProof="0" dirty="0"/>
          </a:p>
        </p:txBody>
      </p:sp>
      <p:sp>
        <p:nvSpPr>
          <p:cNvPr id="13" name="Text 10"/>
          <p:cNvSpPr/>
          <p:nvPr/>
        </p:nvSpPr>
        <p:spPr>
          <a:xfrm>
            <a:off x="6126480" y="2633472"/>
            <a:ext cx="2468880" cy="1600200"/>
          </a:xfrm>
          <a:prstGeom prst="rect">
            <a:avLst/>
          </a:prstGeom>
          <a:noFill/>
          <a:ln/>
        </p:spPr>
        <p:txBody>
          <a:bodyPr wrap="square" lIns="0" tIns="0" rIns="0" bIns="0" rtlCol="0" anchor="ctr"/>
          <a:lstStyle/>
          <a:p>
            <a:pPr marL="342900" indent="-342900">
              <a:spcAft>
                <a:spcPts val="500"/>
              </a:spcAft>
              <a:buSzPct val="100000"/>
              <a:buChar char="•"/>
            </a:pPr>
            <a:r>
              <a:rPr lang="es-CO" sz="780" noProof="0" dirty="0">
                <a:solidFill>
                  <a:srgbClr val="1A1A2E"/>
                </a:solidFill>
                <a:latin typeface="Calibri" pitchFamily="34" charset="0"/>
                <a:ea typeface="Calibri" pitchFamily="34" charset="-122"/>
                <a:cs typeface="Calibri" pitchFamily="34" charset="-120"/>
              </a:rPr>
              <a:t>Los inversores casi no generan: los 5 de Prado Verde marcan 0 kWh (Casa 60p, 13,8 kWh). Verificar strings FV y comisionamiento antes de revisar el TC.</a:t>
            </a:r>
            <a:endParaRPr lang="es-CO" sz="780" noProof="0" dirty="0"/>
          </a:p>
          <a:p>
            <a:pPr marL="342900" indent="-342900">
              <a:spcAft>
                <a:spcPts val="500"/>
              </a:spcAft>
              <a:buSzPct val="100000"/>
              <a:buChar char="•"/>
            </a:pPr>
            <a:r>
              <a:rPr lang="es-CO" sz="780" noProof="0" dirty="0">
                <a:solidFill>
                  <a:srgbClr val="1A1A2E"/>
                </a:solidFill>
                <a:latin typeface="Calibri" pitchFamily="34" charset="0"/>
                <a:ea typeface="Calibri" pitchFamily="34" charset="-122"/>
                <a:cs typeface="Calibri" pitchFamily="34" charset="-120"/>
              </a:rPr>
              <a:t>Casa 121 CR consume 27 kWh/mes y tuvo 3 inversores asociados en septiembre. Casa 48PC tiene balance positivo los 30 días tras el cambio de inversor.</a:t>
            </a:r>
            <a:endParaRPr lang="es-CO" sz="780" noProof="0" dirty="0"/>
          </a:p>
        </p:txBody>
      </p:sp>
      <p:sp>
        <p:nvSpPr>
          <p:cNvPr id="14" name="Text 11"/>
          <p:cNvSpPr/>
          <p:nvPr/>
        </p:nvSpPr>
        <p:spPr>
          <a:xfrm>
            <a:off x="365760" y="4434840"/>
            <a:ext cx="8412480" cy="365760"/>
          </a:xfrm>
          <a:prstGeom prst="rect">
            <a:avLst/>
          </a:prstGeom>
          <a:noFill/>
          <a:ln/>
        </p:spPr>
        <p:txBody>
          <a:bodyPr wrap="square" lIns="0" tIns="0" rIns="0" bIns="0" rtlCol="0" anchor="ctr"/>
          <a:lstStyle/>
          <a:p>
            <a:pPr marL="0" indent="0">
              <a:buNone/>
            </a:pPr>
            <a:r>
              <a:rPr lang="es-CO" sz="820" i="1" noProof="0" dirty="0">
                <a:solidFill>
                  <a:srgbClr val="C0392B"/>
                </a:solidFill>
                <a:latin typeface="Calibri" pitchFamily="34" charset="0"/>
                <a:ea typeface="Calibri" pitchFamily="34" charset="-122"/>
                <a:cs typeface="Calibri" pitchFamily="34" charset="-120"/>
              </a:rPr>
              <a:t>Acción: visita técnica a los 5 sistemas de Prado Verde para verificar arreglo FV y comisionamiento; depurar en Metrum los inversores retirados de Casa 121 CR y Casa 48PC. Casa 48PC puede entrar al reporte de octubre.</a:t>
            </a:r>
            <a:endParaRPr lang="es-CO" sz="82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CASOS CRITICOS Y ANOMALIAS DE MEDICION A VALIDAR</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CIERRE DEL MES</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22</a:t>
            </a:r>
            <a:endParaRPr lang="es-CO" sz="800" noProof="0" dirty="0"/>
          </a:p>
        </p:txBody>
      </p:sp>
      <p:sp>
        <p:nvSpPr>
          <p:cNvPr id="8" name="Text 6"/>
          <p:cNvSpPr/>
          <p:nvPr/>
        </p:nvSpPr>
        <p:spPr>
          <a:xfrm>
            <a:off x="365760" y="1115568"/>
            <a:ext cx="402336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DESEMPEÑO MAS BAJO DEL PERIODO</a:t>
            </a:r>
            <a:endParaRPr lang="es-CO" sz="900" noProof="0" dirty="0"/>
          </a:p>
        </p:txBody>
      </p:sp>
      <p:graphicFrame>
        <p:nvGraphicFramePr>
          <p:cNvPr id="23" name="Table 0"/>
          <p:cNvGraphicFramePr>
            <a:graphicFrameLocks noGrp="1"/>
          </p:cNvGraphicFramePr>
          <p:nvPr>
            <p:extLst>
              <p:ext uri="{D42A27DB-BD31-4B8C-83A1-F6EECF244321}">
                <p14:modId xmlns:p14="http://schemas.microsoft.com/office/powerpoint/2010/main" val="419399736"/>
              </p:ext>
            </p:extLst>
          </p:nvPr>
        </p:nvGraphicFramePr>
        <p:xfrm>
          <a:off x="365760" y="1371600"/>
          <a:ext cx="4023360" cy="1143000"/>
        </p:xfrm>
        <a:graphic>
          <a:graphicData uri="http://schemas.openxmlformats.org/drawingml/2006/table">
            <a:tbl>
              <a:tblPr/>
              <a:tblGrid>
                <a:gridCol w="8229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228600">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Casa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Conjunto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Desemp.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50" b="1" noProof="0" dirty="0">
                          <a:solidFill>
                            <a:srgbClr val="FFFFFF"/>
                          </a:solidFill>
                          <a:latin typeface="Calibri" pitchFamily="34" charset="0"/>
                          <a:ea typeface="Calibri" pitchFamily="34" charset="-122"/>
                          <a:cs typeface="Calibri" pitchFamily="34" charset="-120"/>
                        </a:rPr>
                        <a:t>Causa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2860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 Casa 104</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Reservas Pance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b="1" noProof="0" dirty="0">
                          <a:solidFill>
                            <a:srgbClr val="CA6F1E"/>
                          </a:solidFill>
                          <a:latin typeface="Calibri" pitchFamily="34" charset="0"/>
                          <a:ea typeface="Calibri" pitchFamily="34" charset="-122"/>
                          <a:cs typeface="Calibri" pitchFamily="34" charset="-120"/>
                        </a:rPr>
                        <a:t>67,4%</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Ausencia 24-30 sep (confirmada)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55p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b="1" noProof="0" dirty="0">
                          <a:solidFill>
                            <a:srgbClr val="CA6F1E"/>
                          </a:solidFill>
                          <a:latin typeface="Calibri" pitchFamily="34" charset="0"/>
                          <a:ea typeface="Calibri" pitchFamily="34" charset="-122"/>
                          <a:cs typeface="Calibri" pitchFamily="34" charset="-120"/>
                        </a:rPr>
                        <a:t>67,4%</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Sin falla activa; por verificar</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2860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446p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Prado Verde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50" b="1" noProof="0" dirty="0">
                          <a:solidFill>
                            <a:srgbClr val="CA6F1E"/>
                          </a:solidFill>
                          <a:latin typeface="Calibri" pitchFamily="34" charset="0"/>
                          <a:ea typeface="Calibri" pitchFamily="34" charset="-122"/>
                          <a:cs typeface="Calibri" pitchFamily="34" charset="-120"/>
                        </a:rPr>
                        <a:t>70,1%</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Sin causa identificada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Casa 111</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Reservas Pance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50" b="1" noProof="0" dirty="0">
                          <a:solidFill>
                            <a:srgbClr val="CA6F1E"/>
                          </a:solidFill>
                          <a:latin typeface="Calibri" pitchFamily="34" charset="0"/>
                          <a:ea typeface="Calibri" pitchFamily="34" charset="-122"/>
                          <a:cs typeface="Calibri" pitchFamily="34" charset="-120"/>
                        </a:rPr>
                        <a:t>73,1%</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333333"/>
                          </a:solidFill>
                          <a:latin typeface="Calibri" pitchFamily="34" charset="0"/>
                          <a:ea typeface="Calibri" pitchFamily="34" charset="-122"/>
                          <a:cs typeface="Calibri" pitchFamily="34" charset="-120"/>
                        </a:rPr>
                        <a:t>Batería al 100% los 30 días</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bl>
          </a:graphicData>
        </a:graphic>
      </p:graphicFrame>
      <p:sp>
        <p:nvSpPr>
          <p:cNvPr id="10" name="Text 7"/>
          <p:cNvSpPr/>
          <p:nvPr/>
        </p:nvSpPr>
        <p:spPr>
          <a:xfrm>
            <a:off x="4754880" y="1115568"/>
            <a:ext cx="4023360" cy="228600"/>
          </a:xfrm>
          <a:prstGeom prst="rect">
            <a:avLst/>
          </a:prstGeom>
          <a:noFill/>
          <a:ln/>
        </p:spPr>
        <p:txBody>
          <a:bodyPr wrap="square" lIns="0" tIns="0" rIns="0" bIns="0" rtlCol="0" anchor="ctr"/>
          <a:lstStyle/>
          <a:p>
            <a:pPr marL="0" indent="0">
              <a:buNone/>
            </a:pPr>
            <a:r>
              <a:rPr lang="es-CO" sz="900" b="1" kern="0" spc="100" noProof="0" dirty="0">
                <a:solidFill>
                  <a:srgbClr val="F5A623"/>
                </a:solidFill>
                <a:latin typeface="Calibri" pitchFamily="34" charset="0"/>
                <a:ea typeface="Calibri" pitchFamily="34" charset="-122"/>
                <a:cs typeface="Calibri" pitchFamily="34" charset="-120"/>
              </a:rPr>
              <a:t>ANOMALIAS DE DATOS A VALIDAR</a:t>
            </a:r>
            <a:endParaRPr lang="es-CO" sz="900" noProof="0" dirty="0"/>
          </a:p>
        </p:txBody>
      </p:sp>
      <p:graphicFrame>
        <p:nvGraphicFramePr>
          <p:cNvPr id="45" name="Table 1"/>
          <p:cNvGraphicFramePr>
            <a:graphicFrameLocks noGrp="1"/>
          </p:cNvGraphicFramePr>
          <p:nvPr>
            <p:extLst>
              <p:ext uri="{D42A27DB-BD31-4B8C-83A1-F6EECF244321}">
                <p14:modId xmlns:p14="http://schemas.microsoft.com/office/powerpoint/2010/main" val="3654407080"/>
              </p:ext>
            </p:extLst>
          </p:nvPr>
        </p:nvGraphicFramePr>
        <p:xfrm>
          <a:off x="4754880" y="1371600"/>
          <a:ext cx="4023360" cy="1600200"/>
        </p:xfrm>
        <a:graphic>
          <a:graphicData uri="http://schemas.openxmlformats.org/drawingml/2006/table">
            <a:tbl>
              <a:tblPr/>
              <a:tblGrid>
                <a:gridCol w="12344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228600">
                <a:tc>
                  <a:txBody>
                    <a:bodyPr/>
                    <a:lstStyle/>
                    <a:p>
                      <a:pPr marL="0" indent="0" algn="l">
                        <a:buNone/>
                      </a:pPr>
                      <a:r>
                        <a:rPr lang="es-CO" sz="850" b="1" noProof="0" dirty="0">
                          <a:solidFill>
                            <a:srgbClr val="FFFFFF"/>
                          </a:solidFill>
                          <a:latin typeface="Calibri" pitchFamily="34" charset="0"/>
                          <a:ea typeface="Calibri" pitchFamily="34" charset="-122"/>
                          <a:cs typeface="Calibri" pitchFamily="34" charset="-120"/>
                        </a:rPr>
                        <a:t>Caso</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l">
                        <a:buNone/>
                      </a:pPr>
                      <a:r>
                        <a:rPr lang="es-CO" sz="850" b="1" noProof="0" dirty="0">
                          <a:solidFill>
                            <a:srgbClr val="FFFFFF"/>
                          </a:solidFill>
                          <a:latin typeface="Calibri" pitchFamily="34" charset="0"/>
                          <a:ea typeface="Calibri" pitchFamily="34" charset="-122"/>
                          <a:cs typeface="Calibri" pitchFamily="34" charset="-120"/>
                        </a:rPr>
                        <a:t>Observación</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228600">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Exportación</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Fuente 1.ª quincena no está en Metrum</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Semana 2</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Archivo 7.534 vs. 6.584 kWh</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28600">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6 sistemas</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Gen. negativa; inversores ~0 kWh</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Casa 18PR</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Sin cierres del 19 al 26 sep</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228600">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Casa 99</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14 min sin solar vs. 2 min sin red</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Líneas base</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50" noProof="0" dirty="0">
                          <a:solidFill>
                            <a:srgbClr val="000000"/>
                          </a:solidFill>
                          <a:latin typeface="Calibri" pitchFamily="34" charset="0"/>
                          <a:ea typeface="Calibri" pitchFamily="34" charset="-122"/>
                          <a:cs typeface="Calibri" pitchFamily="34" charset="-120"/>
                        </a:rPr>
                        <a:t>Sin línea base por vivienda</a:t>
                      </a:r>
                      <a:endParaRPr lang="es-CO" sz="85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
        <p:nvSpPr>
          <p:cNvPr id="12" name="Shape 8"/>
          <p:cNvSpPr/>
          <p:nvPr/>
        </p:nvSpPr>
        <p:spPr>
          <a:xfrm>
            <a:off x="365760" y="3172968"/>
            <a:ext cx="8412480" cy="1325880"/>
          </a:xfrm>
          <a:prstGeom prst="rect">
            <a:avLst/>
          </a:prstGeom>
          <a:solidFill>
            <a:srgbClr val="F7F9FC"/>
          </a:solidFill>
          <a:ln w="9525">
            <a:solidFill>
              <a:srgbClr val="E3E7EA"/>
            </a:solidFill>
            <a:prstDash val="solid"/>
          </a:ln>
        </p:spPr>
        <p:txBody>
          <a:bodyPr/>
          <a:lstStyle/>
          <a:p>
            <a:endParaRPr lang="es-CO" noProof="0" dirty="0"/>
          </a:p>
        </p:txBody>
      </p:sp>
      <p:sp>
        <p:nvSpPr>
          <p:cNvPr id="13" name="Text 9"/>
          <p:cNvSpPr/>
          <p:nvPr/>
        </p:nvSpPr>
        <p:spPr>
          <a:xfrm>
            <a:off x="594360" y="3273552"/>
            <a:ext cx="7955280" cy="228600"/>
          </a:xfrm>
          <a:prstGeom prst="rect">
            <a:avLst/>
          </a:prstGeom>
          <a:noFill/>
          <a:ln/>
        </p:spPr>
        <p:txBody>
          <a:bodyPr wrap="square" lIns="0" tIns="0" rIns="0" bIns="0" rtlCol="0" anchor="ctr"/>
          <a:lstStyle/>
          <a:p>
            <a:pPr marL="0" indent="0">
              <a:buNone/>
            </a:pPr>
            <a:r>
              <a:rPr lang="es-CO" sz="950" b="1" kern="0" spc="100" noProof="0" dirty="0">
                <a:solidFill>
                  <a:srgbClr val="F5A623"/>
                </a:solidFill>
                <a:latin typeface="Calibri" pitchFamily="34" charset="0"/>
                <a:ea typeface="Calibri" pitchFamily="34" charset="-122"/>
                <a:cs typeface="Calibri" pitchFamily="34" charset="-120"/>
              </a:rPr>
              <a:t>RECOMENDACION TECNICA</a:t>
            </a:r>
            <a:endParaRPr lang="es-CO" sz="950" noProof="0" dirty="0"/>
          </a:p>
        </p:txBody>
      </p:sp>
      <p:sp>
        <p:nvSpPr>
          <p:cNvPr id="14" name="Text 10"/>
          <p:cNvSpPr/>
          <p:nvPr/>
        </p:nvSpPr>
        <p:spPr>
          <a:xfrm>
            <a:off x="594360" y="3520440"/>
            <a:ext cx="7955280" cy="914400"/>
          </a:xfrm>
          <a:prstGeom prst="rect">
            <a:avLst/>
          </a:prstGeom>
          <a:noFill/>
          <a:ln/>
        </p:spPr>
        <p:txBody>
          <a:bodyPr wrap="square" lIns="0" tIns="0" rIns="0" bIns="0" rtlCol="0" anchor="ctr"/>
          <a:lstStyle/>
          <a:p>
            <a:pPr marL="342900" indent="-342900">
              <a:spcAft>
                <a:spcPts val="400"/>
              </a:spcAft>
              <a:buSzPct val="100000"/>
              <a:buChar char="•"/>
            </a:pPr>
            <a:r>
              <a:rPr lang="es-CO" sz="800" noProof="0" dirty="0">
                <a:solidFill>
                  <a:srgbClr val="1A1A2E"/>
                </a:solidFill>
                <a:latin typeface="Calibri" pitchFamily="34" charset="0"/>
                <a:ea typeface="Calibri" pitchFamily="34" charset="-122"/>
                <a:cs typeface="Calibri" pitchFamily="34" charset="-120"/>
              </a:rPr>
              <a:t>Usar el balance de medidores de Metrum como fuente única del reporte: reproduce exactamente la generación y la demanda de la 1.ª quincena y elimina las inconsistencias del archivo de seguimiento (columna Desempeño, Semana 2, exportación).</a:t>
            </a:r>
            <a:endParaRPr lang="es-CO" sz="800" noProof="0" dirty="0"/>
          </a:p>
          <a:p>
            <a:pPr marL="342900" indent="-342900">
              <a:spcAft>
                <a:spcPts val="400"/>
              </a:spcAft>
              <a:buSzPct val="100000"/>
              <a:buChar char="•"/>
            </a:pPr>
            <a:r>
              <a:rPr lang="es-CO" sz="800" noProof="0" dirty="0">
                <a:solidFill>
                  <a:srgbClr val="1A1A2E"/>
                </a:solidFill>
                <a:latin typeface="Calibri" pitchFamily="34" charset="0"/>
                <a:ea typeface="Calibri" pitchFamily="34" charset="-122"/>
                <a:cs typeface="Calibri" pitchFamily="34" charset="-120"/>
              </a:rPr>
              <a:t>Casa 104 no requiere visita: la familia no está en la vivienda desde el 24 sep y la generación cayó con el consumo (recorte por cero inyección). Aplicar la misma lectura antes de despachar por bajo desempeño.</a:t>
            </a:r>
            <a:endParaRPr lang="es-CO" sz="800" noProof="0" dirty="0"/>
          </a:p>
          <a:p>
            <a:pPr marL="342900" indent="-342900">
              <a:spcAft>
                <a:spcPts val="400"/>
              </a:spcAft>
              <a:buSzPct val="100000"/>
              <a:buChar char="•"/>
            </a:pPr>
            <a:r>
              <a:rPr lang="es-CO" sz="800" noProof="0" dirty="0">
                <a:solidFill>
                  <a:srgbClr val="1A1A2E"/>
                </a:solidFill>
                <a:latin typeface="Calibri" pitchFamily="34" charset="0"/>
                <a:ea typeface="Calibri" pitchFamily="34" charset="-122"/>
                <a:cs typeface="Calibri" pitchFamily="34" charset="-120"/>
              </a:rPr>
              <a:t>Inspeccionar los 5 sistemas de Prado Verde con generación negativa y solicitar la línea base semanal por vivienda para retomar la alerta de demanda vs. diseño.</a:t>
            </a:r>
            <a:endParaRPr lang="es-CO" sz="8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s-CO" noProof="0" dirty="0"/>
          </a:p>
        </p:txBody>
      </p:sp>
      <p:sp>
        <p:nvSpPr>
          <p:cNvPr id="3" name="Shape 1"/>
          <p:cNvSpPr/>
          <p:nvPr/>
        </p:nvSpPr>
        <p:spPr>
          <a:xfrm>
            <a:off x="0" y="777240"/>
            <a:ext cx="9144000" cy="36576"/>
          </a:xfrm>
          <a:prstGeom prst="rect">
            <a:avLst/>
          </a:prstGeom>
          <a:solidFill>
            <a:srgbClr val="F5A623"/>
          </a:solidFill>
          <a:ln w="12700">
            <a:solidFill>
              <a:srgbClr val="F5A623"/>
            </a:solidFill>
            <a:prstDash val="solid"/>
          </a:ln>
        </p:spPr>
        <p:txBody>
          <a:bodyPr/>
          <a:lstStyle/>
          <a:p>
            <a:endParaRPr lang="es-CO" noProof="0" dirty="0"/>
          </a:p>
        </p:txBody>
      </p:sp>
      <p:sp>
        <p:nvSpPr>
          <p:cNvPr id="4" name="Text 2"/>
          <p:cNvSpPr/>
          <p:nvPr/>
        </p:nvSpPr>
        <p:spPr>
          <a:xfrm>
            <a:off x="365760" y="0"/>
            <a:ext cx="8412480" cy="777240"/>
          </a:xfrm>
          <a:prstGeom prst="rect">
            <a:avLst/>
          </a:prstGeom>
          <a:noFill/>
          <a:ln/>
        </p:spPr>
        <p:txBody>
          <a:bodyPr wrap="square" lIns="0" tIns="0" rIns="0" bIns="0" rtlCol="0" anchor="ctr"/>
          <a:lstStyle/>
          <a:p>
            <a:pPr marL="0" indent="0">
              <a:buNone/>
            </a:pPr>
            <a:r>
              <a:rPr lang="es-CO" sz="1900" b="1" noProof="0" dirty="0">
                <a:solidFill>
                  <a:srgbClr val="FFFFFF"/>
                </a:solidFill>
                <a:latin typeface="Calibri" pitchFamily="34" charset="0"/>
                <a:ea typeface="Calibri" pitchFamily="34" charset="-122"/>
                <a:cs typeface="Calibri" pitchFamily="34" charset="-120"/>
              </a:rPr>
              <a:t>CASOS ACTIVOS Y SEGUIMIENTO</a:t>
            </a:r>
            <a:endParaRPr lang="es-CO" sz="1900" noProof="0" dirty="0"/>
          </a:p>
        </p:txBody>
      </p:sp>
      <p:sp>
        <p:nvSpPr>
          <p:cNvPr id="5" name="Text 3"/>
          <p:cNvSpPr/>
          <p:nvPr/>
        </p:nvSpPr>
        <p:spPr>
          <a:xfrm>
            <a:off x="365760" y="868680"/>
            <a:ext cx="8412480" cy="237744"/>
          </a:xfrm>
          <a:prstGeom prst="rect">
            <a:avLst/>
          </a:prstGeom>
          <a:noFill/>
          <a:ln/>
        </p:spPr>
        <p:txBody>
          <a:bodyPr wrap="square" lIns="0" tIns="0" rIns="0" bIns="0" rtlCol="0" anchor="ctr"/>
          <a:lstStyle/>
          <a:p>
            <a:pPr marL="0" indent="0">
              <a:buNone/>
            </a:pPr>
            <a:r>
              <a:rPr lang="es-CO" sz="1050" b="1" kern="0" spc="100" noProof="0" dirty="0">
                <a:solidFill>
                  <a:srgbClr val="F5A623"/>
                </a:solidFill>
                <a:latin typeface="Calibri" pitchFamily="34" charset="0"/>
                <a:ea typeface="Calibri" pitchFamily="34" charset="-122"/>
                <a:cs typeface="Calibri" pitchFamily="34" charset="-120"/>
              </a:rPr>
              <a:t>6 CASOS ABIERTOS · 01 - 30 SEP 2026</a:t>
            </a:r>
            <a:endParaRPr lang="es-CO" sz="1050" noProof="0" dirty="0"/>
          </a:p>
        </p:txBody>
      </p:sp>
      <p:sp>
        <p:nvSpPr>
          <p:cNvPr id="6" name="Text 4"/>
          <p:cNvSpPr/>
          <p:nvPr/>
        </p:nvSpPr>
        <p:spPr>
          <a:xfrm>
            <a:off x="365760" y="4846320"/>
            <a:ext cx="8412480" cy="228600"/>
          </a:xfrm>
          <a:prstGeom prst="rect">
            <a:avLst/>
          </a:prstGeom>
          <a:noFill/>
          <a:ln/>
        </p:spPr>
        <p:txBody>
          <a:bodyPr wrap="square" lIns="0" tIns="0" rIns="0" bIns="0" rtlCol="0" anchor="ctr"/>
          <a:lstStyle/>
          <a:p>
            <a:pPr marL="0" indent="0">
              <a:buNone/>
            </a:pPr>
            <a:r>
              <a:rPr lang="es-CO" sz="800" noProof="0" dirty="0">
                <a:solidFill>
                  <a:srgbClr val="7F8C8D"/>
                </a:solidFill>
                <a:latin typeface="Calibri" pitchFamily="34" charset="0"/>
                <a:ea typeface="Calibri" pitchFamily="34" charset="-122"/>
                <a:cs typeface="Calibri" pitchFamily="34" charset="-120"/>
              </a:rPr>
              <a:t>Promigas S.A. E.S.P.  ·  Operación y Mantenimiento Solar</a:t>
            </a:r>
            <a:endParaRPr lang="es-CO" sz="800" noProof="0" dirty="0"/>
          </a:p>
        </p:txBody>
      </p:sp>
      <p:sp>
        <p:nvSpPr>
          <p:cNvPr id="7" name="Text 5"/>
          <p:cNvSpPr/>
          <p:nvPr/>
        </p:nvSpPr>
        <p:spPr>
          <a:xfrm>
            <a:off x="8595360" y="4846320"/>
            <a:ext cx="274320" cy="228600"/>
          </a:xfrm>
          <a:prstGeom prst="rect">
            <a:avLst/>
          </a:prstGeom>
          <a:noFill/>
          <a:ln/>
        </p:spPr>
        <p:txBody>
          <a:bodyPr wrap="square" lIns="0" tIns="0" rIns="0" bIns="0" rtlCol="0" anchor="ctr"/>
          <a:lstStyle/>
          <a:p>
            <a:pPr marL="0" indent="0" algn="r">
              <a:buNone/>
            </a:pPr>
            <a:r>
              <a:rPr lang="es-CO" sz="800" noProof="0" dirty="0">
                <a:solidFill>
                  <a:srgbClr val="7F8C8D"/>
                </a:solidFill>
                <a:latin typeface="Calibri" pitchFamily="34" charset="0"/>
                <a:ea typeface="Calibri" pitchFamily="34" charset="-122"/>
                <a:cs typeface="Calibri" pitchFamily="34" charset="-120"/>
              </a:rPr>
              <a:t>23</a:t>
            </a:r>
            <a:endParaRPr lang="es-CO" sz="800" noProof="0" dirty="0"/>
          </a:p>
        </p:txBody>
      </p:sp>
      <p:graphicFrame>
        <p:nvGraphicFramePr>
          <p:cNvPr id="24" name="Table 0"/>
          <p:cNvGraphicFramePr>
            <a:graphicFrameLocks noGrp="1"/>
          </p:cNvGraphicFramePr>
          <p:nvPr>
            <p:extLst>
              <p:ext uri="{D42A27DB-BD31-4B8C-83A1-F6EECF244321}">
                <p14:modId xmlns:p14="http://schemas.microsoft.com/office/powerpoint/2010/main" val="2065592183"/>
              </p:ext>
            </p:extLst>
          </p:nvPr>
        </p:nvGraphicFramePr>
        <p:xfrm>
          <a:off x="365760" y="1170432"/>
          <a:ext cx="8412480" cy="2816352"/>
        </p:xfrm>
        <a:graphic>
          <a:graphicData uri="http://schemas.openxmlformats.org/drawingml/2006/table">
            <a:tbl>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Prioridad</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Casa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Problema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Causa raíz / detalle</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Estado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ALTO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0392B"/>
                    </a:solidFill>
                  </a:tcPr>
                </a:tc>
                <a:tc>
                  <a:txBody>
                    <a:bodyPr/>
                    <a:lstStyle/>
                    <a:p>
                      <a:pPr marL="0" indent="0" algn="l">
                        <a:buNone/>
                      </a:pPr>
                      <a:r>
                        <a:rPr lang="es-CO" sz="800" b="1" noProof="0" dirty="0">
                          <a:solidFill>
                            <a:srgbClr val="333333"/>
                          </a:solidFill>
                          <a:latin typeface="Calibri" pitchFamily="34" charset="0"/>
                          <a:ea typeface="Calibri" pitchFamily="34" charset="-122"/>
                          <a:cs typeface="Calibri" pitchFamily="34" charset="-120"/>
                        </a:rPr>
                        <a:t>Casa 12</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Respaldo 37,8% en cortes de ~2 h</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Entró con SOC 15% a los cortes del 20 y 22 sep: ajustar la reserva nocturna de SOC</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Nuevo hallazgo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ALTO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0392B"/>
                    </a:solidFill>
                  </a:tcPr>
                </a:tc>
                <a:tc>
                  <a:txBody>
                    <a:bodyPr/>
                    <a:lstStyle/>
                    <a:p>
                      <a:pPr marL="0" indent="0" algn="l">
                        <a:buNone/>
                      </a:pPr>
                      <a:r>
                        <a:rPr lang="es-CO" sz="800" b="1" noProof="0" dirty="0">
                          <a:solidFill>
                            <a:srgbClr val="333333"/>
                          </a:solidFill>
                          <a:latin typeface="Calibri" pitchFamily="34" charset="0"/>
                          <a:ea typeface="Calibri" pitchFamily="34" charset="-122"/>
                          <a:cs typeface="Calibri" pitchFamily="34" charset="-120"/>
                        </a:rPr>
                        <a:t>6 sistemas</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Generación neta negativa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Inversores con ~0 kWh: 5 en Prado Verde y Casa 121 CR. Casa 48PC se normaliza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Inspección prioritaria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MEDIO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A6F1E"/>
                    </a:solidFill>
                  </a:tcPr>
                </a:tc>
                <a:tc>
                  <a:txBody>
                    <a:bodyPr/>
                    <a:lstStyle/>
                    <a:p>
                      <a:pPr marL="0" indent="0" algn="l">
                        <a:buNone/>
                      </a:pPr>
                      <a:r>
                        <a:rPr lang="es-CO" sz="800" b="1" noProof="0" dirty="0">
                          <a:solidFill>
                            <a:srgbClr val="333333"/>
                          </a:solidFill>
                          <a:latin typeface="Calibri" pitchFamily="34" charset="0"/>
                          <a:ea typeface="Calibri" pitchFamily="34" charset="-122"/>
                          <a:cs typeface="Calibri" pitchFamily="34" charset="-120"/>
                        </a:rPr>
                        <a:t>🧳 Casa 104</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Generación -34% en la 2.ª quincena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Ausencia del hogar confirmada: la generación sigue al consumo; no es falla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Cerrado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MEDIO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A6F1E"/>
                    </a:solidFill>
                  </a:tcPr>
                </a:tc>
                <a:tc>
                  <a:txBody>
                    <a:bodyPr/>
                    <a:lstStyle/>
                    <a:p>
                      <a:pPr marL="0" indent="0" algn="l">
                        <a:buNone/>
                      </a:pPr>
                      <a:r>
                        <a:rPr lang="es-CO" sz="800" b="1" noProof="0" dirty="0">
                          <a:solidFill>
                            <a:srgbClr val="333333"/>
                          </a:solidFill>
                          <a:latin typeface="Calibri" pitchFamily="34" charset="0"/>
                          <a:ea typeface="Calibri" pitchFamily="34" charset="-122"/>
                          <a:cs typeface="Calibri" pitchFamily="34" charset="-120"/>
                        </a:rPr>
                        <a:t>Casa 78T</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0% de respaldo en microcortes</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La transferencia del inversor (~70 s) es más lenta que los cortes de 5-26 s</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En seguimiento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MEDIO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A6F1E"/>
                    </a:solidFill>
                  </a:tcPr>
                </a:tc>
                <a:tc>
                  <a:txBody>
                    <a:bodyPr/>
                    <a:lstStyle/>
                    <a:p>
                      <a:pPr marL="0" indent="0" algn="l">
                        <a:buNone/>
                      </a:pPr>
                      <a:r>
                        <a:rPr lang="es-CO" sz="800" b="1" noProof="0" dirty="0">
                          <a:solidFill>
                            <a:srgbClr val="333333"/>
                          </a:solidFill>
                          <a:latin typeface="Calibri" pitchFamily="34" charset="0"/>
                          <a:ea typeface="Calibri" pitchFamily="34" charset="-122"/>
                          <a:cs typeface="Calibri" pitchFamily="34" charset="-120"/>
                        </a:rPr>
                        <a:t>Casa 23 / 35</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Consumo nocturno alto (600 y 426 kWh)</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Recalibrar línea base de diseño; Casa 35 sube 40% en la 2.ª quincena</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En seguimiento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es-CO" sz="800" b="1" noProof="0" dirty="0">
                          <a:solidFill>
                            <a:srgbClr val="FFFFFF"/>
                          </a:solidFill>
                          <a:latin typeface="Calibri" pitchFamily="34" charset="0"/>
                          <a:ea typeface="Calibri" pitchFamily="34" charset="-122"/>
                          <a:cs typeface="Calibri" pitchFamily="34" charset="-120"/>
                        </a:rPr>
                        <a:t>MEDIO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CA6F1E"/>
                    </a:solidFill>
                  </a:tcPr>
                </a:tc>
                <a:tc>
                  <a:txBody>
                    <a:bodyPr/>
                    <a:lstStyle/>
                    <a:p>
                      <a:pPr marL="0" indent="0" algn="l">
                        <a:buNone/>
                      </a:pPr>
                      <a:r>
                        <a:rPr lang="es-CO" sz="800" b="1" noProof="0" dirty="0">
                          <a:solidFill>
                            <a:srgbClr val="333333"/>
                          </a:solidFill>
                          <a:latin typeface="Calibri" pitchFamily="34" charset="0"/>
                          <a:ea typeface="Calibri" pitchFamily="34" charset="-122"/>
                          <a:cs typeface="Calibri" pitchFamily="34" charset="-120"/>
                        </a:rPr>
                        <a:t>Casa 111 / 74 / 70 / 18PR</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Batería al 100% entre 28 y 30 días del mes</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l">
                        <a:buNone/>
                      </a:pPr>
                      <a:r>
                        <a:rPr lang="es-CO" sz="800" noProof="0" dirty="0">
                          <a:solidFill>
                            <a:srgbClr val="333333"/>
                          </a:solidFill>
                          <a:latin typeface="Calibri" pitchFamily="34" charset="0"/>
                          <a:ea typeface="Calibri" pitchFamily="34" charset="-122"/>
                          <a:cs typeface="Calibri" pitchFamily="34" charset="-120"/>
                        </a:rPr>
                        <a:t>Saturación antes de las 12:30 con cero inyección: curtailment toda la tarde</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tc>
                  <a:txBody>
                    <a:bodyPr/>
                    <a:lstStyle/>
                    <a:p>
                      <a:pPr marL="0" indent="0" algn="ctr">
                        <a:buNone/>
                      </a:pPr>
                      <a:r>
                        <a:rPr lang="es-CO" sz="800" noProof="0" dirty="0">
                          <a:solidFill>
                            <a:srgbClr val="333333"/>
                          </a:solidFill>
                          <a:latin typeface="Calibri" pitchFamily="34" charset="0"/>
                          <a:ea typeface="Calibri" pitchFamily="34" charset="-122"/>
                          <a:cs typeface="Calibri" pitchFamily="34" charset="-120"/>
                        </a:rPr>
                        <a:t>Revisión en campo</a:t>
                      </a:r>
                      <a:endParaRPr lang="es-CO" sz="800" noProof="0" dirty="0">
                        <a:latin typeface="Calibri" charset="0"/>
                        <a:ea typeface="Calibri" charset="0"/>
                        <a:cs typeface="Calibri" charset="0"/>
                      </a:endParaRPr>
                    </a:p>
                  </a:txBody>
                  <a:tcPr anchor="ctr">
                    <a:lnL w="6350" cap="flat" cmpd="sng" algn="ctr">
                      <a:solidFill>
                        <a:srgbClr val="E3E7EA"/>
                      </a:solidFill>
                      <a:prstDash val="solid"/>
                      <a:round/>
                      <a:headEnd type="none" w="med" len="med"/>
                      <a:tailEnd type="none" w="med" len="med"/>
                    </a:lnL>
                    <a:lnR w="6350" cap="flat" cmpd="sng" algn="ctr">
                      <a:solidFill>
                        <a:srgbClr val="E3E7EA"/>
                      </a:solidFill>
                      <a:prstDash val="solid"/>
                      <a:round/>
                      <a:headEnd type="none" w="med" len="med"/>
                      <a:tailEnd type="none" w="med" len="med"/>
                    </a:lnR>
                    <a:lnT w="6350" cap="flat" cmpd="sng" algn="ctr">
                      <a:solidFill>
                        <a:srgbClr val="E3E7EA"/>
                      </a:solidFill>
                      <a:prstDash val="solid"/>
                      <a:round/>
                      <a:headEnd type="none" w="med" len="med"/>
                      <a:tailEnd type="none" w="med" len="med"/>
                    </a:lnT>
                    <a:lnB w="6350" cap="flat" cmpd="sng" algn="ctr">
                      <a:solidFill>
                        <a:srgbClr val="E3E7EA"/>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
        <p:nvSpPr>
          <p:cNvPr id="9" name="Text 6"/>
          <p:cNvSpPr/>
          <p:nvPr/>
        </p:nvSpPr>
        <p:spPr>
          <a:xfrm>
            <a:off x="365760" y="4434840"/>
            <a:ext cx="8412480" cy="320040"/>
          </a:xfrm>
          <a:prstGeom prst="rect">
            <a:avLst/>
          </a:prstGeom>
          <a:noFill/>
          <a:ln/>
        </p:spPr>
        <p:txBody>
          <a:bodyPr wrap="square" lIns="0" tIns="0" rIns="0" bIns="0" rtlCol="0" anchor="ctr"/>
          <a:lstStyle/>
          <a:p>
            <a:pPr marL="0" indent="0">
              <a:buNone/>
            </a:pPr>
            <a:r>
              <a:rPr lang="es-CO" sz="850" i="1" noProof="0" dirty="0">
                <a:solidFill>
                  <a:srgbClr val="7F8C8D"/>
                </a:solidFill>
                <a:latin typeface="Calibri" pitchFamily="34" charset="0"/>
                <a:ea typeface="Calibri" pitchFamily="34" charset="-122"/>
                <a:cs typeface="Calibri" pitchFamily="34" charset="-120"/>
              </a:rPr>
              <a:t>Cambios del mes: Casa 48PC recupera balance positivo, Casa 78T ya reporta SOC, Casa 99 deja de excluirse del respaldo y el KPI de rendimiento se recalcula desde Metrum (sin la columna Desempeño desalineada).</a:t>
            </a:r>
            <a:endParaRPr lang="es-CO" sz="85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lIns="0" tIns="0" rIns="0" bIns="0" rtlCol="0" anchor="ctr"/>
          <a:lstStyle/>
          <a:p>
            <a:pPr marL="0" indent="0">
              <a:buNone/>
            </a:pPr>
            <a:r>
              <a:rPr lang="es-CO" sz="2400" b="1" noProof="0" dirty="0">
                <a:solidFill>
                  <a:srgbClr val="FFFFFF"/>
                </a:solidFill>
                <a:latin typeface="Calibri" pitchFamily="34" charset="0"/>
                <a:ea typeface="Calibri" pitchFamily="34" charset="-122"/>
                <a:cs typeface="Calibri" pitchFamily="34" charset="-120"/>
              </a:rPr>
              <a:t>CONCLUSIONES Y PROXIMOS PASOS</a:t>
            </a:r>
            <a:endParaRPr lang="es-CO" sz="2400" noProof="0" dirty="0"/>
          </a:p>
        </p:txBody>
      </p:sp>
      <p:sp>
        <p:nvSpPr>
          <p:cNvPr id="3" name="Text 1"/>
          <p:cNvSpPr/>
          <p:nvPr/>
        </p:nvSpPr>
        <p:spPr>
          <a:xfrm>
            <a:off x="457200" y="896112"/>
            <a:ext cx="8229600" cy="274320"/>
          </a:xfrm>
          <a:prstGeom prst="rect">
            <a:avLst/>
          </a:prstGeom>
          <a:noFill/>
          <a:ln/>
        </p:spPr>
        <p:txBody>
          <a:bodyPr wrap="square" lIns="0" tIns="0" rIns="0" bIns="0" rtlCol="0" anchor="ctr"/>
          <a:lstStyle/>
          <a:p>
            <a:pPr marL="0" indent="0">
              <a:buNone/>
            </a:pPr>
            <a:r>
              <a:rPr lang="es-CO" sz="1200" noProof="0" dirty="0">
                <a:solidFill>
                  <a:srgbClr val="F5A623"/>
                </a:solidFill>
                <a:latin typeface="Calibri" pitchFamily="34" charset="0"/>
                <a:ea typeface="Calibri" pitchFamily="34" charset="-122"/>
                <a:cs typeface="Calibri" pitchFamily="34" charset="-120"/>
              </a:rPr>
              <a:t>Plan de acción - mes de septiembre 2026 · 39 viviendas · 7 conjuntos</a:t>
            </a:r>
            <a:endParaRPr lang="es-CO" sz="1200" noProof="0" dirty="0"/>
          </a:p>
        </p:txBody>
      </p:sp>
      <p:sp>
        <p:nvSpPr>
          <p:cNvPr id="4" name="Shape 2"/>
          <p:cNvSpPr/>
          <p:nvPr/>
        </p:nvSpPr>
        <p:spPr>
          <a:xfrm>
            <a:off x="457200" y="1371600"/>
            <a:ext cx="3931920" cy="1481328"/>
          </a:xfrm>
          <a:prstGeom prst="rect">
            <a:avLst/>
          </a:prstGeom>
          <a:solidFill>
            <a:srgbClr val="24457E"/>
          </a:solidFill>
          <a:ln w="12700">
            <a:solidFill>
              <a:srgbClr val="24457E"/>
            </a:solidFill>
            <a:prstDash val="solid"/>
          </a:ln>
        </p:spPr>
        <p:txBody>
          <a:bodyPr/>
          <a:lstStyle/>
          <a:p>
            <a:endParaRPr lang="es-CO" noProof="0" dirty="0"/>
          </a:p>
        </p:txBody>
      </p:sp>
      <p:sp>
        <p:nvSpPr>
          <p:cNvPr id="5" name="Text 3"/>
          <p:cNvSpPr/>
          <p:nvPr/>
        </p:nvSpPr>
        <p:spPr>
          <a:xfrm>
            <a:off x="685800" y="1508760"/>
            <a:ext cx="3474720" cy="274320"/>
          </a:xfrm>
          <a:prstGeom prst="rect">
            <a:avLst/>
          </a:prstGeom>
          <a:noFill/>
          <a:ln/>
        </p:spPr>
        <p:txBody>
          <a:bodyPr wrap="square" lIns="0" tIns="0" rIns="0" bIns="0" rtlCol="0" anchor="ctr"/>
          <a:lstStyle/>
          <a:p>
            <a:pPr marL="0" indent="0">
              <a:buNone/>
            </a:pPr>
            <a:r>
              <a:rPr lang="es-CO" sz="1150" b="1" noProof="0" dirty="0">
                <a:solidFill>
                  <a:srgbClr val="F5A623"/>
                </a:solidFill>
                <a:latin typeface="Calibri" pitchFamily="34" charset="0"/>
                <a:ea typeface="Calibri" pitchFamily="34" charset="-122"/>
                <a:cs typeface="Calibri" pitchFamily="34" charset="-120"/>
              </a:rPr>
              <a:t>GENERACION Y DESEMPEÑO</a:t>
            </a:r>
            <a:endParaRPr lang="es-CO" sz="1150" noProof="0" dirty="0"/>
          </a:p>
        </p:txBody>
      </p:sp>
      <p:sp>
        <p:nvSpPr>
          <p:cNvPr id="6" name="Text 4"/>
          <p:cNvSpPr/>
          <p:nvPr/>
        </p:nvSpPr>
        <p:spPr>
          <a:xfrm>
            <a:off x="685800" y="1828800"/>
            <a:ext cx="3474720" cy="932688"/>
          </a:xfrm>
          <a:prstGeom prst="rect">
            <a:avLst/>
          </a:prstGeom>
          <a:noFill/>
          <a:ln/>
        </p:spPr>
        <p:txBody>
          <a:bodyPr wrap="square" lIns="0" tIns="0" rIns="0" bIns="0" rtlCol="0" anchor="ctr"/>
          <a:lstStyle/>
          <a:p>
            <a:pPr marL="0" indent="0">
              <a:buNone/>
            </a:pPr>
            <a:r>
              <a:rPr lang="es-CO" sz="840" noProof="0" dirty="0">
                <a:solidFill>
                  <a:srgbClr val="FFFFFF"/>
                </a:solidFill>
                <a:latin typeface="Calibri" pitchFamily="34" charset="0"/>
                <a:ea typeface="Calibri" pitchFamily="34" charset="-122"/>
                <a:cs typeface="Calibri" pitchFamily="34" charset="-120"/>
              </a:rPr>
              <a:t>Rendimiento de 88,4% y ninguna vivienda en zona crítica. La 2.ª quincena generó 6,2% menos que la 1.ª; la caída de Casa 104 (-34%) es ausencia del hogar, no falla. Terranova lidera con 97,2% del yield de diseño.</a:t>
            </a:r>
            <a:endParaRPr lang="es-CO" sz="840" noProof="0" dirty="0"/>
          </a:p>
        </p:txBody>
      </p:sp>
      <p:sp>
        <p:nvSpPr>
          <p:cNvPr id="7" name="Shape 5"/>
          <p:cNvSpPr/>
          <p:nvPr/>
        </p:nvSpPr>
        <p:spPr>
          <a:xfrm>
            <a:off x="4754880" y="1371600"/>
            <a:ext cx="3931920" cy="1481328"/>
          </a:xfrm>
          <a:prstGeom prst="rect">
            <a:avLst/>
          </a:prstGeom>
          <a:solidFill>
            <a:srgbClr val="24457E"/>
          </a:solidFill>
          <a:ln w="12700">
            <a:solidFill>
              <a:srgbClr val="24457E"/>
            </a:solidFill>
            <a:prstDash val="solid"/>
          </a:ln>
        </p:spPr>
        <p:txBody>
          <a:bodyPr/>
          <a:lstStyle/>
          <a:p>
            <a:endParaRPr lang="es-CO" noProof="0" dirty="0"/>
          </a:p>
        </p:txBody>
      </p:sp>
      <p:sp>
        <p:nvSpPr>
          <p:cNvPr id="8" name="Text 6"/>
          <p:cNvSpPr/>
          <p:nvPr/>
        </p:nvSpPr>
        <p:spPr>
          <a:xfrm>
            <a:off x="4983480" y="1508760"/>
            <a:ext cx="3474720" cy="274320"/>
          </a:xfrm>
          <a:prstGeom prst="rect">
            <a:avLst/>
          </a:prstGeom>
          <a:noFill/>
          <a:ln/>
        </p:spPr>
        <p:txBody>
          <a:bodyPr wrap="square" lIns="0" tIns="0" rIns="0" bIns="0" rtlCol="0" anchor="ctr"/>
          <a:lstStyle/>
          <a:p>
            <a:pPr marL="0" indent="0">
              <a:buNone/>
            </a:pPr>
            <a:r>
              <a:rPr lang="es-CO" sz="1150" b="1" noProof="0" dirty="0">
                <a:solidFill>
                  <a:srgbClr val="F5A623"/>
                </a:solidFill>
                <a:latin typeface="Calibri" pitchFamily="34" charset="0"/>
                <a:ea typeface="Calibri" pitchFamily="34" charset="-122"/>
                <a:cs typeface="Calibri" pitchFamily="34" charset="-120"/>
              </a:rPr>
              <a:t>RESPALDO</a:t>
            </a:r>
            <a:endParaRPr lang="es-CO" sz="1150" noProof="0" dirty="0"/>
          </a:p>
        </p:txBody>
      </p:sp>
      <p:sp>
        <p:nvSpPr>
          <p:cNvPr id="9" name="Text 7"/>
          <p:cNvSpPr/>
          <p:nvPr/>
        </p:nvSpPr>
        <p:spPr>
          <a:xfrm>
            <a:off x="4983480" y="1828800"/>
            <a:ext cx="3474720" cy="932688"/>
          </a:xfrm>
          <a:prstGeom prst="rect">
            <a:avLst/>
          </a:prstGeom>
          <a:noFill/>
          <a:ln/>
        </p:spPr>
        <p:txBody>
          <a:bodyPr wrap="square" lIns="0" tIns="0" rIns="0" bIns="0" rtlCol="0" anchor="ctr"/>
          <a:lstStyle/>
          <a:p>
            <a:pPr marL="0" indent="0">
              <a:buNone/>
            </a:pPr>
            <a:r>
              <a:rPr lang="es-CO" sz="840" noProof="0" dirty="0">
                <a:solidFill>
                  <a:srgbClr val="FFFFFF"/>
                </a:solidFill>
                <a:latin typeface="Calibri" pitchFamily="34" charset="0"/>
                <a:ea typeface="Calibri" pitchFamily="34" charset="-122"/>
                <a:cs typeface="Calibri" pitchFamily="34" charset="-120"/>
              </a:rPr>
              <a:t>94,5% de efectividad sobre 107,9 h de salida de red: el corte de 2 h 55 min del 29 sep se respaldó en las 22 casas de Reservas. Pendientes: Casa 12 (SOC 15% en cortes largos) y Casa 78T (microcortes).</a:t>
            </a:r>
            <a:endParaRPr lang="es-CO" sz="840" noProof="0" dirty="0"/>
          </a:p>
        </p:txBody>
      </p:sp>
      <p:sp>
        <p:nvSpPr>
          <p:cNvPr id="10" name="Shape 8"/>
          <p:cNvSpPr/>
          <p:nvPr/>
        </p:nvSpPr>
        <p:spPr>
          <a:xfrm>
            <a:off x="457200" y="3017520"/>
            <a:ext cx="3931920" cy="1481328"/>
          </a:xfrm>
          <a:prstGeom prst="rect">
            <a:avLst/>
          </a:prstGeom>
          <a:solidFill>
            <a:srgbClr val="24457E"/>
          </a:solidFill>
          <a:ln w="12700">
            <a:solidFill>
              <a:srgbClr val="24457E"/>
            </a:solidFill>
            <a:prstDash val="solid"/>
          </a:ln>
        </p:spPr>
        <p:txBody>
          <a:bodyPr/>
          <a:lstStyle/>
          <a:p>
            <a:endParaRPr lang="es-CO" noProof="0" dirty="0"/>
          </a:p>
        </p:txBody>
      </p:sp>
      <p:sp>
        <p:nvSpPr>
          <p:cNvPr id="11" name="Text 9"/>
          <p:cNvSpPr/>
          <p:nvPr/>
        </p:nvSpPr>
        <p:spPr>
          <a:xfrm>
            <a:off x="685800" y="3154680"/>
            <a:ext cx="3474720" cy="274320"/>
          </a:xfrm>
          <a:prstGeom prst="rect">
            <a:avLst/>
          </a:prstGeom>
          <a:noFill/>
          <a:ln/>
        </p:spPr>
        <p:txBody>
          <a:bodyPr wrap="square" lIns="0" tIns="0" rIns="0" bIns="0" rtlCol="0" anchor="ctr"/>
          <a:lstStyle/>
          <a:p>
            <a:pPr marL="0" indent="0">
              <a:buNone/>
            </a:pPr>
            <a:r>
              <a:rPr lang="es-CO" sz="1150" b="1" noProof="0" dirty="0">
                <a:solidFill>
                  <a:srgbClr val="F5A623"/>
                </a:solidFill>
                <a:latin typeface="Calibri" pitchFamily="34" charset="0"/>
                <a:ea typeface="Calibri" pitchFamily="34" charset="-122"/>
                <a:cs typeface="Calibri" pitchFamily="34" charset="-120"/>
              </a:rPr>
              <a:t>DEMANDA Y CALIDAD DE DATOS</a:t>
            </a:r>
            <a:endParaRPr lang="es-CO" sz="1150" noProof="0" dirty="0"/>
          </a:p>
        </p:txBody>
      </p:sp>
      <p:sp>
        <p:nvSpPr>
          <p:cNvPr id="12" name="Text 10"/>
          <p:cNvSpPr/>
          <p:nvPr/>
        </p:nvSpPr>
        <p:spPr>
          <a:xfrm>
            <a:off x="685800" y="3474720"/>
            <a:ext cx="3474720" cy="932688"/>
          </a:xfrm>
          <a:prstGeom prst="rect">
            <a:avLst/>
          </a:prstGeom>
          <a:noFill/>
          <a:ln/>
        </p:spPr>
        <p:txBody>
          <a:bodyPr wrap="square" lIns="0" tIns="0" rIns="0" bIns="0" rtlCol="0" anchor="ctr"/>
          <a:lstStyle/>
          <a:p>
            <a:pPr marL="0" indent="0">
              <a:buNone/>
            </a:pPr>
            <a:r>
              <a:rPr lang="es-CO" sz="840" noProof="0" dirty="0">
                <a:solidFill>
                  <a:srgbClr val="FFFFFF"/>
                </a:solidFill>
                <a:latin typeface="Calibri" pitchFamily="34" charset="0"/>
                <a:ea typeface="Calibri" pitchFamily="34" charset="-122"/>
                <a:cs typeface="Calibri" pitchFamily="34" charset="-120"/>
              </a:rPr>
              <a:t>+14,4% sobre el diseño de 30 días. Con el recálculo desde Metrum la semana 2 queda en +19,2% (no +36,4%). Pendientes: inspeccionar 6 sistemas con generación negativa y obtener la línea base por vivienda.</a:t>
            </a:r>
            <a:endParaRPr lang="es-CO" sz="840" noProof="0" dirty="0"/>
          </a:p>
        </p:txBody>
      </p:sp>
      <p:sp>
        <p:nvSpPr>
          <p:cNvPr id="13" name="Shape 11"/>
          <p:cNvSpPr/>
          <p:nvPr/>
        </p:nvSpPr>
        <p:spPr>
          <a:xfrm>
            <a:off x="4754880" y="3017520"/>
            <a:ext cx="3931920" cy="1481328"/>
          </a:xfrm>
          <a:prstGeom prst="rect">
            <a:avLst/>
          </a:prstGeom>
          <a:solidFill>
            <a:srgbClr val="24457E"/>
          </a:solidFill>
          <a:ln w="12700">
            <a:solidFill>
              <a:srgbClr val="24457E"/>
            </a:solidFill>
            <a:prstDash val="solid"/>
          </a:ln>
        </p:spPr>
        <p:txBody>
          <a:bodyPr/>
          <a:lstStyle/>
          <a:p>
            <a:endParaRPr lang="es-CO" noProof="0" dirty="0"/>
          </a:p>
        </p:txBody>
      </p:sp>
      <p:sp>
        <p:nvSpPr>
          <p:cNvPr id="14" name="Text 12"/>
          <p:cNvSpPr/>
          <p:nvPr/>
        </p:nvSpPr>
        <p:spPr>
          <a:xfrm>
            <a:off x="4983480" y="3154680"/>
            <a:ext cx="3474720" cy="274320"/>
          </a:xfrm>
          <a:prstGeom prst="rect">
            <a:avLst/>
          </a:prstGeom>
          <a:noFill/>
          <a:ln/>
        </p:spPr>
        <p:txBody>
          <a:bodyPr wrap="square" lIns="0" tIns="0" rIns="0" bIns="0" rtlCol="0" anchor="ctr"/>
          <a:lstStyle/>
          <a:p>
            <a:pPr marL="0" indent="0">
              <a:buNone/>
            </a:pPr>
            <a:r>
              <a:rPr lang="es-CO" sz="1150" b="1" noProof="0" dirty="0">
                <a:solidFill>
                  <a:srgbClr val="F5A623"/>
                </a:solidFill>
                <a:latin typeface="Calibri" pitchFamily="34" charset="0"/>
                <a:ea typeface="Calibri" pitchFamily="34" charset="-122"/>
                <a:cs typeface="Calibri" pitchFamily="34" charset="-120"/>
              </a:rPr>
              <a:t>CURTAILMENT — HALLAZGO NUEVO</a:t>
            </a:r>
            <a:endParaRPr lang="es-CO" sz="1150" noProof="0" dirty="0"/>
          </a:p>
        </p:txBody>
      </p:sp>
      <p:sp>
        <p:nvSpPr>
          <p:cNvPr id="15" name="Text 13"/>
          <p:cNvSpPr/>
          <p:nvPr/>
        </p:nvSpPr>
        <p:spPr>
          <a:xfrm>
            <a:off x="4983480" y="3474720"/>
            <a:ext cx="3474720" cy="932688"/>
          </a:xfrm>
          <a:prstGeom prst="rect">
            <a:avLst/>
          </a:prstGeom>
          <a:noFill/>
          <a:ln/>
        </p:spPr>
        <p:txBody>
          <a:bodyPr wrap="square" lIns="0" tIns="0" rIns="0" bIns="0" rtlCol="0" anchor="ctr"/>
          <a:lstStyle/>
          <a:p>
            <a:pPr marL="0" indent="0">
              <a:buNone/>
            </a:pPr>
            <a:r>
              <a:rPr lang="es-CO" sz="840" noProof="0" dirty="0">
                <a:solidFill>
                  <a:srgbClr val="FFFFFF"/>
                </a:solidFill>
                <a:latin typeface="Calibri" pitchFamily="34" charset="0"/>
                <a:ea typeface="Calibri" pitchFamily="34" charset="-122"/>
                <a:cs typeface="Calibri" pitchFamily="34" charset="-120"/>
              </a:rPr>
              <a:t>28 de 39 sistemas saturan la batería al 100% en la mitad o más de los días; la mediana de llegada es 13:21 y el SOC promedio se mantiene ≥ 85% de 13:00 a 16:00. Incorporar como KPI recurrente.</a:t>
            </a:r>
            <a:endParaRPr lang="es-CO" sz="840" noProof="0" dirty="0"/>
          </a:p>
        </p:txBody>
      </p:sp>
      <p:sp>
        <p:nvSpPr>
          <p:cNvPr id="16" name="Text 14"/>
          <p:cNvSpPr/>
          <p:nvPr/>
        </p:nvSpPr>
        <p:spPr>
          <a:xfrm>
            <a:off x="457200" y="4709160"/>
            <a:ext cx="8229600" cy="274320"/>
          </a:xfrm>
          <a:prstGeom prst="rect">
            <a:avLst/>
          </a:prstGeom>
          <a:noFill/>
          <a:ln/>
        </p:spPr>
        <p:txBody>
          <a:bodyPr wrap="square" lIns="0" tIns="0" rIns="0" bIns="0" rtlCol="0" anchor="ctr"/>
          <a:lstStyle/>
          <a:p>
            <a:pPr marL="0" indent="0">
              <a:buNone/>
            </a:pPr>
            <a:r>
              <a:rPr lang="es-CO" sz="900" noProof="0" dirty="0">
                <a:solidFill>
                  <a:srgbClr val="9FB3D9"/>
                </a:solidFill>
                <a:latin typeface="Calibri" pitchFamily="34" charset="0"/>
                <a:ea typeface="Calibri" pitchFamily="34" charset="-122"/>
                <a:cs typeface="Calibri" pitchFamily="34" charset="-120"/>
              </a:rPr>
              <a:t>Coordinación de Operación y Mantenimiento Solar - Promigas S.A. E.S.P.   ·   Próximo corte: Octubre 2026</a:t>
            </a:r>
            <a:endParaRPr lang="es-CO" sz="9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4389</Words>
  <Application>Microsoft Office PowerPoint</Application>
  <PresentationFormat>Presentación en pantalla (16:9)</PresentationFormat>
  <Paragraphs>880</Paragraphs>
  <Slides>23</Slides>
  <Notes>22</Notes>
  <HiddenSlides>3</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Sunny - Reporte Operativo 01-15 Sep 2026</dc:title>
  <dc:subject>PptxGenJS Presentation</dc:subject>
  <dc:creator>Coordinacion O&amp;M Solar</dc:creator>
  <cp:lastModifiedBy>Oswaldo  Orozco Salas</cp:lastModifiedBy>
  <cp:revision>3</cp:revision>
  <dcterms:created xsi:type="dcterms:W3CDTF">2026-09-16T22:05:12Z</dcterms:created>
  <dcterms:modified xsi:type="dcterms:W3CDTF">2026-09-16T22:46:25Z</dcterms:modified>
</cp:coreProperties>
</file>